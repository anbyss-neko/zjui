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5"/>
  </p:notesMasterIdLst>
  <p:handoutMasterIdLst>
    <p:handoutMasterId r:id="rId26"/>
  </p:handoutMasterIdLst>
  <p:sldIdLst>
    <p:sldId id="256" r:id="rId2"/>
    <p:sldId id="504" r:id="rId3"/>
    <p:sldId id="506" r:id="rId4"/>
    <p:sldId id="507" r:id="rId5"/>
    <p:sldId id="509" r:id="rId6"/>
    <p:sldId id="513" r:id="rId7"/>
    <p:sldId id="510" r:id="rId8"/>
    <p:sldId id="511" r:id="rId9"/>
    <p:sldId id="512" r:id="rId10"/>
    <p:sldId id="514" r:id="rId11"/>
    <p:sldId id="517" r:id="rId12"/>
    <p:sldId id="515" r:id="rId13"/>
    <p:sldId id="516" r:id="rId14"/>
    <p:sldId id="518" r:id="rId15"/>
    <p:sldId id="520" r:id="rId16"/>
    <p:sldId id="519" r:id="rId17"/>
    <p:sldId id="521" r:id="rId18"/>
    <p:sldId id="529" r:id="rId19"/>
    <p:sldId id="522" r:id="rId20"/>
    <p:sldId id="526" r:id="rId21"/>
    <p:sldId id="531" r:id="rId22"/>
    <p:sldId id="530" r:id="rId23"/>
    <p:sldId id="52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87" autoAdjust="0"/>
    <p:restoredTop sz="92449" autoAdjust="0"/>
  </p:normalViewPr>
  <p:slideViewPr>
    <p:cSldViewPr snapToGrid="0">
      <p:cViewPr varScale="1">
        <p:scale>
          <a:sx n="113" d="100"/>
          <a:sy n="113" d="100"/>
        </p:scale>
        <p:origin x="1440" y="19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ui, Jiahuan" userId="74189dc3-7c4e-4658-a955-b1919aec75a3" providerId="ADAL" clId="{BE2F0A9E-FEAA-0B41-BD0D-D8D6E217DE81}"/>
    <pc:docChg chg="custSel delSld modSld">
      <pc:chgData name="Cui, Jiahuan" userId="74189dc3-7c4e-4658-a955-b1919aec75a3" providerId="ADAL" clId="{BE2F0A9E-FEAA-0B41-BD0D-D8D6E217DE81}" dt="2025-03-04T15:43:08.125" v="4" actId="2696"/>
      <pc:docMkLst>
        <pc:docMk/>
      </pc:docMkLst>
      <pc:sldChg chg="modSp mod">
        <pc:chgData name="Cui, Jiahuan" userId="74189dc3-7c4e-4658-a955-b1919aec75a3" providerId="ADAL" clId="{BE2F0A9E-FEAA-0B41-BD0D-D8D6E217DE81}" dt="2025-03-04T14:39:34.512" v="2" actId="27636"/>
        <pc:sldMkLst>
          <pc:docMk/>
          <pc:sldMk cId="2943049344" sldId="256"/>
        </pc:sldMkLst>
        <pc:spChg chg="mod">
          <ac:chgData name="Cui, Jiahuan" userId="74189dc3-7c4e-4658-a955-b1919aec75a3" providerId="ADAL" clId="{BE2F0A9E-FEAA-0B41-BD0D-D8D6E217DE81}" dt="2025-03-04T14:39:34.512" v="2" actId="27636"/>
          <ac:spMkLst>
            <pc:docMk/>
            <pc:sldMk cId="2943049344" sldId="256"/>
            <ac:spMk id="3" creationId="{00000000-0000-0000-0000-000000000000}"/>
          </ac:spMkLst>
        </pc:spChg>
      </pc:sldChg>
      <pc:sldChg chg="del">
        <pc:chgData name="Cui, Jiahuan" userId="74189dc3-7c4e-4658-a955-b1919aec75a3" providerId="ADAL" clId="{BE2F0A9E-FEAA-0B41-BD0D-D8D6E217DE81}" dt="2025-03-04T14:39:20.025" v="0" actId="2696"/>
        <pc:sldMkLst>
          <pc:docMk/>
          <pc:sldMk cId="2566521072" sldId="346"/>
        </pc:sldMkLst>
      </pc:sldChg>
      <pc:sldChg chg="del">
        <pc:chgData name="Cui, Jiahuan" userId="74189dc3-7c4e-4658-a955-b1919aec75a3" providerId="ADAL" clId="{BE2F0A9E-FEAA-0B41-BD0D-D8D6E217DE81}" dt="2025-03-04T15:43:08.125" v="4" actId="2696"/>
        <pc:sldMkLst>
          <pc:docMk/>
          <pc:sldMk cId="948247629" sldId="523"/>
        </pc:sldMkLst>
      </pc:sldChg>
      <pc:sldChg chg="del">
        <pc:chgData name="Cui, Jiahuan" userId="74189dc3-7c4e-4658-a955-b1919aec75a3" providerId="ADAL" clId="{BE2F0A9E-FEAA-0B41-BD0D-D8D6E217DE81}" dt="2025-03-04T15:43:06.255" v="3" actId="2696"/>
        <pc:sldMkLst>
          <pc:docMk/>
          <pc:sldMk cId="3843400398" sldId="528"/>
        </pc:sldMkLst>
      </pc:sldChg>
    </pc:docChg>
  </pc:docChgLst>
  <pc:docChgLst>
    <pc:chgData name="Cui, Jiahuan" userId="74189dc3-7c4e-4658-a955-b1919aec75a3" providerId="ADAL" clId="{28F0FE5B-99D5-024E-9F89-12AAD2F605A6}"/>
    <pc:docChg chg="custSel delSld modSld">
      <pc:chgData name="Cui, Jiahuan" userId="74189dc3-7c4e-4658-a955-b1919aec75a3" providerId="ADAL" clId="{28F0FE5B-99D5-024E-9F89-12AAD2F605A6}" dt="2025-03-04T15:54:38.669" v="9" actId="478"/>
      <pc:docMkLst>
        <pc:docMk/>
      </pc:docMkLst>
      <pc:sldChg chg="delSp mod delAnim">
        <pc:chgData name="Cui, Jiahuan" userId="74189dc3-7c4e-4658-a955-b1919aec75a3" providerId="ADAL" clId="{28F0FE5B-99D5-024E-9F89-12AAD2F605A6}" dt="2025-03-04T15:50:10.833" v="2" actId="478"/>
        <pc:sldMkLst>
          <pc:docMk/>
          <pc:sldMk cId="1186797221" sldId="511"/>
        </pc:sldMkLst>
        <pc:spChg chg="del">
          <ac:chgData name="Cui, Jiahuan" userId="74189dc3-7c4e-4658-a955-b1919aec75a3" providerId="ADAL" clId="{28F0FE5B-99D5-024E-9F89-12AAD2F605A6}" dt="2025-03-04T15:50:03.366" v="0" actId="478"/>
          <ac:spMkLst>
            <pc:docMk/>
            <pc:sldMk cId="1186797221" sldId="511"/>
            <ac:spMk id="2" creationId="{077DF19E-D434-48EB-A4CE-CC95200C97C4}"/>
          </ac:spMkLst>
        </pc:spChg>
        <pc:spChg chg="del">
          <ac:chgData name="Cui, Jiahuan" userId="74189dc3-7c4e-4658-a955-b1919aec75a3" providerId="ADAL" clId="{28F0FE5B-99D5-024E-9F89-12AAD2F605A6}" dt="2025-03-04T15:50:07.391" v="1" actId="478"/>
          <ac:spMkLst>
            <pc:docMk/>
            <pc:sldMk cId="1186797221" sldId="511"/>
            <ac:spMk id="7" creationId="{52594A82-04DD-4A36-96ED-BF6E320E8992}"/>
          </ac:spMkLst>
        </pc:spChg>
        <pc:spChg chg="del">
          <ac:chgData name="Cui, Jiahuan" userId="74189dc3-7c4e-4658-a955-b1919aec75a3" providerId="ADAL" clId="{28F0FE5B-99D5-024E-9F89-12AAD2F605A6}" dt="2025-03-04T15:50:10.833" v="2" actId="478"/>
          <ac:spMkLst>
            <pc:docMk/>
            <pc:sldMk cId="1186797221" sldId="511"/>
            <ac:spMk id="8" creationId="{EF25714B-E0F9-4B61-92FC-5F2274F597EA}"/>
          </ac:spMkLst>
        </pc:spChg>
      </pc:sldChg>
      <pc:sldChg chg="delSp mod delAnim">
        <pc:chgData name="Cui, Jiahuan" userId="74189dc3-7c4e-4658-a955-b1919aec75a3" providerId="ADAL" clId="{28F0FE5B-99D5-024E-9F89-12AAD2F605A6}" dt="2025-03-04T15:50:42.151" v="4" actId="478"/>
        <pc:sldMkLst>
          <pc:docMk/>
          <pc:sldMk cId="448458700" sldId="514"/>
        </pc:sldMkLst>
        <pc:spChg chg="del">
          <ac:chgData name="Cui, Jiahuan" userId="74189dc3-7c4e-4658-a955-b1919aec75a3" providerId="ADAL" clId="{28F0FE5B-99D5-024E-9F89-12AAD2F605A6}" dt="2025-03-04T15:50:37.997" v="3" actId="478"/>
          <ac:spMkLst>
            <pc:docMk/>
            <pc:sldMk cId="448458700" sldId="514"/>
            <ac:spMk id="4" creationId="{8A0ED014-2943-4D16-A2A7-9F16BEAFC532}"/>
          </ac:spMkLst>
        </pc:spChg>
        <pc:spChg chg="del">
          <ac:chgData name="Cui, Jiahuan" userId="74189dc3-7c4e-4658-a955-b1919aec75a3" providerId="ADAL" clId="{28F0FE5B-99D5-024E-9F89-12AAD2F605A6}" dt="2025-03-04T15:50:37.997" v="3" actId="478"/>
          <ac:spMkLst>
            <pc:docMk/>
            <pc:sldMk cId="448458700" sldId="514"/>
            <ac:spMk id="6" creationId="{01BD6A93-5AAD-4846-9FDE-0CE0DAFDA996}"/>
          </ac:spMkLst>
        </pc:spChg>
        <pc:spChg chg="del">
          <ac:chgData name="Cui, Jiahuan" userId="74189dc3-7c4e-4658-a955-b1919aec75a3" providerId="ADAL" clId="{28F0FE5B-99D5-024E-9F89-12AAD2F605A6}" dt="2025-03-04T15:50:37.997" v="3" actId="478"/>
          <ac:spMkLst>
            <pc:docMk/>
            <pc:sldMk cId="448458700" sldId="514"/>
            <ac:spMk id="7" creationId="{6405ADA5-4455-4684-BAA7-8B3ADD58F17E}"/>
          </ac:spMkLst>
        </pc:spChg>
        <pc:spChg chg="del">
          <ac:chgData name="Cui, Jiahuan" userId="74189dc3-7c4e-4658-a955-b1919aec75a3" providerId="ADAL" clId="{28F0FE5B-99D5-024E-9F89-12AAD2F605A6}" dt="2025-03-04T15:50:42.151" v="4" actId="478"/>
          <ac:spMkLst>
            <pc:docMk/>
            <pc:sldMk cId="448458700" sldId="514"/>
            <ac:spMk id="13" creationId="{3F3B7498-D5DF-4FAA-871C-7B6D69AF1AD4}"/>
          </ac:spMkLst>
        </pc:spChg>
      </pc:sldChg>
      <pc:sldChg chg="delSp mod delAnim">
        <pc:chgData name="Cui, Jiahuan" userId="74189dc3-7c4e-4658-a955-b1919aec75a3" providerId="ADAL" clId="{28F0FE5B-99D5-024E-9F89-12AAD2F605A6}" dt="2025-03-04T15:54:00.927" v="7" actId="478"/>
        <pc:sldMkLst>
          <pc:docMk/>
          <pc:sldMk cId="1488390970" sldId="522"/>
        </pc:sldMkLst>
        <pc:spChg chg="del">
          <ac:chgData name="Cui, Jiahuan" userId="74189dc3-7c4e-4658-a955-b1919aec75a3" providerId="ADAL" clId="{28F0FE5B-99D5-024E-9F89-12AAD2F605A6}" dt="2025-03-04T15:54:00.927" v="7" actId="478"/>
          <ac:spMkLst>
            <pc:docMk/>
            <pc:sldMk cId="1488390970" sldId="522"/>
            <ac:spMk id="4" creationId="{4D2626E1-C84F-44FD-A6E4-9B18D2A54D73}"/>
          </ac:spMkLst>
        </pc:spChg>
        <pc:spChg chg="del">
          <ac:chgData name="Cui, Jiahuan" userId="74189dc3-7c4e-4658-a955-b1919aec75a3" providerId="ADAL" clId="{28F0FE5B-99D5-024E-9F89-12AAD2F605A6}" dt="2025-03-04T15:54:00.927" v="7" actId="478"/>
          <ac:spMkLst>
            <pc:docMk/>
            <pc:sldMk cId="1488390970" sldId="522"/>
            <ac:spMk id="6" creationId="{1B5361AA-3133-42BD-8DD6-B06334D02083}"/>
          </ac:spMkLst>
        </pc:spChg>
        <pc:spChg chg="del">
          <ac:chgData name="Cui, Jiahuan" userId="74189dc3-7c4e-4658-a955-b1919aec75a3" providerId="ADAL" clId="{28F0FE5B-99D5-024E-9F89-12AAD2F605A6}" dt="2025-03-04T15:54:00.927" v="7" actId="478"/>
          <ac:spMkLst>
            <pc:docMk/>
            <pc:sldMk cId="1488390970" sldId="522"/>
            <ac:spMk id="7" creationId="{046B4FA0-7875-4416-B265-961EF5E77781}"/>
          </ac:spMkLst>
        </pc:spChg>
        <pc:spChg chg="del">
          <ac:chgData name="Cui, Jiahuan" userId="74189dc3-7c4e-4658-a955-b1919aec75a3" providerId="ADAL" clId="{28F0FE5B-99D5-024E-9F89-12AAD2F605A6}" dt="2025-03-04T15:54:00.927" v="7" actId="478"/>
          <ac:spMkLst>
            <pc:docMk/>
            <pc:sldMk cId="1488390970" sldId="522"/>
            <ac:spMk id="8" creationId="{AF902EDB-2392-4261-8261-EFC931D23B9A}"/>
          </ac:spMkLst>
        </pc:spChg>
      </pc:sldChg>
      <pc:sldChg chg="del">
        <pc:chgData name="Cui, Jiahuan" userId="74189dc3-7c4e-4658-a955-b1919aec75a3" providerId="ADAL" clId="{28F0FE5B-99D5-024E-9F89-12AAD2F605A6}" dt="2025-03-04T15:52:49.216" v="5" actId="2696"/>
        <pc:sldMkLst>
          <pc:docMk/>
          <pc:sldMk cId="2344267206" sldId="524"/>
        </pc:sldMkLst>
      </pc:sldChg>
      <pc:sldChg chg="del">
        <pc:chgData name="Cui, Jiahuan" userId="74189dc3-7c4e-4658-a955-b1919aec75a3" providerId="ADAL" clId="{28F0FE5B-99D5-024E-9F89-12AAD2F605A6}" dt="2025-03-04T15:52:55.157" v="6" actId="2696"/>
        <pc:sldMkLst>
          <pc:docMk/>
          <pc:sldMk cId="3280391918" sldId="525"/>
        </pc:sldMkLst>
      </pc:sldChg>
      <pc:sldChg chg="delSp mod delAnim">
        <pc:chgData name="Cui, Jiahuan" userId="74189dc3-7c4e-4658-a955-b1919aec75a3" providerId="ADAL" clId="{28F0FE5B-99D5-024E-9F89-12AAD2F605A6}" dt="2025-03-04T15:54:32.426" v="8" actId="478"/>
        <pc:sldMkLst>
          <pc:docMk/>
          <pc:sldMk cId="551081686" sldId="526"/>
        </pc:sldMkLst>
        <pc:spChg chg="del">
          <ac:chgData name="Cui, Jiahuan" userId="74189dc3-7c4e-4658-a955-b1919aec75a3" providerId="ADAL" clId="{28F0FE5B-99D5-024E-9F89-12AAD2F605A6}" dt="2025-03-04T15:54:32.426" v="8" actId="478"/>
          <ac:spMkLst>
            <pc:docMk/>
            <pc:sldMk cId="551081686" sldId="526"/>
            <ac:spMk id="6" creationId="{804DB499-00B6-4379-A22F-09B7D952CB2C}"/>
          </ac:spMkLst>
        </pc:spChg>
        <pc:spChg chg="del">
          <ac:chgData name="Cui, Jiahuan" userId="74189dc3-7c4e-4658-a955-b1919aec75a3" providerId="ADAL" clId="{28F0FE5B-99D5-024E-9F89-12AAD2F605A6}" dt="2025-03-04T15:54:32.426" v="8" actId="478"/>
          <ac:spMkLst>
            <pc:docMk/>
            <pc:sldMk cId="551081686" sldId="526"/>
            <ac:spMk id="7" creationId="{4A146F40-5C5D-4FE0-9AB9-170C4A007E01}"/>
          </ac:spMkLst>
        </pc:spChg>
        <pc:spChg chg="del">
          <ac:chgData name="Cui, Jiahuan" userId="74189dc3-7c4e-4658-a955-b1919aec75a3" providerId="ADAL" clId="{28F0FE5B-99D5-024E-9F89-12AAD2F605A6}" dt="2025-03-04T15:54:32.426" v="8" actId="478"/>
          <ac:spMkLst>
            <pc:docMk/>
            <pc:sldMk cId="551081686" sldId="526"/>
            <ac:spMk id="11" creationId="{D984D43B-4AEF-4475-84C7-C9A528EBB6BE}"/>
          </ac:spMkLst>
        </pc:spChg>
        <pc:spChg chg="del">
          <ac:chgData name="Cui, Jiahuan" userId="74189dc3-7c4e-4658-a955-b1919aec75a3" providerId="ADAL" clId="{28F0FE5B-99D5-024E-9F89-12AAD2F605A6}" dt="2025-03-04T15:54:32.426" v="8" actId="478"/>
          <ac:spMkLst>
            <pc:docMk/>
            <pc:sldMk cId="551081686" sldId="526"/>
            <ac:spMk id="12" creationId="{27FBFABC-FFCA-45AF-ADF7-79263B7F851F}"/>
          </ac:spMkLst>
        </pc:spChg>
        <pc:spChg chg="del">
          <ac:chgData name="Cui, Jiahuan" userId="74189dc3-7c4e-4658-a955-b1919aec75a3" providerId="ADAL" clId="{28F0FE5B-99D5-024E-9F89-12AAD2F605A6}" dt="2025-03-04T15:54:32.426" v="8" actId="478"/>
          <ac:spMkLst>
            <pc:docMk/>
            <pc:sldMk cId="551081686" sldId="526"/>
            <ac:spMk id="13" creationId="{390EDC34-7002-4824-8898-A5901EF9DEF6}"/>
          </ac:spMkLst>
        </pc:spChg>
        <pc:spChg chg="del">
          <ac:chgData name="Cui, Jiahuan" userId="74189dc3-7c4e-4658-a955-b1919aec75a3" providerId="ADAL" clId="{28F0FE5B-99D5-024E-9F89-12AAD2F605A6}" dt="2025-03-04T15:54:32.426" v="8" actId="478"/>
          <ac:spMkLst>
            <pc:docMk/>
            <pc:sldMk cId="551081686" sldId="526"/>
            <ac:spMk id="16" creationId="{F728E510-0719-4180-962B-023FBDFF018C}"/>
          </ac:spMkLst>
        </pc:spChg>
      </pc:sldChg>
      <pc:sldChg chg="delSp mod">
        <pc:chgData name="Cui, Jiahuan" userId="74189dc3-7c4e-4658-a955-b1919aec75a3" providerId="ADAL" clId="{28F0FE5B-99D5-024E-9F89-12AAD2F605A6}" dt="2025-03-04T15:54:38.669" v="9" actId="478"/>
        <pc:sldMkLst>
          <pc:docMk/>
          <pc:sldMk cId="519795158" sldId="531"/>
        </pc:sldMkLst>
        <pc:spChg chg="del">
          <ac:chgData name="Cui, Jiahuan" userId="74189dc3-7c4e-4658-a955-b1919aec75a3" providerId="ADAL" clId="{28F0FE5B-99D5-024E-9F89-12AAD2F605A6}" dt="2025-03-04T15:54:38.669" v="9" actId="478"/>
          <ac:spMkLst>
            <pc:docMk/>
            <pc:sldMk cId="519795158" sldId="531"/>
            <ac:spMk id="6" creationId="{804DB499-00B6-4379-A22F-09B7D952CB2C}"/>
          </ac:spMkLst>
        </pc:spChg>
        <pc:spChg chg="del">
          <ac:chgData name="Cui, Jiahuan" userId="74189dc3-7c4e-4658-a955-b1919aec75a3" providerId="ADAL" clId="{28F0FE5B-99D5-024E-9F89-12AAD2F605A6}" dt="2025-03-04T15:54:38.669" v="9" actId="478"/>
          <ac:spMkLst>
            <pc:docMk/>
            <pc:sldMk cId="519795158" sldId="531"/>
            <ac:spMk id="7" creationId="{4A146F40-5C5D-4FE0-9AB9-170C4A007E01}"/>
          </ac:spMkLst>
        </pc:spChg>
        <pc:spChg chg="del">
          <ac:chgData name="Cui, Jiahuan" userId="74189dc3-7c4e-4658-a955-b1919aec75a3" providerId="ADAL" clId="{28F0FE5B-99D5-024E-9F89-12AAD2F605A6}" dt="2025-03-04T15:54:38.669" v="9" actId="478"/>
          <ac:spMkLst>
            <pc:docMk/>
            <pc:sldMk cId="519795158" sldId="531"/>
            <ac:spMk id="11" creationId="{D984D43B-4AEF-4475-84C7-C9A528EBB6BE}"/>
          </ac:spMkLst>
        </pc:spChg>
        <pc:spChg chg="del">
          <ac:chgData name="Cui, Jiahuan" userId="74189dc3-7c4e-4658-a955-b1919aec75a3" providerId="ADAL" clId="{28F0FE5B-99D5-024E-9F89-12AAD2F605A6}" dt="2025-03-04T15:54:38.669" v="9" actId="478"/>
          <ac:spMkLst>
            <pc:docMk/>
            <pc:sldMk cId="519795158" sldId="531"/>
            <ac:spMk id="12" creationId="{27FBFABC-FFCA-45AF-ADF7-79263B7F851F}"/>
          </ac:spMkLst>
        </pc:spChg>
        <pc:spChg chg="del">
          <ac:chgData name="Cui, Jiahuan" userId="74189dc3-7c4e-4658-a955-b1919aec75a3" providerId="ADAL" clId="{28F0FE5B-99D5-024E-9F89-12AAD2F605A6}" dt="2025-03-04T15:54:38.669" v="9" actId="478"/>
          <ac:spMkLst>
            <pc:docMk/>
            <pc:sldMk cId="519795158" sldId="531"/>
            <ac:spMk id="13" creationId="{390EDC34-7002-4824-8898-A5901EF9DEF6}"/>
          </ac:spMkLst>
        </pc:spChg>
        <pc:spChg chg="del">
          <ac:chgData name="Cui, Jiahuan" userId="74189dc3-7c4e-4658-a955-b1919aec75a3" providerId="ADAL" clId="{28F0FE5B-99D5-024E-9F89-12AAD2F605A6}" dt="2025-03-04T15:54:38.669" v="9" actId="478"/>
          <ac:spMkLst>
            <pc:docMk/>
            <pc:sldMk cId="519795158" sldId="531"/>
            <ac:spMk id="16" creationId="{F728E510-0719-4180-962B-023FBDFF018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EE6E16-4E3A-4AD1-BF8F-40C768BA13BD}" type="slidenum">
              <a:rPr lang="en-US" smtClean="0"/>
              <a:t>‹#›</a:t>
            </a:fld>
            <a:endParaRPr lang="en-US"/>
          </a:p>
        </p:txBody>
      </p:sp>
    </p:spTree>
    <p:extLst>
      <p:ext uri="{BB962C8B-B14F-4D97-AF65-F5344CB8AC3E}">
        <p14:creationId xmlns:p14="http://schemas.microsoft.com/office/powerpoint/2010/main" val="207815389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9A199-9094-412E-AD92-571A1458CB65}" type="slidenum">
              <a:rPr lang="en-US" smtClean="0"/>
              <a:t>‹#›</a:t>
            </a:fld>
            <a:endParaRPr lang="en-US"/>
          </a:p>
        </p:txBody>
      </p:sp>
    </p:spTree>
    <p:extLst>
      <p:ext uri="{BB962C8B-B14F-4D97-AF65-F5344CB8AC3E}">
        <p14:creationId xmlns:p14="http://schemas.microsoft.com/office/powerpoint/2010/main" val="2694311318"/>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Lecture 05 - Quality</a:t>
            </a:r>
          </a:p>
        </p:txBody>
      </p:sp>
      <p:sp>
        <p:nvSpPr>
          <p:cNvPr id="5" name="Slide Number Placeholder 4"/>
          <p:cNvSpPr>
            <a:spLocks noGrp="1"/>
          </p:cNvSpPr>
          <p:nvPr>
            <p:ph type="sldNum" sz="quarter" idx="11"/>
          </p:nvPr>
        </p:nvSpPr>
        <p:spPr/>
        <p:txBody>
          <a:bodyPr/>
          <a:lstStyle/>
          <a:p>
            <a:fld id="{FFC9A199-9094-412E-AD92-571A1458CB65}" type="slidenum">
              <a:rPr lang="en-US" smtClean="0"/>
              <a:t>1</a:t>
            </a:fld>
            <a:endParaRPr lang="en-US"/>
          </a:p>
        </p:txBody>
      </p:sp>
      <p:sp>
        <p:nvSpPr>
          <p:cNvPr id="6" name="Date Placeholder 5">
            <a:extLst>
              <a:ext uri="{FF2B5EF4-FFF2-40B4-BE49-F238E27FC236}">
                <a16:creationId xmlns:a16="http://schemas.microsoft.com/office/drawing/2014/main" id="{2DDEAD59-3789-4136-9022-85F70FDD1C58}"/>
              </a:ext>
            </a:extLst>
          </p:cNvPr>
          <p:cNvSpPr>
            <a:spLocks noGrp="1"/>
          </p:cNvSpPr>
          <p:nvPr>
            <p:ph type="dt" idx="1"/>
          </p:nvPr>
        </p:nvSpPr>
        <p:spPr/>
        <p:txBody>
          <a:bodyPr/>
          <a:lstStyle/>
          <a:p>
            <a:r>
              <a:rPr lang="en-US"/>
              <a:t>1/20/2021</a:t>
            </a:r>
          </a:p>
        </p:txBody>
      </p:sp>
    </p:spTree>
    <p:extLst>
      <p:ext uri="{BB962C8B-B14F-4D97-AF65-F5344CB8AC3E}">
        <p14:creationId xmlns:p14="http://schemas.microsoft.com/office/powerpoint/2010/main" val="3783599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Outside of saturated dome, x means NOTHING</a:t>
            </a:r>
          </a:p>
        </p:txBody>
      </p:sp>
    </p:spTree>
    <p:extLst>
      <p:ext uri="{BB962C8B-B14F-4D97-AF65-F5344CB8AC3E}">
        <p14:creationId xmlns:p14="http://schemas.microsoft.com/office/powerpoint/2010/main" val="1664929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1 minute to THONK</a:t>
            </a:r>
          </a:p>
        </p:txBody>
      </p:sp>
    </p:spTree>
    <p:extLst>
      <p:ext uri="{BB962C8B-B14F-4D97-AF65-F5344CB8AC3E}">
        <p14:creationId xmlns:p14="http://schemas.microsoft.com/office/powerpoint/2010/main" val="3886510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Molar vs mass basis</a:t>
            </a:r>
          </a:p>
        </p:txBody>
      </p:sp>
    </p:spTree>
    <p:extLst>
      <p:ext uri="{BB962C8B-B14F-4D97-AF65-F5344CB8AC3E}">
        <p14:creationId xmlns:p14="http://schemas.microsoft.com/office/powerpoint/2010/main" val="1405279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1 minute</a:t>
            </a:r>
          </a:p>
          <a:p>
            <a:endParaRPr lang="en-US" dirty="0"/>
          </a:p>
        </p:txBody>
      </p:sp>
    </p:spTree>
    <p:extLst>
      <p:ext uri="{BB962C8B-B14F-4D97-AF65-F5344CB8AC3E}">
        <p14:creationId xmlns:p14="http://schemas.microsoft.com/office/powerpoint/2010/main" val="2846234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Negligible volume, obey newtons law, perfect elastic conditions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Needed to be energetic – need to be somewhat energetic and enough space between them: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Pressure has to be less than critical pressure and higher than critical temperature has to be D.</a:t>
            </a:r>
          </a:p>
        </p:txBody>
      </p:sp>
    </p:spTree>
    <p:extLst>
      <p:ext uri="{BB962C8B-B14F-4D97-AF65-F5344CB8AC3E}">
        <p14:creationId xmlns:p14="http://schemas.microsoft.com/office/powerpoint/2010/main" val="288481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Only depends on temperature instead of everything else and life is much easier.</a:t>
            </a:r>
          </a:p>
        </p:txBody>
      </p:sp>
    </p:spTree>
    <p:extLst>
      <p:ext uri="{BB962C8B-B14F-4D97-AF65-F5344CB8AC3E}">
        <p14:creationId xmlns:p14="http://schemas.microsoft.com/office/powerpoint/2010/main" val="595087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Steam can occasionally be considered ideal gas</a:t>
            </a:r>
          </a:p>
        </p:txBody>
      </p:sp>
    </p:spTree>
    <p:extLst>
      <p:ext uri="{BB962C8B-B14F-4D97-AF65-F5344CB8AC3E}">
        <p14:creationId xmlns:p14="http://schemas.microsoft.com/office/powerpoint/2010/main" val="30605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2348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3626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9529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This can tell you if you are going a bit too far off your pressures and temperatures and if it is not valid at that point</a:t>
            </a:r>
          </a:p>
          <a:p>
            <a:r>
              <a:rPr lang="en-US" dirty="0"/>
              <a:t>Look at Air, greater than temperature and lower than pressure</a:t>
            </a:r>
          </a:p>
        </p:txBody>
      </p:sp>
    </p:spTree>
    <p:extLst>
      <p:ext uri="{BB962C8B-B14F-4D97-AF65-F5344CB8AC3E}">
        <p14:creationId xmlns:p14="http://schemas.microsoft.com/office/powerpoint/2010/main" val="4157340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Point 1 is not good, but for 2.5 </a:t>
            </a:r>
            <a:r>
              <a:rPr lang="en-US" dirty="0" err="1"/>
              <a:t>Mpa</a:t>
            </a:r>
            <a:r>
              <a:rPr lang="en-US" dirty="0"/>
              <a:t>, it is within the region</a:t>
            </a:r>
          </a:p>
        </p:txBody>
      </p:sp>
    </p:spTree>
    <p:extLst>
      <p:ext uri="{BB962C8B-B14F-4D97-AF65-F5344CB8AC3E}">
        <p14:creationId xmlns:p14="http://schemas.microsoft.com/office/powerpoint/2010/main" val="3114873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most usual conditions (for instance at standard temperature and pressure), most real gases behave qualitatively like an ideal gas. Many gases such as nitrogen, oxygen, hydrogen, noble gases, and some heavier gases like carbon dioxide can be treated like ideal gases within reasonable tolerances.[1] Generally, a gas behaves more like an ideal gas at higher temperature and lower pressure,[1] as the potential energy due to intermolecular forces becomes less significant compared with the particles' kinetic energy, and the size of the molecules becomes less significant compared to the empty space between them.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High T and low P are relative to </a:t>
            </a:r>
            <a:r>
              <a:rPr lang="en-US" sz="1200" b="0" i="0" u="none" strike="noStrike" kern="1200" baseline="0" dirty="0" err="1">
                <a:solidFill>
                  <a:schemeClr val="tx1"/>
                </a:solidFill>
                <a:latin typeface="+mn-lt"/>
                <a:ea typeface="+mn-ea"/>
                <a:cs typeface="+mn-cs"/>
              </a:rPr>
              <a:t>Tcr</a:t>
            </a:r>
            <a:r>
              <a:rPr lang="en-US" sz="1200" b="0" i="0" u="none" strike="noStrike" kern="1200" baseline="0" dirty="0">
                <a:solidFill>
                  <a:schemeClr val="tx1"/>
                </a:solidFill>
                <a:latin typeface="+mn-lt"/>
                <a:ea typeface="+mn-ea"/>
                <a:cs typeface="+mn-cs"/>
              </a:rPr>
              <a:t> and </a:t>
            </a:r>
            <a:r>
              <a:rPr lang="en-US" sz="1200" b="0" i="0" u="none" strike="noStrike" kern="1200" baseline="0" dirty="0" err="1">
                <a:solidFill>
                  <a:schemeClr val="tx1"/>
                </a:solidFill>
                <a:latin typeface="+mn-lt"/>
                <a:ea typeface="+mn-ea"/>
                <a:cs typeface="+mn-cs"/>
              </a:rPr>
              <a:t>Pcr</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For a gas to be “ideal” there are four governing assumptions:</a:t>
            </a:r>
          </a:p>
          <a:p>
            <a:r>
              <a:rPr lang="en-US" sz="1200" b="0" i="0" u="none" strike="noStrike" kern="1200" baseline="0" dirty="0">
                <a:solidFill>
                  <a:schemeClr val="tx1"/>
                </a:solidFill>
                <a:latin typeface="+mn-lt"/>
                <a:ea typeface="+mn-ea"/>
                <a:cs typeface="+mn-cs"/>
              </a:rPr>
              <a:t>1. The gas particles have negligible volume.</a:t>
            </a:r>
          </a:p>
          <a:p>
            <a:r>
              <a:rPr lang="en-US" sz="1200" b="0" i="0" u="none" strike="noStrike" kern="1200" baseline="0" dirty="0">
                <a:solidFill>
                  <a:schemeClr val="tx1"/>
                </a:solidFill>
                <a:latin typeface="+mn-lt"/>
                <a:ea typeface="+mn-ea"/>
                <a:cs typeface="+mn-cs"/>
              </a:rPr>
              <a:t>2. The gas particles are equally sized and do not have intermolecular forces (attraction or repulsion) with other gas particles.</a:t>
            </a:r>
          </a:p>
          <a:p>
            <a:r>
              <a:rPr lang="en-US" sz="1200" b="0" i="0" u="none" strike="noStrike" kern="1200" baseline="0" dirty="0">
                <a:solidFill>
                  <a:schemeClr val="tx1"/>
                </a:solidFill>
                <a:latin typeface="+mn-lt"/>
                <a:ea typeface="+mn-ea"/>
                <a:cs typeface="+mn-cs"/>
              </a:rPr>
              <a:t>3. The gas particles move randomly in agreement with Newton’s Laws of Motion.</a:t>
            </a:r>
          </a:p>
          <a:p>
            <a:r>
              <a:rPr lang="en-US" sz="1200" b="0" i="0" u="none" strike="noStrike" kern="1200" baseline="0" dirty="0">
                <a:solidFill>
                  <a:schemeClr val="tx1"/>
                </a:solidFill>
                <a:latin typeface="+mn-lt"/>
                <a:ea typeface="+mn-ea"/>
                <a:cs typeface="+mn-cs"/>
              </a:rPr>
              <a:t>4. The gas particles have perfect elastic collisions with no energy loss.</a:t>
            </a:r>
          </a:p>
          <a:p>
            <a:r>
              <a:rPr lang="en-US" sz="1200" b="0" i="0" u="none" strike="noStrike" kern="1200" baseline="0" dirty="0">
                <a:solidFill>
                  <a:schemeClr val="tx1"/>
                </a:solidFill>
                <a:latin typeface="+mn-lt"/>
                <a:ea typeface="+mn-ea"/>
                <a:cs typeface="+mn-cs"/>
              </a:rPr>
              <a:t>In reality, there are no ideal gases. Any gas particle possesses a volume within the system (a minute amount, but present nonetheless), which violates the first assumption. Additionally, gas particles can be different sizes; for example, hydrogen gas is significantly smaller than xenon gas. Gases in a system do have intermolecular forces with neighboring gas particles, especially at low temperatures where the particles are not moving quickly and interact with each other. Even though gas particles can move randomly, they do not have perfect elastic collisions due to the conservation of energy and momentum within the system.</a:t>
            </a:r>
            <a:endParaRPr lang="en-US" dirty="0"/>
          </a:p>
        </p:txBody>
      </p:sp>
    </p:spTree>
    <p:extLst>
      <p:ext uri="{BB962C8B-B14F-4D97-AF65-F5344CB8AC3E}">
        <p14:creationId xmlns:p14="http://schemas.microsoft.com/office/powerpoint/2010/main" val="2672209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65137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36135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15246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Look at the typical gases and very low Tc and high Pc, so we can use in ideal gas</a:t>
            </a:r>
          </a:p>
        </p:txBody>
      </p:sp>
    </p:spTree>
    <p:extLst>
      <p:ext uri="{BB962C8B-B14F-4D97-AF65-F5344CB8AC3E}">
        <p14:creationId xmlns:p14="http://schemas.microsoft.com/office/powerpoint/2010/main" val="2407018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05464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3 minutes +</a:t>
            </a:r>
          </a:p>
          <a:p>
            <a:r>
              <a:rPr lang="en-US" dirty="0"/>
              <a:t>A</a:t>
            </a:r>
          </a:p>
        </p:txBody>
      </p:sp>
    </p:spTree>
    <p:extLst>
      <p:ext uri="{BB962C8B-B14F-4D97-AF65-F5344CB8AC3E}">
        <p14:creationId xmlns:p14="http://schemas.microsoft.com/office/powerpoint/2010/main" val="2102978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3 minutes +</a:t>
            </a:r>
          </a:p>
          <a:p>
            <a:r>
              <a:rPr lang="en-US" dirty="0"/>
              <a:t>A</a:t>
            </a:r>
          </a:p>
        </p:txBody>
      </p:sp>
    </p:spTree>
    <p:extLst>
      <p:ext uri="{BB962C8B-B14F-4D97-AF65-F5344CB8AC3E}">
        <p14:creationId xmlns:p14="http://schemas.microsoft.com/office/powerpoint/2010/main" val="4169502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a:fld id="{825F15A7-03F4-43D7-82C5-3E23DA2F108C}" type="mathplaceholder">
                        <a:rPr lang="en-US" i="1" smtClean="0">
                          <a:latin typeface="Cambria Math" panose="02040503050406030204" pitchFamily="18" charset="0"/>
                        </a:rPr>
                        <a:t>Type equation here.</a:t>
                      </a:fld>
                    </m:oMath>
                  </m:oMathPara>
                </a14:m>
                <a:endParaRPr lang="en-US" dirty="0"/>
              </a:p>
            </p:txBody>
          </p:sp>
        </mc:Choice>
        <mc:Fallback xmlns="">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i="0">
                    <a:latin typeface="Cambria Math" panose="02040503050406030204" pitchFamily="18" charset="0"/>
                  </a:rPr>
                  <a:t>"Type equation here."</a:t>
                </a:r>
                <a:endParaRPr lang="en-US" dirty="0"/>
              </a:p>
            </p:txBody>
          </p:sp>
        </mc:Fallback>
      </mc:AlternateContent>
    </p:spTree>
    <p:extLst>
      <p:ext uri="{BB962C8B-B14F-4D97-AF65-F5344CB8AC3E}">
        <p14:creationId xmlns:p14="http://schemas.microsoft.com/office/powerpoint/2010/main" val="2705333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78FB304-8DC4-4016-B678-46A84FF9AE9A}"/>
              </a:ext>
            </a:extLst>
          </p:cNvPr>
          <p:cNvSpPr>
            <a:spLocks noGrp="1"/>
          </p:cNvSpPr>
          <p:nvPr>
            <p:ph type="body" idx="1"/>
          </p:nvPr>
        </p:nvSpPr>
        <p:spPr/>
        <p:txBody>
          <a:bodyPr/>
          <a:lstStyle/>
          <a:p>
            <a:r>
              <a:rPr lang="en-US" dirty="0"/>
              <a:t>Dashed line is reduced volume values</a:t>
            </a:r>
          </a:p>
        </p:txBody>
      </p:sp>
    </p:spTree>
    <p:extLst>
      <p:ext uri="{BB962C8B-B14F-4D97-AF65-F5344CB8AC3E}">
        <p14:creationId xmlns:p14="http://schemas.microsoft.com/office/powerpoint/2010/main" val="2738922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5C5A85-BA68-4A6E-89EC-89F77F1DBAA3}" type="datetime1">
              <a:rPr lang="en-US" smtClean="0"/>
              <a:t>3/4/25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058352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01F983-55B3-4486-B781-620F6DBD51A8}" type="datetime1">
              <a:rPr lang="en-US" smtClean="0"/>
              <a:t>3/4/25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02730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B796A44-F112-465B-9F17-6AEA6575836A}" type="datetime1">
              <a:rPr lang="en-US" smtClean="0"/>
              <a:t>3/4/25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4133127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280868-52FB-4F0E-9E4D-CD408078E6C2}" type="datetime1">
              <a:rPr lang="en-US" smtClean="0"/>
              <a:t>3/4/25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4231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BFD7E3-7B3F-4FC2-A5AD-80CAB07EB05E}" type="datetime1">
              <a:rPr lang="en-US" smtClean="0"/>
              <a:t>3/4/25</a:t>
            </a:fld>
            <a:endParaRPr lang="en-US"/>
          </a:p>
        </p:txBody>
      </p:sp>
      <p:sp>
        <p:nvSpPr>
          <p:cNvPr id="8" name="Footer Placeholder 7"/>
          <p:cNvSpPr>
            <a:spLocks noGrp="1"/>
          </p:cNvSpPr>
          <p:nvPr>
            <p:ph type="ftr" sz="quarter" idx="11"/>
          </p:nvPr>
        </p:nvSpPr>
        <p:spPr/>
        <p:txBody>
          <a:bodyPr/>
          <a:lstStyle/>
          <a:p>
            <a:r>
              <a:rPr lang="en-US"/>
              <a:t>ME 270: Design for Manufacturability | 2020 Fall | UIUC-ZJU | Timothy H. Lee </a:t>
            </a:r>
          </a:p>
        </p:txBody>
      </p:sp>
      <p:sp>
        <p:nvSpPr>
          <p:cNvPr id="9" name="Slide Number Placeholder 8"/>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91598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4AB53F-12C9-4728-B471-936897AB026F}" type="datetime1">
              <a:rPr lang="en-US" smtClean="0"/>
              <a:t>3/4/25</a:t>
            </a:fld>
            <a:endParaRPr lang="en-US"/>
          </a:p>
        </p:txBody>
      </p:sp>
      <p:sp>
        <p:nvSpPr>
          <p:cNvPr id="4" name="Footer Placeholder 3"/>
          <p:cNvSpPr>
            <a:spLocks noGrp="1"/>
          </p:cNvSpPr>
          <p:nvPr>
            <p:ph type="ftr" sz="quarter" idx="11"/>
          </p:nvPr>
        </p:nvSpPr>
        <p:spPr/>
        <p:txBody>
          <a:bodyPr/>
          <a:lstStyle/>
          <a:p>
            <a:r>
              <a:rPr lang="en-US"/>
              <a:t>ME 270: Design for Manufacturability | 2020 Fall | UIUC-ZJU | Timothy H. Lee </a:t>
            </a:r>
          </a:p>
        </p:txBody>
      </p:sp>
      <p:sp>
        <p:nvSpPr>
          <p:cNvPr id="5" name="Slide Number Placeholder 4"/>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7851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D25B4-0C05-495D-A3E2-85B0ED0F6FCD}" type="datetime1">
              <a:rPr lang="en-US" smtClean="0"/>
              <a:t>3/4/25</a:t>
            </a:fld>
            <a:endParaRPr lang="en-US"/>
          </a:p>
        </p:txBody>
      </p:sp>
      <p:sp>
        <p:nvSpPr>
          <p:cNvPr id="3" name="Footer Placeholder 2"/>
          <p:cNvSpPr>
            <a:spLocks noGrp="1"/>
          </p:cNvSpPr>
          <p:nvPr>
            <p:ph type="ftr" sz="quarter" idx="11"/>
          </p:nvPr>
        </p:nvSpPr>
        <p:spPr/>
        <p:txBody>
          <a:bodyPr/>
          <a:lstStyle/>
          <a:p>
            <a:r>
              <a:rPr lang="en-US"/>
              <a:t>ME 270: Design for Manufacturability | 2020 Fall | UIUC-ZJU | Timothy H. Lee </a:t>
            </a:r>
          </a:p>
        </p:txBody>
      </p:sp>
      <p:sp>
        <p:nvSpPr>
          <p:cNvPr id="4" name="Slide Number Placeholder 3"/>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573580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E80CB2-E014-4BC5-8CDD-632662D6D7CF}" type="datetime1">
              <a:rPr lang="en-US" smtClean="0"/>
              <a:t>3/4/25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12895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4A8DCFA-11BF-42B2-BD96-FC517D0EB8FE}" type="datetime1">
              <a:rPr lang="en-US" smtClean="0"/>
              <a:t>3/4/25</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13785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2D60C0-9620-432C-8D8D-9C06BB5BB575}" type="datetime1">
              <a:rPr lang="en-US" smtClean="0"/>
              <a:t>3/4/25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25093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16AE5B-EB16-47B8-B0BB-3B146A954241}" type="datetime1">
              <a:rPr lang="en-US" smtClean="0"/>
              <a:t>3/4/25</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9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D812EF-7246-4ADC-BC0E-7B12542E4010}" type="datetime1">
              <a:rPr lang="en-US" smtClean="0"/>
              <a:t>3/4/25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ME 270: Design for Manufacturability | 2020 Fall | UIUC-ZJU | Timothy H. Lee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2D253-2F6D-41B8-95AA-96C9BA5D69B2}" type="slidenum">
              <a:rPr lang="en-US" smtClean="0"/>
              <a:t>‹#›</a:t>
            </a:fld>
            <a:endParaRPr lang="en-US"/>
          </a:p>
        </p:txBody>
      </p:sp>
    </p:spTree>
    <p:extLst>
      <p:ext uri="{BB962C8B-B14F-4D97-AF65-F5344CB8AC3E}">
        <p14:creationId xmlns:p14="http://schemas.microsoft.com/office/powerpoint/2010/main" val="33346442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0.png"/><Relationship Id="rId5" Type="http://schemas.openxmlformats.org/officeDocument/2006/relationships/image" Target="../media/image2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70.png"/><Relationship Id="rId4" Type="http://schemas.openxmlformats.org/officeDocument/2006/relationships/image" Target="../media/image160.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ME 200</a:t>
            </a:r>
            <a:br>
              <a:rPr lang="en-US" b="1" dirty="0"/>
            </a:br>
            <a:r>
              <a:rPr lang="en-US" sz="5300" b="1" dirty="0"/>
              <a:t>Thermodynamics</a:t>
            </a:r>
          </a:p>
        </p:txBody>
      </p:sp>
      <p:sp>
        <p:nvSpPr>
          <p:cNvPr id="3" name="Subtitle 2"/>
          <p:cNvSpPr>
            <a:spLocks noGrp="1"/>
          </p:cNvSpPr>
          <p:nvPr>
            <p:ph type="subTitle" idx="1"/>
          </p:nvPr>
        </p:nvSpPr>
        <p:spPr/>
        <p:txBody>
          <a:bodyPr>
            <a:normAutofit/>
          </a:bodyPr>
          <a:lstStyle/>
          <a:p>
            <a:endParaRPr lang="en-US" dirty="0"/>
          </a:p>
          <a:p>
            <a:r>
              <a:rPr lang="en-US" dirty="0"/>
              <a:t>Lecture 08 – Equations of State</a:t>
            </a:r>
          </a:p>
        </p:txBody>
      </p:sp>
      <p:pic>
        <p:nvPicPr>
          <p:cNvPr id="4" name="Picture 3"/>
          <p:cNvPicPr>
            <a:picLocks noChangeAspect="1"/>
          </p:cNvPicPr>
          <p:nvPr/>
        </p:nvPicPr>
        <p:blipFill>
          <a:blip r:embed="rId3"/>
          <a:stretch>
            <a:fillRect/>
          </a:stretch>
        </p:blipFill>
        <p:spPr>
          <a:xfrm>
            <a:off x="99389" y="26081"/>
            <a:ext cx="8945223" cy="1286054"/>
          </a:xfrm>
          <a:prstGeom prst="rect">
            <a:avLst/>
          </a:prstGeom>
        </p:spPr>
      </p:pic>
    </p:spTree>
    <p:extLst>
      <p:ext uri="{BB962C8B-B14F-4D97-AF65-F5344CB8AC3E}">
        <p14:creationId xmlns:p14="http://schemas.microsoft.com/office/powerpoint/2010/main" val="29430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To Find Properties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7" name="Picture 1">
            <a:extLst>
              <a:ext uri="{FF2B5EF4-FFF2-40B4-BE49-F238E27FC236}">
                <a16:creationId xmlns:a16="http://schemas.microsoft.com/office/drawing/2014/main" id="{D462699C-B109-4BA0-B513-93307687E4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485" y="1399291"/>
            <a:ext cx="5657850" cy="3146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C886EDF4-3A5E-4F07-99F2-766451D53F86}"/>
              </a:ext>
            </a:extLst>
          </p:cNvPr>
          <p:cNvSpPr/>
          <p:nvPr/>
        </p:nvSpPr>
        <p:spPr>
          <a:xfrm>
            <a:off x="3563825" y="2680173"/>
            <a:ext cx="1105696" cy="461665"/>
          </a:xfrm>
          <a:prstGeom prst="rect">
            <a:avLst/>
          </a:prstGeom>
        </p:spPr>
        <p:txBody>
          <a:bodyPr wrap="square">
            <a:spAutoFit/>
          </a:bodyPr>
          <a:lstStyle/>
          <a:p>
            <a:r>
              <a:rPr lang="en-US" altLang="zh-CN" sz="2400" b="1" dirty="0">
                <a:solidFill>
                  <a:srgbClr val="FF0000"/>
                </a:solidFill>
              </a:rPr>
              <a:t>direct</a:t>
            </a:r>
          </a:p>
        </p:txBody>
      </p:sp>
      <p:sp>
        <p:nvSpPr>
          <p:cNvPr id="9" name="Rectangle 8">
            <a:extLst>
              <a:ext uri="{FF2B5EF4-FFF2-40B4-BE49-F238E27FC236}">
                <a16:creationId xmlns:a16="http://schemas.microsoft.com/office/drawing/2014/main" id="{90C779FF-B6B1-4C24-A00E-B87A3549BB0F}"/>
              </a:ext>
            </a:extLst>
          </p:cNvPr>
          <p:cNvSpPr/>
          <p:nvPr/>
        </p:nvSpPr>
        <p:spPr>
          <a:xfrm>
            <a:off x="6299170" y="2691171"/>
            <a:ext cx="1105696" cy="461665"/>
          </a:xfrm>
          <a:prstGeom prst="rect">
            <a:avLst/>
          </a:prstGeom>
        </p:spPr>
        <p:txBody>
          <a:bodyPr wrap="square">
            <a:spAutoFit/>
          </a:bodyPr>
          <a:lstStyle/>
          <a:p>
            <a:r>
              <a:rPr lang="en-US" altLang="zh-CN" sz="2400" b="1" dirty="0">
                <a:solidFill>
                  <a:srgbClr val="FF0000"/>
                </a:solidFill>
              </a:rPr>
              <a:t>direct</a:t>
            </a:r>
          </a:p>
        </p:txBody>
      </p:sp>
      <p:sp>
        <p:nvSpPr>
          <p:cNvPr id="10" name="Rectangle 9">
            <a:extLst>
              <a:ext uri="{FF2B5EF4-FFF2-40B4-BE49-F238E27FC236}">
                <a16:creationId xmlns:a16="http://schemas.microsoft.com/office/drawing/2014/main" id="{0C1A7D14-0CE8-4688-A418-EFF9E50EEAAD}"/>
              </a:ext>
            </a:extLst>
          </p:cNvPr>
          <p:cNvSpPr/>
          <p:nvPr/>
        </p:nvSpPr>
        <p:spPr>
          <a:xfrm>
            <a:off x="6602398" y="3324337"/>
            <a:ext cx="1105696" cy="461665"/>
          </a:xfrm>
          <a:prstGeom prst="rect">
            <a:avLst/>
          </a:prstGeom>
        </p:spPr>
        <p:txBody>
          <a:bodyPr wrap="square">
            <a:spAutoFit/>
          </a:bodyPr>
          <a:lstStyle/>
          <a:p>
            <a:r>
              <a:rPr lang="en-US" altLang="zh-CN" sz="2400" b="1" dirty="0">
                <a:solidFill>
                  <a:srgbClr val="FF0000"/>
                </a:solidFill>
              </a:rPr>
              <a:t>direct</a:t>
            </a:r>
          </a:p>
        </p:txBody>
      </p:sp>
      <p:sp>
        <p:nvSpPr>
          <p:cNvPr id="11" name="Rectangle 10">
            <a:extLst>
              <a:ext uri="{FF2B5EF4-FFF2-40B4-BE49-F238E27FC236}">
                <a16:creationId xmlns:a16="http://schemas.microsoft.com/office/drawing/2014/main" id="{D36523B5-3EE5-45A6-A857-CF215646854C}"/>
              </a:ext>
            </a:extLst>
          </p:cNvPr>
          <p:cNvSpPr/>
          <p:nvPr/>
        </p:nvSpPr>
        <p:spPr>
          <a:xfrm>
            <a:off x="6368298" y="3976358"/>
            <a:ext cx="2609272" cy="1200329"/>
          </a:xfrm>
          <a:prstGeom prst="rect">
            <a:avLst/>
          </a:prstGeom>
        </p:spPr>
        <p:txBody>
          <a:bodyPr wrap="square">
            <a:spAutoFit/>
          </a:bodyPr>
          <a:lstStyle/>
          <a:p>
            <a:r>
              <a:rPr lang="en-US" altLang="zh-CN" sz="2400" b="1" dirty="0">
                <a:solidFill>
                  <a:srgbClr val="FF0000"/>
                </a:solidFill>
              </a:rPr>
              <a:t>direct, but usually needs double interpolation</a:t>
            </a:r>
          </a:p>
        </p:txBody>
      </p:sp>
      <p:sp>
        <p:nvSpPr>
          <p:cNvPr id="12" name="Rectangle 11">
            <a:extLst>
              <a:ext uri="{FF2B5EF4-FFF2-40B4-BE49-F238E27FC236}">
                <a16:creationId xmlns:a16="http://schemas.microsoft.com/office/drawing/2014/main" id="{DFFB21A4-1EE6-4C47-83A3-DBB73F503B4F}"/>
              </a:ext>
            </a:extLst>
          </p:cNvPr>
          <p:cNvSpPr/>
          <p:nvPr/>
        </p:nvSpPr>
        <p:spPr>
          <a:xfrm>
            <a:off x="3254311" y="3313341"/>
            <a:ext cx="1848841" cy="461665"/>
          </a:xfrm>
          <a:prstGeom prst="rect">
            <a:avLst/>
          </a:prstGeom>
        </p:spPr>
        <p:txBody>
          <a:bodyPr wrap="square">
            <a:spAutoFit/>
          </a:bodyPr>
          <a:lstStyle/>
          <a:p>
            <a:r>
              <a:rPr lang="en-US" altLang="zh-CN" sz="2400" b="1" dirty="0">
                <a:solidFill>
                  <a:srgbClr val="FF0000"/>
                </a:solidFill>
              </a:rPr>
              <a:t>trial &amp; error</a:t>
            </a:r>
          </a:p>
        </p:txBody>
      </p:sp>
      <p:sp>
        <p:nvSpPr>
          <p:cNvPr id="13" name="Rectangle 12">
            <a:extLst>
              <a:ext uri="{FF2B5EF4-FFF2-40B4-BE49-F238E27FC236}">
                <a16:creationId xmlns:a16="http://schemas.microsoft.com/office/drawing/2014/main" id="{25B54E86-77C3-4226-8DC1-64CBB178345C}"/>
              </a:ext>
            </a:extLst>
          </p:cNvPr>
          <p:cNvSpPr/>
          <p:nvPr/>
        </p:nvSpPr>
        <p:spPr>
          <a:xfrm>
            <a:off x="3369003" y="3984226"/>
            <a:ext cx="1848841" cy="461665"/>
          </a:xfrm>
          <a:prstGeom prst="rect">
            <a:avLst/>
          </a:prstGeom>
        </p:spPr>
        <p:txBody>
          <a:bodyPr wrap="square">
            <a:spAutoFit/>
          </a:bodyPr>
          <a:lstStyle/>
          <a:p>
            <a:r>
              <a:rPr lang="en-US" altLang="zh-CN" sz="2400" b="1" dirty="0">
                <a:solidFill>
                  <a:srgbClr val="FF0000"/>
                </a:solidFill>
              </a:rPr>
              <a:t>trial &amp; error</a:t>
            </a:r>
          </a:p>
        </p:txBody>
      </p:sp>
      <p:sp>
        <p:nvSpPr>
          <p:cNvPr id="15" name="Rectangle 14">
            <a:extLst>
              <a:ext uri="{FF2B5EF4-FFF2-40B4-BE49-F238E27FC236}">
                <a16:creationId xmlns:a16="http://schemas.microsoft.com/office/drawing/2014/main" id="{B585C8C8-75A0-48F5-83C1-614A3F6F0B3B}"/>
              </a:ext>
            </a:extLst>
          </p:cNvPr>
          <p:cNvSpPr/>
          <p:nvPr/>
        </p:nvSpPr>
        <p:spPr>
          <a:xfrm>
            <a:off x="2236217" y="4585954"/>
            <a:ext cx="2621839"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 or P, z)</a:t>
            </a:r>
            <a:r>
              <a:rPr lang="en-US" altLang="zh-CN" sz="2400" b="1" dirty="0">
                <a:solidFill>
                  <a:srgbClr val="FF0000"/>
                </a:solidFill>
              </a:rPr>
              <a:t>  direct</a:t>
            </a:r>
          </a:p>
        </p:txBody>
      </p:sp>
    </p:spTree>
    <p:extLst>
      <p:ext uri="{BB962C8B-B14F-4D97-AF65-F5344CB8AC3E}">
        <p14:creationId xmlns:p14="http://schemas.microsoft.com/office/powerpoint/2010/main" val="362695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Methods for Determining States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2262158"/>
          </a:xfrm>
          <a:prstGeom prst="rect">
            <a:avLst/>
          </a:prstGeom>
          <a:noFill/>
        </p:spPr>
        <p:txBody>
          <a:bodyPr wrap="square" rtlCol="0">
            <a:spAutoFit/>
          </a:bodyPr>
          <a:lstStyle/>
          <a:p>
            <a:pPr marL="342900" indent="-342900">
              <a:spcAft>
                <a:spcPts val="1800"/>
              </a:spcAft>
              <a:buFont typeface="Arial" panose="020B0604020202020204" pitchFamily="34" charset="0"/>
              <a:buChar char="•"/>
            </a:pPr>
            <a:r>
              <a:rPr lang="en-US" altLang="zh-CN" sz="2400" b="1" dirty="0"/>
              <a:t>Tables</a:t>
            </a:r>
          </a:p>
          <a:p>
            <a:pPr marL="342900" indent="-342900">
              <a:spcAft>
                <a:spcPts val="1800"/>
              </a:spcAft>
              <a:buFont typeface="Arial" panose="020B0604020202020204" pitchFamily="34" charset="0"/>
              <a:buChar char="•"/>
            </a:pPr>
            <a:r>
              <a:rPr lang="en-US" altLang="zh-CN" sz="2400" b="1" dirty="0"/>
              <a:t>Figures</a:t>
            </a:r>
          </a:p>
          <a:p>
            <a:pPr marL="342900" indent="-342900">
              <a:spcAft>
                <a:spcPts val="1800"/>
              </a:spcAft>
              <a:buFont typeface="Arial" panose="020B0604020202020204" pitchFamily="34" charset="0"/>
              <a:buChar char="•"/>
            </a:pPr>
            <a:r>
              <a:rPr lang="en-US" altLang="zh-CN" sz="2400" b="1" dirty="0"/>
              <a:t>Equation of States (EOS)</a:t>
            </a:r>
          </a:p>
          <a:p>
            <a:pPr marL="342900" indent="-342900">
              <a:spcAft>
                <a:spcPts val="1800"/>
              </a:spcAft>
              <a:buFont typeface="Arial" panose="020B0604020202020204" pitchFamily="34" charset="0"/>
              <a:buChar char="•"/>
            </a:pPr>
            <a:r>
              <a:rPr lang="en-US" altLang="zh-CN" sz="2400" b="1" dirty="0"/>
              <a:t>Computer</a:t>
            </a:r>
          </a:p>
        </p:txBody>
      </p:sp>
    </p:spTree>
    <p:extLst>
      <p:ext uri="{BB962C8B-B14F-4D97-AF65-F5344CB8AC3E}">
        <p14:creationId xmlns:p14="http://schemas.microsoft.com/office/powerpoint/2010/main" val="2707503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Equations of States (EOS)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Rectangle 5">
            <a:extLst>
              <a:ext uri="{FF2B5EF4-FFF2-40B4-BE49-F238E27FC236}">
                <a16:creationId xmlns:a16="http://schemas.microsoft.com/office/drawing/2014/main" id="{BE4A7AB6-40E8-441A-8D8C-46E58BCAABCC}"/>
              </a:ext>
            </a:extLst>
          </p:cNvPr>
          <p:cNvSpPr>
            <a:spLocks noChangeArrowheads="1"/>
          </p:cNvSpPr>
          <p:nvPr/>
        </p:nvSpPr>
        <p:spPr bwMode="auto">
          <a:xfrm>
            <a:off x="4511870" y="6456656"/>
            <a:ext cx="677332" cy="3640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Ideal Gas Model</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585812B-F359-4C3C-916E-941A6865FD80}"/>
                  </a:ext>
                </a:extLst>
              </p:cNvPr>
              <p:cNvSpPr/>
              <p:nvPr/>
            </p:nvSpPr>
            <p:spPr>
              <a:xfrm>
                <a:off x="1833125" y="1417408"/>
                <a:ext cx="5498878"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ea typeface="Cambria Math"/>
                        </a:rPr>
                        <m:t>𝑝𝑉</m:t>
                      </m:r>
                      <m:r>
                        <a:rPr lang="en-US" sz="2400" i="1">
                          <a:latin typeface="Cambria Math"/>
                        </a:rPr>
                        <m:t>=</m:t>
                      </m:r>
                      <m:r>
                        <a:rPr lang="en-US" sz="2400" b="0" i="1" smtClean="0">
                          <a:latin typeface="Cambria Math"/>
                        </a:rPr>
                        <m:t>𝑛</m:t>
                      </m:r>
                      <m:acc>
                        <m:accPr>
                          <m:chr m:val="̅"/>
                          <m:ctrlPr>
                            <a:rPr lang="en-US" sz="2400" b="0" i="1" smtClean="0">
                              <a:latin typeface="Cambria Math" panose="02040503050406030204" pitchFamily="18" charset="0"/>
                              <a:ea typeface="Cambria Math"/>
                            </a:rPr>
                          </m:ctrlPr>
                        </m:accPr>
                        <m:e>
                          <m:r>
                            <a:rPr lang="en-US" sz="2400" b="0" i="1" smtClean="0">
                              <a:latin typeface="Cambria Math"/>
                              <a:ea typeface="Cambria Math"/>
                            </a:rPr>
                            <m:t>𝑅</m:t>
                          </m:r>
                        </m:e>
                      </m:acc>
                      <m:r>
                        <a:rPr lang="en-US" sz="2400" b="0" i="1" smtClean="0">
                          <a:latin typeface="Cambria Math"/>
                          <a:ea typeface="Cambria Math"/>
                        </a:rPr>
                        <m:t>𝑇</m:t>
                      </m:r>
                      <m:r>
                        <a:rPr lang="en-US" sz="2400" b="0" i="1" smtClean="0">
                          <a:latin typeface="Cambria Math"/>
                          <a:ea typeface="Cambria Math"/>
                        </a:rPr>
                        <m:t>=</m:t>
                      </m:r>
                      <m:r>
                        <a:rPr lang="en-US" sz="2400" b="0" i="1" smtClean="0">
                          <a:latin typeface="Cambria Math"/>
                          <a:ea typeface="Cambria Math"/>
                        </a:rPr>
                        <m:t>𝑚</m:t>
                      </m:r>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𝑛</m:t>
                          </m:r>
                        </m:num>
                        <m:den>
                          <m:r>
                            <a:rPr lang="en-US" sz="2400" b="0" i="1" smtClean="0">
                              <a:latin typeface="Cambria Math"/>
                              <a:ea typeface="Cambria Math"/>
                            </a:rPr>
                            <m:t>𝑚</m:t>
                          </m:r>
                        </m:den>
                      </m:f>
                      <m:acc>
                        <m:accPr>
                          <m:chr m:val="̅"/>
                          <m:ctrlPr>
                            <a:rPr lang="en-US" sz="2400" i="1">
                              <a:latin typeface="Cambria Math" panose="02040503050406030204" pitchFamily="18" charset="0"/>
                              <a:ea typeface="Cambria Math"/>
                            </a:rPr>
                          </m:ctrlPr>
                        </m:accPr>
                        <m:e>
                          <m:r>
                            <a:rPr lang="en-US" sz="2400" i="1">
                              <a:latin typeface="Cambria Math"/>
                              <a:ea typeface="Cambria Math"/>
                            </a:rPr>
                            <m:t>𝑅</m:t>
                          </m:r>
                        </m:e>
                      </m:acc>
                      <m:r>
                        <a:rPr lang="en-US" sz="2400" i="1">
                          <a:latin typeface="Cambria Math"/>
                          <a:ea typeface="Cambria Math"/>
                        </a:rPr>
                        <m:t>𝑇</m:t>
                      </m:r>
                      <m:r>
                        <a:rPr lang="en-US" sz="2400" b="0" i="1" smtClean="0">
                          <a:latin typeface="Cambria Math"/>
                          <a:ea typeface="Cambria Math"/>
                        </a:rPr>
                        <m:t>=</m:t>
                      </m:r>
                      <m:r>
                        <a:rPr lang="en-US" sz="2400" i="1">
                          <a:latin typeface="Cambria Math"/>
                          <a:ea typeface="Cambria Math"/>
                        </a:rPr>
                        <m:t>𝑚</m:t>
                      </m:r>
                      <m:f>
                        <m:fPr>
                          <m:ctrlPr>
                            <a:rPr lang="en-US" sz="2400" i="1">
                              <a:latin typeface="Cambria Math" panose="02040503050406030204" pitchFamily="18" charset="0"/>
                              <a:ea typeface="Cambria Math"/>
                            </a:rPr>
                          </m:ctrlPr>
                        </m:fPr>
                        <m:num>
                          <m:r>
                            <a:rPr lang="en-US" sz="2400" b="0" i="1" smtClean="0">
                              <a:latin typeface="Cambria Math"/>
                              <a:ea typeface="Cambria Math"/>
                            </a:rPr>
                            <m:t>1</m:t>
                          </m:r>
                        </m:num>
                        <m:den>
                          <m:r>
                            <a:rPr lang="en-US" sz="2400" b="0" i="1" smtClean="0">
                              <a:latin typeface="Cambria Math"/>
                              <a:ea typeface="Cambria Math"/>
                            </a:rPr>
                            <m:t>𝑀</m:t>
                          </m:r>
                        </m:den>
                      </m:f>
                      <m:acc>
                        <m:accPr>
                          <m:chr m:val="̅"/>
                          <m:ctrlPr>
                            <a:rPr lang="en-US" sz="2400" i="1">
                              <a:latin typeface="Cambria Math" panose="02040503050406030204" pitchFamily="18" charset="0"/>
                              <a:ea typeface="Cambria Math"/>
                            </a:rPr>
                          </m:ctrlPr>
                        </m:accPr>
                        <m:e>
                          <m:r>
                            <a:rPr lang="en-US" sz="2400" i="1">
                              <a:latin typeface="Cambria Math"/>
                              <a:ea typeface="Cambria Math"/>
                            </a:rPr>
                            <m:t>𝑅</m:t>
                          </m:r>
                        </m:e>
                      </m:acc>
                      <m:r>
                        <a:rPr lang="en-US" sz="2400" i="1">
                          <a:latin typeface="Cambria Math"/>
                          <a:ea typeface="Cambria Math"/>
                        </a:rPr>
                        <m:t>𝑇</m:t>
                      </m:r>
                      <m:r>
                        <a:rPr lang="en-US" sz="2400" b="0" i="1" smtClean="0">
                          <a:latin typeface="Cambria Math"/>
                          <a:ea typeface="Cambria Math"/>
                        </a:rPr>
                        <m:t>=</m:t>
                      </m:r>
                      <m:r>
                        <a:rPr lang="en-US" sz="2400" b="0" i="1" smtClean="0">
                          <a:latin typeface="Cambria Math"/>
                          <a:ea typeface="Cambria Math"/>
                        </a:rPr>
                        <m:t>𝑚𝑅𝑇</m:t>
                      </m:r>
                    </m:oMath>
                  </m:oMathPara>
                </a14:m>
                <a:endParaRPr lang="en-US" sz="2400" dirty="0"/>
              </a:p>
            </p:txBody>
          </p:sp>
        </mc:Choice>
        <mc:Fallback xmlns="">
          <p:sp>
            <p:nvSpPr>
              <p:cNvPr id="7" name="Rectangle 6">
                <a:extLst>
                  <a:ext uri="{FF2B5EF4-FFF2-40B4-BE49-F238E27FC236}">
                    <a16:creationId xmlns:a16="http://schemas.microsoft.com/office/drawing/2014/main" id="{5585812B-F359-4C3C-916E-941A6865FD80}"/>
                  </a:ext>
                </a:extLst>
              </p:cNvPr>
              <p:cNvSpPr>
                <a:spLocks noRot="1" noChangeAspect="1" noMove="1" noResize="1" noEditPoints="1" noAdjustHandles="1" noChangeArrowheads="1" noChangeShapeType="1" noTextEdit="1"/>
              </p:cNvSpPr>
              <p:nvPr/>
            </p:nvSpPr>
            <p:spPr>
              <a:xfrm>
                <a:off x="1833125" y="1417408"/>
                <a:ext cx="5498878" cy="7862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119FC1D-6F7D-4B05-92BD-AC4C97D6E6B5}"/>
                  </a:ext>
                </a:extLst>
              </p:cNvPr>
              <p:cNvSpPr/>
              <p:nvPr/>
            </p:nvSpPr>
            <p:spPr>
              <a:xfrm>
                <a:off x="2951973" y="2308831"/>
                <a:ext cx="32400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ea typeface="Cambria Math"/>
                        </a:rPr>
                        <m:t>𝑝𝑉</m:t>
                      </m:r>
                      <m:r>
                        <a:rPr lang="en-US" sz="2400" i="1">
                          <a:latin typeface="Cambria Math"/>
                        </a:rPr>
                        <m:t>=</m:t>
                      </m:r>
                      <m:r>
                        <a:rPr lang="en-US" sz="2400" b="0" i="1" smtClean="0">
                          <a:latin typeface="Cambria Math"/>
                          <a:ea typeface="Cambria Math"/>
                        </a:rPr>
                        <m:t>𝑚𝑅𝑇</m:t>
                      </m:r>
                      <m:r>
                        <a:rPr lang="en-US" sz="2400" b="0" i="1" smtClean="0">
                          <a:latin typeface="Cambria Math"/>
                          <a:ea typeface="Cambria Math"/>
                        </a:rPr>
                        <m:t>⇒</m:t>
                      </m:r>
                      <m:r>
                        <a:rPr lang="en-US" sz="2400" i="1">
                          <a:latin typeface="Cambria Math"/>
                          <a:ea typeface="Cambria Math"/>
                        </a:rPr>
                        <m:t>𝑝𝑣</m:t>
                      </m:r>
                      <m:r>
                        <a:rPr lang="en-US" sz="2400" i="1">
                          <a:latin typeface="Cambria Math"/>
                        </a:rPr>
                        <m:t>=</m:t>
                      </m:r>
                      <m:r>
                        <a:rPr lang="en-US" sz="2400" i="1">
                          <a:latin typeface="Cambria Math"/>
                        </a:rPr>
                        <m:t>𝑅𝑇</m:t>
                      </m:r>
                    </m:oMath>
                  </m:oMathPara>
                </a14:m>
                <a:endParaRPr lang="en-US" sz="2400" dirty="0"/>
              </a:p>
            </p:txBody>
          </p:sp>
        </mc:Choice>
        <mc:Fallback xmlns="">
          <p:sp>
            <p:nvSpPr>
              <p:cNvPr id="8" name="Rectangle 7">
                <a:extLst>
                  <a:ext uri="{FF2B5EF4-FFF2-40B4-BE49-F238E27FC236}">
                    <a16:creationId xmlns:a16="http://schemas.microsoft.com/office/drawing/2014/main" id="{4119FC1D-6F7D-4B05-92BD-AC4C97D6E6B5}"/>
                  </a:ext>
                </a:extLst>
              </p:cNvPr>
              <p:cNvSpPr>
                <a:spLocks noRot="1" noChangeAspect="1" noMove="1" noResize="1" noEditPoints="1" noAdjustHandles="1" noChangeArrowheads="1" noChangeShapeType="1" noTextEdit="1"/>
              </p:cNvSpPr>
              <p:nvPr/>
            </p:nvSpPr>
            <p:spPr>
              <a:xfrm>
                <a:off x="2951973" y="2308831"/>
                <a:ext cx="3240054" cy="461665"/>
              </a:xfrm>
              <a:prstGeom prst="rect">
                <a:avLst/>
              </a:prstGeom>
              <a:blipFill>
                <a:blip r:embed="rId5"/>
                <a:stretch>
                  <a:fillRect b="-17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E82268D-9EEF-4E6F-8F3D-55CACAB6DAAE}"/>
                  </a:ext>
                </a:extLst>
              </p:cNvPr>
              <p:cNvSpPr txBox="1"/>
              <p:nvPr/>
            </p:nvSpPr>
            <p:spPr>
              <a:xfrm>
                <a:off x="226581" y="3597913"/>
                <a:ext cx="4583430" cy="2031325"/>
              </a:xfrm>
              <a:prstGeom prst="rect">
                <a:avLst/>
              </a:prstGeom>
              <a:noFill/>
            </p:spPr>
            <p:txBody>
              <a:bodyPr wrap="square">
                <a:spAutoFit/>
              </a:bodyPr>
              <a:lstStyle/>
              <a:p>
                <a:r>
                  <a:rPr lang="en-US" sz="1600" dirty="0"/>
                  <a:t> </a:t>
                </a:r>
                <a14:m>
                  <m:oMath xmlns:m="http://schemas.openxmlformats.org/officeDocument/2006/math">
                    <m:acc>
                      <m:accPr>
                        <m:chr m:val="̅"/>
                        <m:ctrlPr>
                          <a:rPr lang="en-US" sz="1600" i="1" smtClean="0">
                            <a:latin typeface="Cambria Math" panose="02040503050406030204" pitchFamily="18" charset="0"/>
                          </a:rPr>
                        </m:ctrlPr>
                      </m:accPr>
                      <m:e>
                        <m:r>
                          <a:rPr lang="en-US" sz="1600" b="0" i="1" smtClean="0">
                            <a:latin typeface="Cambria Math" panose="02040503050406030204" pitchFamily="18" charset="0"/>
                          </a:rPr>
                          <m:t>𝑅</m:t>
                        </m:r>
                      </m:e>
                    </m:acc>
                    <m:r>
                      <a:rPr lang="en-US" sz="1600" b="0" i="1" smtClean="0">
                        <a:latin typeface="Cambria Math" panose="02040503050406030204" pitchFamily="18" charset="0"/>
                      </a:rPr>
                      <m:t> </m:t>
                    </m:r>
                  </m:oMath>
                </a14:m>
                <a:r>
                  <a:rPr lang="en-US" sz="1800" dirty="0"/>
                  <a:t>Universal Gas Constant</a:t>
                </a:r>
              </a:p>
              <a:p>
                <a:r>
                  <a:rPr lang="en-US" sz="1800" dirty="0"/>
                  <a:t>        8.314 kJ/</a:t>
                </a:r>
                <a:r>
                  <a:rPr lang="en-US" sz="1800" dirty="0" err="1"/>
                  <a:t>kmol·K</a:t>
                </a:r>
                <a:endParaRPr lang="en-US" sz="1800" dirty="0"/>
              </a:p>
              <a:p>
                <a:r>
                  <a:rPr lang="en-US" sz="1800" dirty="0"/>
                  <a:t>        1.986 Btu/</a:t>
                </a:r>
                <a:r>
                  <a:rPr lang="en-US" sz="1800" dirty="0" err="1"/>
                  <a:t>lbmol·</a:t>
                </a:r>
                <a:r>
                  <a:rPr lang="en-US" sz="1800" baseline="30000" dirty="0" err="1"/>
                  <a:t>o</a:t>
                </a:r>
                <a:r>
                  <a:rPr lang="en-US" sz="1800" dirty="0" err="1"/>
                  <a:t>R</a:t>
                </a:r>
                <a:endParaRPr lang="en-US" sz="1800" dirty="0"/>
              </a:p>
              <a:p>
                <a:endParaRPr lang="en-US" dirty="0"/>
              </a:p>
              <a:p>
                <a:r>
                  <a:rPr lang="en-US" sz="1800" dirty="0"/>
                  <a:t>Working for ideal gas</a:t>
                </a:r>
              </a:p>
              <a:p>
                <a:r>
                  <a:rPr lang="en-US" sz="1800" dirty="0"/>
                  <a:t>Might not be so “ideal” for other gases</a:t>
                </a:r>
              </a:p>
              <a:p>
                <a:endParaRPr lang="en-US" dirty="0"/>
              </a:p>
            </p:txBody>
          </p:sp>
        </mc:Choice>
        <mc:Fallback xmlns="">
          <p:sp>
            <p:nvSpPr>
              <p:cNvPr id="10" name="TextBox 9">
                <a:extLst>
                  <a:ext uri="{FF2B5EF4-FFF2-40B4-BE49-F238E27FC236}">
                    <a16:creationId xmlns:a16="http://schemas.microsoft.com/office/drawing/2014/main" id="{2E82268D-9EEF-4E6F-8F3D-55CACAB6DAAE}"/>
                  </a:ext>
                </a:extLst>
              </p:cNvPr>
              <p:cNvSpPr txBox="1">
                <a:spLocks noRot="1" noChangeAspect="1" noMove="1" noResize="1" noEditPoints="1" noAdjustHandles="1" noChangeArrowheads="1" noChangeShapeType="1" noTextEdit="1"/>
              </p:cNvSpPr>
              <p:nvPr/>
            </p:nvSpPr>
            <p:spPr>
              <a:xfrm>
                <a:off x="226581" y="3597913"/>
                <a:ext cx="4583430" cy="2031325"/>
              </a:xfrm>
              <a:prstGeom prst="rect">
                <a:avLst/>
              </a:prstGeom>
              <a:blipFill>
                <a:blip r:embed="rId6"/>
                <a:stretch>
                  <a:fillRect l="-1064" t="-1502"/>
                </a:stretch>
              </a:blipFill>
            </p:spPr>
            <p:txBody>
              <a:bodyPr/>
              <a:lstStyle/>
              <a:p>
                <a:r>
                  <a:rPr lang="en-US">
                    <a:noFill/>
                  </a:rPr>
                  <a:t> </a:t>
                </a:r>
              </a:p>
            </p:txBody>
          </p:sp>
        </mc:Fallback>
      </mc:AlternateContent>
    </p:spTree>
    <p:extLst>
      <p:ext uri="{BB962C8B-B14F-4D97-AF65-F5344CB8AC3E}">
        <p14:creationId xmlns:p14="http://schemas.microsoft.com/office/powerpoint/2010/main" val="3831843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When do you use ideal gas?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830997"/>
          </a:xfrm>
          <a:prstGeom prst="rect">
            <a:avLst/>
          </a:prstGeom>
          <a:noFill/>
        </p:spPr>
        <p:txBody>
          <a:bodyPr wrap="square" rtlCol="0">
            <a:spAutoFit/>
          </a:bodyPr>
          <a:lstStyle/>
          <a:p>
            <a:pPr>
              <a:spcAft>
                <a:spcPts val="1800"/>
              </a:spcAft>
            </a:pPr>
            <a:r>
              <a:rPr lang="en-US" sz="2400" b="1" dirty="0"/>
              <a:t>Choose the region where you are most likely to find a substance behaving as an ideal gas.</a:t>
            </a:r>
            <a:endParaRPr lang="en-US" altLang="zh-CN" sz="2400" b="1" dirty="0"/>
          </a:p>
        </p:txBody>
      </p:sp>
      <p:pic>
        <p:nvPicPr>
          <p:cNvPr id="7" name="Picture 6">
            <a:extLst>
              <a:ext uri="{FF2B5EF4-FFF2-40B4-BE49-F238E27FC236}">
                <a16:creationId xmlns:a16="http://schemas.microsoft.com/office/drawing/2014/main" id="{C14DEDD9-7259-4857-8975-9532113521D3}"/>
              </a:ext>
            </a:extLst>
          </p:cNvPr>
          <p:cNvPicPr>
            <a:picLocks noChangeAspect="1"/>
          </p:cNvPicPr>
          <p:nvPr/>
        </p:nvPicPr>
        <p:blipFill>
          <a:blip r:embed="rId4"/>
          <a:stretch>
            <a:fillRect/>
          </a:stretch>
        </p:blipFill>
        <p:spPr>
          <a:xfrm>
            <a:off x="1854997" y="1636503"/>
            <a:ext cx="5469726" cy="4690235"/>
          </a:xfrm>
          <a:prstGeom prst="rect">
            <a:avLst/>
          </a:prstGeom>
        </p:spPr>
      </p:pic>
      <p:sp>
        <p:nvSpPr>
          <p:cNvPr id="8" name="Freeform 2">
            <a:extLst>
              <a:ext uri="{FF2B5EF4-FFF2-40B4-BE49-F238E27FC236}">
                <a16:creationId xmlns:a16="http://schemas.microsoft.com/office/drawing/2014/main" id="{CFCAC85E-5AA6-49CE-9428-6D620117A878}"/>
              </a:ext>
            </a:extLst>
          </p:cNvPr>
          <p:cNvSpPr/>
          <p:nvPr/>
        </p:nvSpPr>
        <p:spPr>
          <a:xfrm>
            <a:off x="3664532" y="4113998"/>
            <a:ext cx="1086908"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reeform 3">
            <a:extLst>
              <a:ext uri="{FF2B5EF4-FFF2-40B4-BE49-F238E27FC236}">
                <a16:creationId xmlns:a16="http://schemas.microsoft.com/office/drawing/2014/main" id="{1FD0B0DF-17A1-4671-9384-01864354D353}"/>
              </a:ext>
            </a:extLst>
          </p:cNvPr>
          <p:cNvSpPr/>
          <p:nvPr/>
        </p:nvSpPr>
        <p:spPr>
          <a:xfrm>
            <a:off x="2973176" y="4561674"/>
            <a:ext cx="808302"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D0448BE-CDDF-4003-A4E5-0483519D78B8}"/>
              </a:ext>
            </a:extLst>
          </p:cNvPr>
          <p:cNvSpPr txBox="1"/>
          <p:nvPr/>
        </p:nvSpPr>
        <p:spPr>
          <a:xfrm>
            <a:off x="3577498" y="2837543"/>
            <a:ext cx="367408" cy="369332"/>
          </a:xfrm>
          <a:prstGeom prst="rect">
            <a:avLst/>
          </a:prstGeom>
          <a:noFill/>
        </p:spPr>
        <p:txBody>
          <a:bodyPr wrap="none" rtlCol="0">
            <a:spAutoFit/>
          </a:bodyPr>
          <a:lstStyle/>
          <a:p>
            <a:r>
              <a:rPr lang="en-US" dirty="0">
                <a:solidFill>
                  <a:schemeClr val="accent4"/>
                </a:solidFill>
              </a:rPr>
              <a:t>B.</a:t>
            </a:r>
          </a:p>
        </p:txBody>
      </p:sp>
      <p:sp>
        <p:nvSpPr>
          <p:cNvPr id="11" name="TextBox 10">
            <a:extLst>
              <a:ext uri="{FF2B5EF4-FFF2-40B4-BE49-F238E27FC236}">
                <a16:creationId xmlns:a16="http://schemas.microsoft.com/office/drawing/2014/main" id="{881BE15D-2742-4D42-B8A4-73689A5EEE02}"/>
              </a:ext>
            </a:extLst>
          </p:cNvPr>
          <p:cNvSpPr txBox="1"/>
          <p:nvPr/>
        </p:nvSpPr>
        <p:spPr>
          <a:xfrm>
            <a:off x="5279699" y="4951682"/>
            <a:ext cx="365806" cy="369332"/>
          </a:xfrm>
          <a:prstGeom prst="rect">
            <a:avLst/>
          </a:prstGeom>
          <a:noFill/>
        </p:spPr>
        <p:txBody>
          <a:bodyPr wrap="none" rtlCol="0">
            <a:spAutoFit/>
          </a:bodyPr>
          <a:lstStyle/>
          <a:p>
            <a:r>
              <a:rPr lang="en-US" dirty="0"/>
              <a:t>C.</a:t>
            </a:r>
          </a:p>
        </p:txBody>
      </p:sp>
      <p:sp>
        <p:nvSpPr>
          <p:cNvPr id="12" name="TextBox 11">
            <a:extLst>
              <a:ext uri="{FF2B5EF4-FFF2-40B4-BE49-F238E27FC236}">
                <a16:creationId xmlns:a16="http://schemas.microsoft.com/office/drawing/2014/main" id="{C23E16C9-931D-4C1D-B3ED-49C071FBD6A8}"/>
              </a:ext>
            </a:extLst>
          </p:cNvPr>
          <p:cNvSpPr txBox="1"/>
          <p:nvPr/>
        </p:nvSpPr>
        <p:spPr>
          <a:xfrm>
            <a:off x="6004824" y="4113998"/>
            <a:ext cx="379656" cy="369332"/>
          </a:xfrm>
          <a:prstGeom prst="rect">
            <a:avLst/>
          </a:prstGeom>
          <a:noFill/>
        </p:spPr>
        <p:txBody>
          <a:bodyPr wrap="none" rtlCol="0">
            <a:spAutoFit/>
          </a:bodyPr>
          <a:lstStyle/>
          <a:p>
            <a:r>
              <a:rPr lang="en-US" dirty="0">
                <a:solidFill>
                  <a:srgbClr val="0E8914"/>
                </a:solidFill>
              </a:rPr>
              <a:t>D.</a:t>
            </a:r>
          </a:p>
        </p:txBody>
      </p:sp>
      <p:sp>
        <p:nvSpPr>
          <p:cNvPr id="13" name="TextBox 12">
            <a:extLst>
              <a:ext uri="{FF2B5EF4-FFF2-40B4-BE49-F238E27FC236}">
                <a16:creationId xmlns:a16="http://schemas.microsoft.com/office/drawing/2014/main" id="{28A706BA-896F-46D6-AFC6-1898CD4B022C}"/>
              </a:ext>
            </a:extLst>
          </p:cNvPr>
          <p:cNvSpPr txBox="1"/>
          <p:nvPr/>
        </p:nvSpPr>
        <p:spPr>
          <a:xfrm>
            <a:off x="2512268" y="2837543"/>
            <a:ext cx="376770" cy="369332"/>
          </a:xfrm>
          <a:prstGeom prst="rect">
            <a:avLst/>
          </a:prstGeom>
          <a:noFill/>
        </p:spPr>
        <p:txBody>
          <a:bodyPr wrap="none" rtlCol="0">
            <a:spAutoFit/>
          </a:bodyPr>
          <a:lstStyle/>
          <a:p>
            <a:r>
              <a:rPr lang="en-US">
                <a:solidFill>
                  <a:schemeClr val="accent6"/>
                </a:solidFill>
              </a:rPr>
              <a:t>A.</a:t>
            </a:r>
          </a:p>
        </p:txBody>
      </p:sp>
      <p:sp>
        <p:nvSpPr>
          <p:cNvPr id="16" name="Rounded Rectangle 10">
            <a:extLst>
              <a:ext uri="{FF2B5EF4-FFF2-40B4-BE49-F238E27FC236}">
                <a16:creationId xmlns:a16="http://schemas.microsoft.com/office/drawing/2014/main" id="{ED6C12B9-E2C7-40C6-86DE-9F12B4F05C07}"/>
              </a:ext>
            </a:extLst>
          </p:cNvPr>
          <p:cNvSpPr/>
          <p:nvPr/>
        </p:nvSpPr>
        <p:spPr>
          <a:xfrm>
            <a:off x="5030047" y="3698240"/>
            <a:ext cx="1382737" cy="982976"/>
          </a:xfrm>
          <a:prstGeom prst="roundRect">
            <a:avLst/>
          </a:prstGeom>
          <a:solidFill>
            <a:srgbClr val="0E8914">
              <a:alpha val="30000"/>
            </a:srgb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1">
            <a:extLst>
              <a:ext uri="{FF2B5EF4-FFF2-40B4-BE49-F238E27FC236}">
                <a16:creationId xmlns:a16="http://schemas.microsoft.com/office/drawing/2014/main" id="{C36CAA24-D9A4-4923-87B6-D6369B34EB6A}"/>
              </a:ext>
            </a:extLst>
          </p:cNvPr>
          <p:cNvSpPr/>
          <p:nvPr/>
        </p:nvSpPr>
        <p:spPr>
          <a:xfrm>
            <a:off x="5030047" y="4681216"/>
            <a:ext cx="1382737" cy="723904"/>
          </a:xfrm>
          <a:prstGeom prst="roundRect">
            <a:avLst/>
          </a:prstGeom>
          <a:solidFill>
            <a:schemeClr val="tx1">
              <a:lumMod val="50000"/>
              <a:lumOff val="50000"/>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2">
            <a:extLst>
              <a:ext uri="{FF2B5EF4-FFF2-40B4-BE49-F238E27FC236}">
                <a16:creationId xmlns:a16="http://schemas.microsoft.com/office/drawing/2014/main" id="{4F634D16-8F71-49DC-B722-DC94E64BA6E8}"/>
              </a:ext>
            </a:extLst>
          </p:cNvPr>
          <p:cNvSpPr/>
          <p:nvPr/>
        </p:nvSpPr>
        <p:spPr>
          <a:xfrm>
            <a:off x="3090109" y="2324761"/>
            <a:ext cx="1785845" cy="1119479"/>
          </a:xfrm>
          <a:prstGeom prst="roundRect">
            <a:avLst/>
          </a:prstGeom>
          <a:solidFill>
            <a:schemeClr val="accent4">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ounded Rectangle 13">
            <a:extLst>
              <a:ext uri="{FF2B5EF4-FFF2-40B4-BE49-F238E27FC236}">
                <a16:creationId xmlns:a16="http://schemas.microsoft.com/office/drawing/2014/main" id="{0BD23325-CAFB-4D37-8373-84C54245DFB8}"/>
              </a:ext>
            </a:extLst>
          </p:cNvPr>
          <p:cNvSpPr/>
          <p:nvPr/>
        </p:nvSpPr>
        <p:spPr>
          <a:xfrm>
            <a:off x="2484404" y="2414142"/>
            <a:ext cx="605705" cy="1842898"/>
          </a:xfrm>
          <a:prstGeom prst="roundRect">
            <a:avLst/>
          </a:prstGeom>
          <a:solidFill>
            <a:schemeClr val="accent6">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156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When do you use ideal gas?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830997"/>
          </a:xfrm>
          <a:prstGeom prst="rect">
            <a:avLst/>
          </a:prstGeom>
          <a:noFill/>
        </p:spPr>
        <p:txBody>
          <a:bodyPr wrap="square" rtlCol="0">
            <a:spAutoFit/>
          </a:bodyPr>
          <a:lstStyle/>
          <a:p>
            <a:pPr>
              <a:spcAft>
                <a:spcPts val="1800"/>
              </a:spcAft>
            </a:pPr>
            <a:r>
              <a:rPr lang="en-US" sz="2400" b="1" dirty="0"/>
              <a:t>Choose the region where you are most likely to find a substance behaving as an ideal gas.</a:t>
            </a:r>
            <a:endParaRPr lang="en-US" altLang="zh-CN" sz="2400" b="1" dirty="0"/>
          </a:p>
        </p:txBody>
      </p:sp>
      <p:pic>
        <p:nvPicPr>
          <p:cNvPr id="7" name="Picture 6">
            <a:extLst>
              <a:ext uri="{FF2B5EF4-FFF2-40B4-BE49-F238E27FC236}">
                <a16:creationId xmlns:a16="http://schemas.microsoft.com/office/drawing/2014/main" id="{C14DEDD9-7259-4857-8975-9532113521D3}"/>
              </a:ext>
            </a:extLst>
          </p:cNvPr>
          <p:cNvPicPr>
            <a:picLocks noChangeAspect="1"/>
          </p:cNvPicPr>
          <p:nvPr/>
        </p:nvPicPr>
        <p:blipFill>
          <a:blip r:embed="rId4"/>
          <a:stretch>
            <a:fillRect/>
          </a:stretch>
        </p:blipFill>
        <p:spPr>
          <a:xfrm>
            <a:off x="387385" y="1727312"/>
            <a:ext cx="5469726" cy="4690235"/>
          </a:xfrm>
          <a:prstGeom prst="rect">
            <a:avLst/>
          </a:prstGeom>
        </p:spPr>
      </p:pic>
      <p:sp>
        <p:nvSpPr>
          <p:cNvPr id="8" name="Freeform 2">
            <a:extLst>
              <a:ext uri="{FF2B5EF4-FFF2-40B4-BE49-F238E27FC236}">
                <a16:creationId xmlns:a16="http://schemas.microsoft.com/office/drawing/2014/main" id="{CFCAC85E-5AA6-49CE-9428-6D620117A878}"/>
              </a:ext>
            </a:extLst>
          </p:cNvPr>
          <p:cNvSpPr/>
          <p:nvPr/>
        </p:nvSpPr>
        <p:spPr>
          <a:xfrm>
            <a:off x="2196920" y="4204807"/>
            <a:ext cx="1086908"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reeform 3">
            <a:extLst>
              <a:ext uri="{FF2B5EF4-FFF2-40B4-BE49-F238E27FC236}">
                <a16:creationId xmlns:a16="http://schemas.microsoft.com/office/drawing/2014/main" id="{1FD0B0DF-17A1-4671-9384-01864354D353}"/>
              </a:ext>
            </a:extLst>
          </p:cNvPr>
          <p:cNvSpPr/>
          <p:nvPr/>
        </p:nvSpPr>
        <p:spPr>
          <a:xfrm>
            <a:off x="1505564" y="4652483"/>
            <a:ext cx="808302"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D0448BE-CDDF-4003-A4E5-0483519D78B8}"/>
              </a:ext>
            </a:extLst>
          </p:cNvPr>
          <p:cNvSpPr txBox="1"/>
          <p:nvPr/>
        </p:nvSpPr>
        <p:spPr>
          <a:xfrm>
            <a:off x="2109886" y="2928352"/>
            <a:ext cx="367408" cy="369332"/>
          </a:xfrm>
          <a:prstGeom prst="rect">
            <a:avLst/>
          </a:prstGeom>
          <a:noFill/>
        </p:spPr>
        <p:txBody>
          <a:bodyPr wrap="none" rtlCol="0">
            <a:spAutoFit/>
          </a:bodyPr>
          <a:lstStyle/>
          <a:p>
            <a:r>
              <a:rPr lang="en-US" dirty="0">
                <a:solidFill>
                  <a:schemeClr val="accent4"/>
                </a:solidFill>
              </a:rPr>
              <a:t>B.</a:t>
            </a:r>
          </a:p>
        </p:txBody>
      </p:sp>
      <p:sp>
        <p:nvSpPr>
          <p:cNvPr id="11" name="TextBox 10">
            <a:extLst>
              <a:ext uri="{FF2B5EF4-FFF2-40B4-BE49-F238E27FC236}">
                <a16:creationId xmlns:a16="http://schemas.microsoft.com/office/drawing/2014/main" id="{881BE15D-2742-4D42-B8A4-73689A5EEE02}"/>
              </a:ext>
            </a:extLst>
          </p:cNvPr>
          <p:cNvSpPr txBox="1"/>
          <p:nvPr/>
        </p:nvSpPr>
        <p:spPr>
          <a:xfrm>
            <a:off x="3812087" y="5042491"/>
            <a:ext cx="365806" cy="369332"/>
          </a:xfrm>
          <a:prstGeom prst="rect">
            <a:avLst/>
          </a:prstGeom>
          <a:noFill/>
        </p:spPr>
        <p:txBody>
          <a:bodyPr wrap="none" rtlCol="0">
            <a:spAutoFit/>
          </a:bodyPr>
          <a:lstStyle/>
          <a:p>
            <a:r>
              <a:rPr lang="en-US" dirty="0"/>
              <a:t>C.</a:t>
            </a:r>
          </a:p>
        </p:txBody>
      </p:sp>
      <p:sp>
        <p:nvSpPr>
          <p:cNvPr id="12" name="TextBox 11">
            <a:extLst>
              <a:ext uri="{FF2B5EF4-FFF2-40B4-BE49-F238E27FC236}">
                <a16:creationId xmlns:a16="http://schemas.microsoft.com/office/drawing/2014/main" id="{C23E16C9-931D-4C1D-B3ED-49C071FBD6A8}"/>
              </a:ext>
            </a:extLst>
          </p:cNvPr>
          <p:cNvSpPr txBox="1"/>
          <p:nvPr/>
        </p:nvSpPr>
        <p:spPr>
          <a:xfrm>
            <a:off x="4537212" y="4204807"/>
            <a:ext cx="379656" cy="369332"/>
          </a:xfrm>
          <a:prstGeom prst="rect">
            <a:avLst/>
          </a:prstGeom>
          <a:noFill/>
        </p:spPr>
        <p:txBody>
          <a:bodyPr wrap="none" rtlCol="0">
            <a:spAutoFit/>
          </a:bodyPr>
          <a:lstStyle/>
          <a:p>
            <a:r>
              <a:rPr lang="en-US" dirty="0">
                <a:solidFill>
                  <a:srgbClr val="0E8914"/>
                </a:solidFill>
              </a:rPr>
              <a:t>D.</a:t>
            </a:r>
          </a:p>
        </p:txBody>
      </p:sp>
      <p:sp>
        <p:nvSpPr>
          <p:cNvPr id="13" name="TextBox 12">
            <a:extLst>
              <a:ext uri="{FF2B5EF4-FFF2-40B4-BE49-F238E27FC236}">
                <a16:creationId xmlns:a16="http://schemas.microsoft.com/office/drawing/2014/main" id="{28A706BA-896F-46D6-AFC6-1898CD4B022C}"/>
              </a:ext>
            </a:extLst>
          </p:cNvPr>
          <p:cNvSpPr txBox="1"/>
          <p:nvPr/>
        </p:nvSpPr>
        <p:spPr>
          <a:xfrm>
            <a:off x="1044656" y="2928352"/>
            <a:ext cx="376770" cy="369332"/>
          </a:xfrm>
          <a:prstGeom prst="rect">
            <a:avLst/>
          </a:prstGeom>
          <a:noFill/>
        </p:spPr>
        <p:txBody>
          <a:bodyPr wrap="none" rtlCol="0">
            <a:spAutoFit/>
          </a:bodyPr>
          <a:lstStyle/>
          <a:p>
            <a:r>
              <a:rPr lang="en-US">
                <a:solidFill>
                  <a:schemeClr val="accent6"/>
                </a:solidFill>
              </a:rPr>
              <a:t>A.</a:t>
            </a:r>
          </a:p>
        </p:txBody>
      </p:sp>
      <p:sp>
        <p:nvSpPr>
          <p:cNvPr id="16" name="Rounded Rectangle 10">
            <a:extLst>
              <a:ext uri="{FF2B5EF4-FFF2-40B4-BE49-F238E27FC236}">
                <a16:creationId xmlns:a16="http://schemas.microsoft.com/office/drawing/2014/main" id="{ED6C12B9-E2C7-40C6-86DE-9F12B4F05C07}"/>
              </a:ext>
            </a:extLst>
          </p:cNvPr>
          <p:cNvSpPr/>
          <p:nvPr/>
        </p:nvSpPr>
        <p:spPr>
          <a:xfrm>
            <a:off x="3562435" y="3789049"/>
            <a:ext cx="1382737" cy="982976"/>
          </a:xfrm>
          <a:prstGeom prst="roundRect">
            <a:avLst/>
          </a:prstGeom>
          <a:solidFill>
            <a:srgbClr val="0E8914">
              <a:alpha val="30000"/>
            </a:srgb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1">
            <a:extLst>
              <a:ext uri="{FF2B5EF4-FFF2-40B4-BE49-F238E27FC236}">
                <a16:creationId xmlns:a16="http://schemas.microsoft.com/office/drawing/2014/main" id="{C36CAA24-D9A4-4923-87B6-D6369B34EB6A}"/>
              </a:ext>
            </a:extLst>
          </p:cNvPr>
          <p:cNvSpPr/>
          <p:nvPr/>
        </p:nvSpPr>
        <p:spPr>
          <a:xfrm>
            <a:off x="3562435" y="4772025"/>
            <a:ext cx="1382737" cy="723904"/>
          </a:xfrm>
          <a:prstGeom prst="roundRect">
            <a:avLst/>
          </a:prstGeom>
          <a:solidFill>
            <a:schemeClr val="tx1">
              <a:lumMod val="50000"/>
              <a:lumOff val="50000"/>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2">
            <a:extLst>
              <a:ext uri="{FF2B5EF4-FFF2-40B4-BE49-F238E27FC236}">
                <a16:creationId xmlns:a16="http://schemas.microsoft.com/office/drawing/2014/main" id="{4F634D16-8F71-49DC-B722-DC94E64BA6E8}"/>
              </a:ext>
            </a:extLst>
          </p:cNvPr>
          <p:cNvSpPr/>
          <p:nvPr/>
        </p:nvSpPr>
        <p:spPr>
          <a:xfrm>
            <a:off x="1622497" y="2415570"/>
            <a:ext cx="1785845" cy="1119479"/>
          </a:xfrm>
          <a:prstGeom prst="roundRect">
            <a:avLst/>
          </a:prstGeom>
          <a:solidFill>
            <a:schemeClr val="accent4">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ounded Rectangle 13">
            <a:extLst>
              <a:ext uri="{FF2B5EF4-FFF2-40B4-BE49-F238E27FC236}">
                <a16:creationId xmlns:a16="http://schemas.microsoft.com/office/drawing/2014/main" id="{0BD23325-CAFB-4D37-8373-84C54245DFB8}"/>
              </a:ext>
            </a:extLst>
          </p:cNvPr>
          <p:cNvSpPr/>
          <p:nvPr/>
        </p:nvSpPr>
        <p:spPr>
          <a:xfrm>
            <a:off x="1016792" y="2504951"/>
            <a:ext cx="605705" cy="1842898"/>
          </a:xfrm>
          <a:prstGeom prst="roundRect">
            <a:avLst/>
          </a:prstGeom>
          <a:solidFill>
            <a:schemeClr val="accent6">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196E749-7F52-45B7-892D-4B57A5EF4713}"/>
              </a:ext>
            </a:extLst>
          </p:cNvPr>
          <p:cNvSpPr/>
          <p:nvPr/>
        </p:nvSpPr>
        <p:spPr>
          <a:xfrm>
            <a:off x="4945172" y="1609634"/>
            <a:ext cx="3773654" cy="1200329"/>
          </a:xfrm>
          <a:prstGeom prst="rect">
            <a:avLst/>
          </a:prstGeom>
        </p:spPr>
        <p:txBody>
          <a:bodyPr wrap="square">
            <a:spAutoFit/>
          </a:bodyPr>
          <a:lstStyle/>
          <a:p>
            <a:r>
              <a:rPr lang="en-US" altLang="zh-CN" sz="2400" b="1" dirty="0">
                <a:solidFill>
                  <a:srgbClr val="FF0000"/>
                </a:solidFill>
              </a:rPr>
              <a:t>Usually, for </a:t>
            </a:r>
            <a:r>
              <a:rPr lang="en-US" altLang="zh-CN" sz="2400" b="1" i="1" dirty="0">
                <a:solidFill>
                  <a:srgbClr val="FF0000"/>
                </a:solidFill>
              </a:rPr>
              <a:t>p</a:t>
            </a:r>
            <a:r>
              <a:rPr lang="en-US" altLang="zh-CN" sz="2400" b="1" dirty="0">
                <a:solidFill>
                  <a:srgbClr val="FF0000"/>
                </a:solidFill>
              </a:rPr>
              <a:t> &lt; </a:t>
            </a:r>
            <a:r>
              <a:rPr lang="en-US" altLang="zh-CN" sz="2400" b="1" i="1" dirty="0">
                <a:solidFill>
                  <a:srgbClr val="FF0000"/>
                </a:solidFill>
              </a:rPr>
              <a:t>p</a:t>
            </a:r>
            <a:r>
              <a:rPr lang="en-US" altLang="zh-CN" sz="2400" b="1" i="1" baseline="-25000" dirty="0">
                <a:solidFill>
                  <a:srgbClr val="FF0000"/>
                </a:solidFill>
              </a:rPr>
              <a:t>c</a:t>
            </a:r>
            <a:r>
              <a:rPr lang="en-US" altLang="zh-CN" sz="2400" b="1" dirty="0">
                <a:solidFill>
                  <a:srgbClr val="FF0000"/>
                </a:solidFill>
              </a:rPr>
              <a:t> and </a:t>
            </a:r>
            <a:r>
              <a:rPr lang="en-US" altLang="zh-CN" sz="2400" b="1" i="1" dirty="0">
                <a:solidFill>
                  <a:srgbClr val="FF0000"/>
                </a:solidFill>
              </a:rPr>
              <a:t>T</a:t>
            </a:r>
            <a:r>
              <a:rPr lang="en-US" altLang="zh-CN" sz="2400" b="1" dirty="0">
                <a:solidFill>
                  <a:srgbClr val="FF0000"/>
                </a:solidFill>
              </a:rPr>
              <a:t> &gt; </a:t>
            </a:r>
            <a:r>
              <a:rPr lang="en-US" altLang="zh-CN" sz="2400" b="1" i="1" dirty="0">
                <a:solidFill>
                  <a:srgbClr val="FF0000"/>
                </a:solidFill>
              </a:rPr>
              <a:t>T</a:t>
            </a:r>
            <a:r>
              <a:rPr lang="en-US" altLang="zh-CN" sz="2400" b="1" i="1" baseline="-25000" dirty="0">
                <a:solidFill>
                  <a:srgbClr val="FF0000"/>
                </a:solidFill>
              </a:rPr>
              <a:t>c</a:t>
            </a:r>
            <a:r>
              <a:rPr lang="en-US" altLang="zh-CN" sz="2400" b="1" dirty="0">
                <a:solidFill>
                  <a:srgbClr val="FF0000"/>
                </a:solidFill>
              </a:rPr>
              <a:t>, ideal gas assumption is reasonable.</a:t>
            </a:r>
            <a:endParaRPr lang="en-US" sz="2400" b="1" baseline="-25000" dirty="0">
              <a:solidFill>
                <a:srgbClr val="FF0000"/>
              </a:solidFill>
            </a:endParaRPr>
          </a:p>
        </p:txBody>
      </p:sp>
      <p:cxnSp>
        <p:nvCxnSpPr>
          <p:cNvPr id="4" name="Straight Connector 3">
            <a:extLst>
              <a:ext uri="{FF2B5EF4-FFF2-40B4-BE49-F238E27FC236}">
                <a16:creationId xmlns:a16="http://schemas.microsoft.com/office/drawing/2014/main" id="{B01E1D0D-F25E-4FB9-8F43-A8E2AC7FA68E}"/>
              </a:ext>
            </a:extLst>
          </p:cNvPr>
          <p:cNvCxnSpPr/>
          <p:nvPr/>
        </p:nvCxnSpPr>
        <p:spPr>
          <a:xfrm>
            <a:off x="187452" y="3585341"/>
            <a:ext cx="5198364"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00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Equations of States (EOS)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latin typeface="+mj-lt"/>
              </a:rPr>
              <a:t>Best Feature of Ideal Gas Model</a:t>
            </a:r>
            <a:endParaRPr lang="en-US" altLang="zh-CN" sz="2400" b="1" dirty="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1FD3B54-4804-4F92-B131-9E24D36A0817}"/>
                  </a:ext>
                </a:extLst>
              </p:cNvPr>
              <p:cNvSpPr/>
              <p:nvPr/>
            </p:nvSpPr>
            <p:spPr>
              <a:xfrm>
                <a:off x="3826473" y="1437604"/>
                <a:ext cx="13860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𝑝𝑣</m:t>
                      </m:r>
                      <m:r>
                        <a:rPr lang="en-US" sz="2400" i="1">
                          <a:latin typeface="Cambria Math"/>
                        </a:rPr>
                        <m:t>=</m:t>
                      </m:r>
                      <m:r>
                        <a:rPr lang="en-US" sz="2400" i="1">
                          <a:latin typeface="Cambria Math"/>
                        </a:rPr>
                        <m:t>𝑅𝑇</m:t>
                      </m:r>
                    </m:oMath>
                  </m:oMathPara>
                </a14:m>
                <a:endParaRPr lang="en-US" sz="2400" dirty="0"/>
              </a:p>
            </p:txBody>
          </p:sp>
        </mc:Choice>
        <mc:Fallback xmlns="">
          <p:sp>
            <p:nvSpPr>
              <p:cNvPr id="7" name="Rectangle 6">
                <a:extLst>
                  <a:ext uri="{FF2B5EF4-FFF2-40B4-BE49-F238E27FC236}">
                    <a16:creationId xmlns:a16="http://schemas.microsoft.com/office/drawing/2014/main" id="{01FD3B54-4804-4F92-B131-9E24D36A0817}"/>
                  </a:ext>
                </a:extLst>
              </p:cNvPr>
              <p:cNvSpPr>
                <a:spLocks noRot="1" noChangeAspect="1" noMove="1" noResize="1" noEditPoints="1" noAdjustHandles="1" noChangeArrowheads="1" noChangeShapeType="1" noTextEdit="1"/>
              </p:cNvSpPr>
              <p:nvPr/>
            </p:nvSpPr>
            <p:spPr>
              <a:xfrm>
                <a:off x="3826473" y="1437604"/>
                <a:ext cx="1386084"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38EE77-4C8B-4E0C-81CF-570466A09188}"/>
                  </a:ext>
                </a:extLst>
              </p:cNvPr>
              <p:cNvSpPr txBox="1"/>
              <p:nvPr/>
            </p:nvSpPr>
            <p:spPr>
              <a:xfrm>
                <a:off x="178972" y="4526994"/>
                <a:ext cx="8681086" cy="1754326"/>
              </a:xfrm>
              <a:prstGeom prst="rect">
                <a:avLst/>
              </a:prstGeom>
              <a:noFill/>
            </p:spPr>
            <p:txBody>
              <a:bodyPr wrap="square">
                <a:spAutoFit/>
              </a:bodyPr>
              <a:lstStyle/>
              <a:p>
                <a:pPr>
                  <a:spcAft>
                    <a:spcPts val="1800"/>
                  </a:spcAft>
                </a:pPr>
                <a:r>
                  <a:rPr lang="en-US" sz="1800" dirty="0"/>
                  <a:t>For any gas whose equation of state is given exactly by </a:t>
                </a:r>
                <a14:m>
                  <m:oMath xmlns:m="http://schemas.openxmlformats.org/officeDocument/2006/math">
                    <m:r>
                      <a:rPr lang="en-US" sz="1800" i="1">
                        <a:latin typeface="Cambria Math"/>
                        <a:ea typeface="Cambria Math"/>
                      </a:rPr>
                      <m:t>𝑝𝑣</m:t>
                    </m:r>
                    <m:r>
                      <a:rPr lang="en-US" sz="1800" i="1">
                        <a:latin typeface="Cambria Math"/>
                      </a:rPr>
                      <m:t>=</m:t>
                    </m:r>
                    <m:r>
                      <a:rPr lang="en-US" sz="1800" i="1">
                        <a:latin typeface="Cambria Math"/>
                      </a:rPr>
                      <m:t>𝑅𝑇</m:t>
                    </m:r>
                  </m:oMath>
                </a14:m>
                <a:r>
                  <a:rPr lang="en-US" sz="1800" dirty="0"/>
                  <a:t>, the specific internal energy depends on temperature only. This is supported by experimental observations, beginning with the work of Joule, who showed in 1843 that the internal energy of air at low density (large specific volume) depends primarily on temperature. Further motivation from the microscopic viewpoint. The specific enthalpy of a gas also depends on temperature only. Taken together, these specifications constitute the </a:t>
                </a:r>
                <a:r>
                  <a:rPr lang="en-US" sz="1800" b="1" dirty="0"/>
                  <a:t>ideal gas model</a:t>
                </a:r>
                <a:r>
                  <a:rPr lang="en-US" sz="1800" dirty="0"/>
                  <a:t>.</a:t>
                </a:r>
                <a:endParaRPr lang="en-US" altLang="zh-CN" sz="1600" dirty="0">
                  <a:latin typeface="+mj-lt"/>
                </a:endParaRPr>
              </a:p>
            </p:txBody>
          </p:sp>
        </mc:Choice>
        <mc:Fallback xmlns="">
          <p:sp>
            <p:nvSpPr>
              <p:cNvPr id="9" name="TextBox 8">
                <a:extLst>
                  <a:ext uri="{FF2B5EF4-FFF2-40B4-BE49-F238E27FC236}">
                    <a16:creationId xmlns:a16="http://schemas.microsoft.com/office/drawing/2014/main" id="{2D38EE77-4C8B-4E0C-81CF-570466A09188}"/>
                  </a:ext>
                </a:extLst>
              </p:cNvPr>
              <p:cNvSpPr txBox="1">
                <a:spLocks noRot="1" noChangeAspect="1" noMove="1" noResize="1" noEditPoints="1" noAdjustHandles="1" noChangeArrowheads="1" noChangeShapeType="1" noTextEdit="1"/>
              </p:cNvSpPr>
              <p:nvPr/>
            </p:nvSpPr>
            <p:spPr>
              <a:xfrm>
                <a:off x="178972" y="4526994"/>
                <a:ext cx="8681086" cy="1754326"/>
              </a:xfrm>
              <a:prstGeom prst="rect">
                <a:avLst/>
              </a:prstGeom>
              <a:blipFill>
                <a:blip r:embed="rId5"/>
                <a:stretch>
                  <a:fillRect l="-562" t="-2091" r="-1194"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3D03F6D-4633-4B12-94B4-A96264944DD6}"/>
                  </a:ext>
                </a:extLst>
              </p:cNvPr>
              <p:cNvSpPr txBox="1"/>
              <p:nvPr/>
            </p:nvSpPr>
            <p:spPr>
              <a:xfrm>
                <a:off x="3877832" y="2466148"/>
                <a:ext cx="128336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𝑢</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𝑢</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𝑇</m:t>
                      </m:r>
                      <m:r>
                        <a:rPr lang="en-US" sz="2400" b="0" i="1" smtClean="0">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C3D03F6D-4633-4B12-94B4-A96264944DD6}"/>
                  </a:ext>
                </a:extLst>
              </p:cNvPr>
              <p:cNvSpPr txBox="1">
                <a:spLocks noRot="1" noChangeAspect="1" noMove="1" noResize="1" noEditPoints="1" noAdjustHandles="1" noChangeArrowheads="1" noChangeShapeType="1" noTextEdit="1"/>
              </p:cNvSpPr>
              <p:nvPr/>
            </p:nvSpPr>
            <p:spPr>
              <a:xfrm>
                <a:off x="3877832" y="2466148"/>
                <a:ext cx="1283365" cy="369332"/>
              </a:xfrm>
              <a:prstGeom prst="rect">
                <a:avLst/>
              </a:prstGeom>
              <a:blipFill>
                <a:blip r:embed="rId6"/>
                <a:stretch>
                  <a:fillRect l="-2370" r="-8057"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24584B-50CA-4E63-A9C4-198A013AF524}"/>
                  </a:ext>
                </a:extLst>
              </p:cNvPr>
              <p:cNvSpPr txBox="1"/>
              <p:nvPr/>
            </p:nvSpPr>
            <p:spPr>
              <a:xfrm>
                <a:off x="2584925" y="3311905"/>
                <a:ext cx="43456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h</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𝑇</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𝑢</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𝑇</m:t>
                          </m:r>
                        </m:e>
                      </m:d>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𝑅𝑇</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𝑢</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𝑝𝑣</m:t>
                      </m:r>
                    </m:oMath>
                  </m:oMathPara>
                </a14:m>
                <a:endParaRPr lang="en-US" sz="2400" dirty="0">
                  <a:solidFill>
                    <a:srgbClr val="FF0000"/>
                  </a:solidFill>
                </a:endParaRPr>
              </a:p>
            </p:txBody>
          </p:sp>
        </mc:Choice>
        <mc:Fallback xmlns="">
          <p:sp>
            <p:nvSpPr>
              <p:cNvPr id="8" name="TextBox 7">
                <a:extLst>
                  <a:ext uri="{FF2B5EF4-FFF2-40B4-BE49-F238E27FC236}">
                    <a16:creationId xmlns:a16="http://schemas.microsoft.com/office/drawing/2014/main" id="{3D24584B-50CA-4E63-A9C4-198A013AF524}"/>
                  </a:ext>
                </a:extLst>
              </p:cNvPr>
              <p:cNvSpPr txBox="1">
                <a:spLocks noRot="1" noChangeAspect="1" noMove="1" noResize="1" noEditPoints="1" noAdjustHandles="1" noChangeArrowheads="1" noChangeShapeType="1" noTextEdit="1"/>
              </p:cNvSpPr>
              <p:nvPr/>
            </p:nvSpPr>
            <p:spPr>
              <a:xfrm>
                <a:off x="2584925" y="3311905"/>
                <a:ext cx="4345613" cy="369332"/>
              </a:xfrm>
              <a:prstGeom prst="rect">
                <a:avLst/>
              </a:prstGeom>
              <a:blipFill>
                <a:blip r:embed="rId7"/>
                <a:stretch>
                  <a:fillRect l="-1262" r="-982" b="-24590"/>
                </a:stretch>
              </a:blipFill>
            </p:spPr>
            <p:txBody>
              <a:bodyPr/>
              <a:lstStyle/>
              <a:p>
                <a:r>
                  <a:rPr lang="en-US">
                    <a:noFill/>
                  </a:rPr>
                  <a:t> </a:t>
                </a:r>
              </a:p>
            </p:txBody>
          </p:sp>
        </mc:Fallback>
      </mc:AlternateContent>
    </p:spTree>
    <p:extLst>
      <p:ext uri="{BB962C8B-B14F-4D97-AF65-F5344CB8AC3E}">
        <p14:creationId xmlns:p14="http://schemas.microsoft.com/office/powerpoint/2010/main" val="204904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5340"/>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2.5 MPa. </a:t>
            </a:r>
          </a:p>
        </p:txBody>
      </p:sp>
      <p:sp>
        <p:nvSpPr>
          <p:cNvPr id="4" name="TextBox 3">
            <a:extLst>
              <a:ext uri="{FF2B5EF4-FFF2-40B4-BE49-F238E27FC236}">
                <a16:creationId xmlns:a16="http://schemas.microsoft.com/office/drawing/2014/main" id="{8B190137-2CD7-4B6D-8BC9-F3D00382B698}"/>
              </a:ext>
            </a:extLst>
          </p:cNvPr>
          <p:cNvSpPr txBox="1"/>
          <p:nvPr/>
        </p:nvSpPr>
        <p:spPr>
          <a:xfrm>
            <a:off x="498956" y="3128335"/>
            <a:ext cx="2061655" cy="461665"/>
          </a:xfrm>
          <a:prstGeom prst="rect">
            <a:avLst/>
          </a:prstGeom>
          <a:noFill/>
        </p:spPr>
        <p:txBody>
          <a:bodyPr wrap="none" rtlCol="0">
            <a:spAutoFit/>
          </a:bodyPr>
          <a:lstStyle/>
          <a:p>
            <a:r>
              <a:rPr lang="en-US" sz="2400" dirty="0"/>
              <a:t>From Table A-4</a:t>
            </a:r>
          </a:p>
        </p:txBody>
      </p:sp>
    </p:spTree>
    <p:extLst>
      <p:ext uri="{BB962C8B-B14F-4D97-AF65-F5344CB8AC3E}">
        <p14:creationId xmlns:p14="http://schemas.microsoft.com/office/powerpoint/2010/main" val="118679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Ideal Gas Model</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7" name="Picture 2">
            <a:extLst>
              <a:ext uri="{FF2B5EF4-FFF2-40B4-BE49-F238E27FC236}">
                <a16:creationId xmlns:a16="http://schemas.microsoft.com/office/drawing/2014/main" id="{1F761C21-AAA8-46F3-9D51-E724DB3ED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929" y="1305925"/>
            <a:ext cx="8639175" cy="516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Group 7">
            <a:extLst>
              <a:ext uri="{FF2B5EF4-FFF2-40B4-BE49-F238E27FC236}">
                <a16:creationId xmlns:a16="http://schemas.microsoft.com/office/drawing/2014/main" id="{438D8C3B-0E83-4B02-B07F-6761EA3923B2}"/>
              </a:ext>
            </a:extLst>
          </p:cNvPr>
          <p:cNvGrpSpPr/>
          <p:nvPr/>
        </p:nvGrpSpPr>
        <p:grpSpPr>
          <a:xfrm>
            <a:off x="1495368" y="632036"/>
            <a:ext cx="6153264" cy="463237"/>
            <a:chOff x="2886345" y="929561"/>
            <a:chExt cx="6153264" cy="463237"/>
          </a:xfrm>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1087B08-5C0D-4E43-A98C-B89C5A69E778}"/>
                    </a:ext>
                  </a:extLst>
                </p:cNvPr>
                <p:cNvSpPr/>
                <p:nvPr/>
              </p:nvSpPr>
              <p:spPr>
                <a:xfrm>
                  <a:off x="2886345" y="929561"/>
                  <a:ext cx="14670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rPr>
                          <m:t>𝑢</m:t>
                        </m:r>
                        <m:r>
                          <a:rPr lang="en-US" sz="2400" i="1">
                            <a:solidFill>
                              <a:srgbClr val="FF0000"/>
                            </a:solidFill>
                            <a:latin typeface="Cambria Math"/>
                          </a:rPr>
                          <m:t>=</m:t>
                        </m:r>
                        <m:r>
                          <a:rPr lang="en-US" sz="2400" b="0" i="1" smtClean="0">
                            <a:solidFill>
                              <a:srgbClr val="FF0000"/>
                            </a:solidFill>
                            <a:latin typeface="Cambria Math"/>
                          </a:rPr>
                          <m:t>𝑢</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a:rPr>
                              <m:t>𝑇</m:t>
                            </m:r>
                          </m:e>
                        </m:d>
                      </m:oMath>
                    </m:oMathPara>
                  </a14:m>
                  <a:endParaRPr lang="en-US" sz="24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2886345" y="929561"/>
                  <a:ext cx="1467004" cy="461665"/>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E7B2905-FCF2-4F98-9F9B-8D6F0BDFC68B}"/>
                    </a:ext>
                  </a:extLst>
                </p:cNvPr>
                <p:cNvSpPr/>
                <p:nvPr/>
              </p:nvSpPr>
              <p:spPr>
                <a:xfrm>
                  <a:off x="4509330" y="931133"/>
                  <a:ext cx="453027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rPr>
                          <m:t>h</m:t>
                        </m:r>
                        <m:r>
                          <a:rPr lang="en-US" sz="2400" i="1">
                            <a:solidFill>
                              <a:srgbClr val="FF0000"/>
                            </a:solidFill>
                            <a:latin typeface="Cambria Math"/>
                          </a:rPr>
                          <m:t>=</m:t>
                        </m:r>
                        <m:r>
                          <a:rPr lang="en-US" sz="2400" b="0" i="1" smtClean="0">
                            <a:solidFill>
                              <a:srgbClr val="FF0000"/>
                            </a:solidFill>
                            <a:latin typeface="Cambria Math"/>
                          </a:rPr>
                          <m:t>h</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a:rPr>
                              <m:t>𝑇</m:t>
                            </m:r>
                          </m:e>
                        </m:d>
                        <m:r>
                          <a:rPr lang="en-US" sz="2400" i="1">
                            <a:solidFill>
                              <a:srgbClr val="FF0000"/>
                            </a:solidFill>
                            <a:latin typeface="Cambria Math"/>
                          </a:rPr>
                          <m:t>=</m:t>
                        </m:r>
                        <m:r>
                          <a:rPr lang="en-US" sz="2400" i="1">
                            <a:solidFill>
                              <a:srgbClr val="FF0000"/>
                            </a:solidFill>
                            <a:latin typeface="Cambria Math"/>
                          </a:rPr>
                          <m:t>𝑢</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a:rPr>
                              <m:t>𝑇</m:t>
                            </m:r>
                          </m:e>
                        </m:d>
                        <m:r>
                          <a:rPr lang="en-US" sz="2400" b="0" i="1" smtClean="0">
                            <a:solidFill>
                              <a:srgbClr val="FF0000"/>
                            </a:solidFill>
                            <a:latin typeface="Cambria Math"/>
                          </a:rPr>
                          <m:t>+</m:t>
                        </m:r>
                        <m:r>
                          <a:rPr lang="en-US" sz="2400" b="0" i="1" smtClean="0">
                            <a:solidFill>
                              <a:srgbClr val="FF0000"/>
                            </a:solidFill>
                            <a:latin typeface="Cambria Math"/>
                          </a:rPr>
                          <m:t>𝑅𝑇</m:t>
                        </m:r>
                        <m:r>
                          <a:rPr lang="en-US" sz="2400" b="0" i="1" smtClean="0">
                            <a:solidFill>
                              <a:srgbClr val="FF0000"/>
                            </a:solidFill>
                            <a:latin typeface="Cambria Math"/>
                          </a:rPr>
                          <m:t>=</m:t>
                        </m:r>
                        <m:r>
                          <a:rPr lang="en-US" sz="2400" b="0" i="1" smtClean="0">
                            <a:solidFill>
                              <a:srgbClr val="FF0000"/>
                            </a:solidFill>
                            <a:latin typeface="Cambria Math"/>
                          </a:rPr>
                          <m:t>𝑢</m:t>
                        </m:r>
                        <m:r>
                          <a:rPr lang="en-US" sz="2400" b="0" i="1" smtClean="0">
                            <a:solidFill>
                              <a:srgbClr val="FF0000"/>
                            </a:solidFill>
                            <a:latin typeface="Cambria Math"/>
                          </a:rPr>
                          <m:t>+</m:t>
                        </m:r>
                        <m:r>
                          <a:rPr lang="en-US" sz="2400" b="0" i="1" smtClean="0">
                            <a:solidFill>
                              <a:srgbClr val="FF0000"/>
                            </a:solidFill>
                            <a:latin typeface="Cambria Math"/>
                          </a:rPr>
                          <m:t>𝑝𝑣</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4509330" y="931133"/>
                  <a:ext cx="4530279" cy="461665"/>
                </a:xfrm>
                <a:prstGeom prst="rect">
                  <a:avLst/>
                </a:prstGeom>
                <a:blipFill rotWithShape="1">
                  <a:blip r:embed="rId6"/>
                  <a:stretch>
                    <a:fillRect b="-10667"/>
                  </a:stretch>
                </a:blipFill>
              </p:spPr>
              <p:txBody>
                <a:bodyPr/>
                <a:lstStyle/>
                <a:p>
                  <a:r>
                    <a:rPr lang="en-US">
                      <a:noFill/>
                    </a:rPr>
                    <a:t> </a:t>
                  </a:r>
                </a:p>
              </p:txBody>
            </p:sp>
          </mc:Fallback>
        </mc:AlternateContent>
      </p:grpSp>
      <p:sp>
        <p:nvSpPr>
          <p:cNvPr id="2" name="Oval 1">
            <a:extLst>
              <a:ext uri="{FF2B5EF4-FFF2-40B4-BE49-F238E27FC236}">
                <a16:creationId xmlns:a16="http://schemas.microsoft.com/office/drawing/2014/main" id="{2858B8FA-E343-4D3E-BE3E-150D78B11EC2}"/>
              </a:ext>
            </a:extLst>
          </p:cNvPr>
          <p:cNvSpPr/>
          <p:nvPr/>
        </p:nvSpPr>
        <p:spPr>
          <a:xfrm>
            <a:off x="1810512" y="5550408"/>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89FE725-D324-4E53-B051-2F4EDBE5ADA6}"/>
              </a:ext>
            </a:extLst>
          </p:cNvPr>
          <p:cNvSpPr/>
          <p:nvPr/>
        </p:nvSpPr>
        <p:spPr>
          <a:xfrm>
            <a:off x="6242304" y="5550408"/>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49CF9FA-06E3-4E34-9CEB-D295A6C12472}"/>
              </a:ext>
            </a:extLst>
          </p:cNvPr>
          <p:cNvSpPr/>
          <p:nvPr/>
        </p:nvSpPr>
        <p:spPr>
          <a:xfrm>
            <a:off x="2606040" y="5550408"/>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2352798-8939-4D6D-A0C4-0E09370B5D43}"/>
              </a:ext>
            </a:extLst>
          </p:cNvPr>
          <p:cNvSpPr/>
          <p:nvPr/>
        </p:nvSpPr>
        <p:spPr>
          <a:xfrm>
            <a:off x="7037832" y="5572968"/>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798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20 MPa. </a:t>
            </a:r>
          </a:p>
        </p:txBody>
      </p:sp>
      <p:sp>
        <p:nvSpPr>
          <p:cNvPr id="2" name="TextBox 1">
            <a:extLst>
              <a:ext uri="{FF2B5EF4-FFF2-40B4-BE49-F238E27FC236}">
                <a16:creationId xmlns:a16="http://schemas.microsoft.com/office/drawing/2014/main" id="{2817A3CC-5C5D-45CA-8086-93BF62059FC0}"/>
              </a:ext>
            </a:extLst>
          </p:cNvPr>
          <p:cNvSpPr txBox="1"/>
          <p:nvPr/>
        </p:nvSpPr>
        <p:spPr>
          <a:xfrm>
            <a:off x="370332" y="1303020"/>
            <a:ext cx="1811778" cy="400110"/>
          </a:xfrm>
          <a:prstGeom prst="rect">
            <a:avLst/>
          </a:prstGeom>
          <a:noFill/>
        </p:spPr>
        <p:txBody>
          <a:bodyPr wrap="none" rtlCol="0">
            <a:spAutoFit/>
          </a:bodyPr>
          <a:lstStyle/>
          <a:p>
            <a:r>
              <a:rPr lang="en-US" sz="2000" dirty="0"/>
              <a:t>Ideal gas model</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2CB1A9-0593-4724-B173-E48C577A0759}"/>
                  </a:ext>
                </a:extLst>
              </p:cNvPr>
              <p:cNvSpPr txBox="1"/>
              <p:nvPr/>
            </p:nvSpPr>
            <p:spPr>
              <a:xfrm>
                <a:off x="1229868" y="5146862"/>
                <a:ext cx="2279150" cy="6943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=0.009946</m:t>
                      </m:r>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3</m:t>
                                  </m:r>
                                </m:sup>
                              </m:sSup>
                            </m:num>
                            <m:den>
                              <m:r>
                                <a:rPr lang="en-US" sz="2000" i="1">
                                  <a:latin typeface="Cambria Math" panose="02040503050406030204" pitchFamily="18" charset="0"/>
                                </a:rPr>
                                <m:t>𝑘𝑔</m:t>
                              </m:r>
                            </m:den>
                          </m:f>
                        </m:e>
                      </m:d>
                    </m:oMath>
                  </m:oMathPara>
                </a14:m>
                <a:endParaRPr lang="en-US" sz="2000" dirty="0"/>
              </a:p>
            </p:txBody>
          </p:sp>
        </mc:Choice>
        <mc:Fallback xmlns="">
          <p:sp>
            <p:nvSpPr>
              <p:cNvPr id="10" name="TextBox 9">
                <a:extLst>
                  <a:ext uri="{FF2B5EF4-FFF2-40B4-BE49-F238E27FC236}">
                    <a16:creationId xmlns:a16="http://schemas.microsoft.com/office/drawing/2014/main" id="{602CB1A9-0593-4724-B173-E48C577A0759}"/>
                  </a:ext>
                </a:extLst>
              </p:cNvPr>
              <p:cNvSpPr txBox="1">
                <a:spLocks noRot="1" noChangeAspect="1" noMove="1" noResize="1" noEditPoints="1" noAdjustHandles="1" noChangeArrowheads="1" noChangeShapeType="1" noTextEdit="1"/>
              </p:cNvSpPr>
              <p:nvPr/>
            </p:nvSpPr>
            <p:spPr>
              <a:xfrm>
                <a:off x="1229868" y="5146862"/>
                <a:ext cx="2279150" cy="694357"/>
              </a:xfrm>
              <a:prstGeom prst="rect">
                <a:avLst/>
              </a:prstGeom>
              <a:blipFill>
                <a:blip r:embed="rId7"/>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CFD09A3-30A0-4D80-9BF8-725E303C4806}"/>
              </a:ext>
            </a:extLst>
          </p:cNvPr>
          <p:cNvSpPr txBox="1"/>
          <p:nvPr/>
        </p:nvSpPr>
        <p:spPr>
          <a:xfrm>
            <a:off x="434340" y="4580749"/>
            <a:ext cx="1150443" cy="400110"/>
          </a:xfrm>
          <a:prstGeom prst="rect">
            <a:avLst/>
          </a:prstGeom>
          <a:noFill/>
        </p:spPr>
        <p:txBody>
          <a:bodyPr wrap="none" rtlCol="0">
            <a:spAutoFit/>
          </a:bodyPr>
          <a:lstStyle/>
          <a:p>
            <a:r>
              <a:rPr lang="en-US" sz="2000" dirty="0"/>
              <a:t>Table A-4</a:t>
            </a:r>
          </a:p>
        </p:txBody>
      </p:sp>
      <p:cxnSp>
        <p:nvCxnSpPr>
          <p:cNvPr id="11" name="Straight Connector 10">
            <a:extLst>
              <a:ext uri="{FF2B5EF4-FFF2-40B4-BE49-F238E27FC236}">
                <a16:creationId xmlns:a16="http://schemas.microsoft.com/office/drawing/2014/main" id="{F907AD5E-2F82-4E0C-A17E-D5DFB8B2C0D8}"/>
              </a:ext>
            </a:extLst>
          </p:cNvPr>
          <p:cNvCxnSpPr/>
          <p:nvPr/>
        </p:nvCxnSpPr>
        <p:spPr>
          <a:xfrm>
            <a:off x="160020" y="4358830"/>
            <a:ext cx="87188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45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20 MPa. </a:t>
            </a:r>
          </a:p>
        </p:txBody>
      </p:sp>
      <p:grpSp>
        <p:nvGrpSpPr>
          <p:cNvPr id="16" name="Group 15">
            <a:extLst>
              <a:ext uri="{FF2B5EF4-FFF2-40B4-BE49-F238E27FC236}">
                <a16:creationId xmlns:a16="http://schemas.microsoft.com/office/drawing/2014/main" id="{599F61E4-AAC5-4DB2-814C-943330D9017B}"/>
              </a:ext>
            </a:extLst>
          </p:cNvPr>
          <p:cNvGrpSpPr/>
          <p:nvPr/>
        </p:nvGrpSpPr>
        <p:grpSpPr>
          <a:xfrm>
            <a:off x="432715" y="1739052"/>
            <a:ext cx="8176361" cy="4730327"/>
            <a:chOff x="4181755" y="1802747"/>
            <a:chExt cx="5495925" cy="2808194"/>
          </a:xfrm>
        </p:grpSpPr>
        <p:pic>
          <p:nvPicPr>
            <p:cNvPr id="17" name="Picture 5">
              <a:extLst>
                <a:ext uri="{FF2B5EF4-FFF2-40B4-BE49-F238E27FC236}">
                  <a16:creationId xmlns:a16="http://schemas.microsoft.com/office/drawing/2014/main" id="{1F3B78B0-A875-4F3B-BE10-2A8A5F838D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1755" y="1802747"/>
              <a:ext cx="5495925"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6">
              <a:extLst>
                <a:ext uri="{FF2B5EF4-FFF2-40B4-BE49-F238E27FC236}">
                  <a16:creationId xmlns:a16="http://schemas.microsoft.com/office/drawing/2014/main" id="{ECED7AD7-5725-4EC1-B28C-C02BCE74C1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0526" y="2220166"/>
              <a:ext cx="5476875"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4C4A3A-4822-48C0-A43C-A7AF34BD52EB}"/>
                  </a:ext>
                </a:extLst>
              </p:cNvPr>
              <p:cNvSpPr txBox="1"/>
              <p:nvPr/>
            </p:nvSpPr>
            <p:spPr>
              <a:xfrm>
                <a:off x="2225158" y="1271320"/>
                <a:ext cx="107010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𝑢</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𝑇</m:t>
                      </m:r>
                      <m:r>
                        <a:rPr lang="en-US" sz="2000" b="0" i="1" smtClean="0">
                          <a:solidFill>
                            <a:srgbClr val="FF0000"/>
                          </a:solidFill>
                          <a:latin typeface="Cambria Math" panose="02040503050406030204" pitchFamily="18" charset="0"/>
                          <a:ea typeface="Cambria Math" panose="02040503050406030204" pitchFamily="18" charset="0"/>
                        </a:rPr>
                        <m:t>)</m:t>
                      </m:r>
                    </m:oMath>
                  </m:oMathPara>
                </a14:m>
                <a:endParaRPr lang="en-US" sz="2000" dirty="0">
                  <a:solidFill>
                    <a:srgbClr val="FF0000"/>
                  </a:solidFill>
                </a:endParaRPr>
              </a:p>
            </p:txBody>
          </p:sp>
        </mc:Choice>
        <mc:Fallback xmlns="">
          <p:sp>
            <p:nvSpPr>
              <p:cNvPr id="9" name="TextBox 8">
                <a:extLst>
                  <a:ext uri="{FF2B5EF4-FFF2-40B4-BE49-F238E27FC236}">
                    <a16:creationId xmlns:a16="http://schemas.microsoft.com/office/drawing/2014/main" id="{984C4A3A-4822-48C0-A43C-A7AF34BD52EB}"/>
                  </a:ext>
                </a:extLst>
              </p:cNvPr>
              <p:cNvSpPr txBox="1">
                <a:spLocks noRot="1" noChangeAspect="1" noMove="1" noResize="1" noEditPoints="1" noAdjustHandles="1" noChangeArrowheads="1" noChangeShapeType="1" noTextEdit="1"/>
              </p:cNvSpPr>
              <p:nvPr/>
            </p:nvSpPr>
            <p:spPr>
              <a:xfrm>
                <a:off x="2225158" y="1271320"/>
                <a:ext cx="1070101" cy="307777"/>
              </a:xfrm>
              <a:prstGeom prst="rect">
                <a:avLst/>
              </a:prstGeom>
              <a:blipFill>
                <a:blip r:embed="rId6"/>
                <a:stretch>
                  <a:fillRect l="-2273" t="-4000" r="-7955"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D910BED-CBD7-48FB-AAE5-8ACD2FFEB053}"/>
                  </a:ext>
                </a:extLst>
              </p:cNvPr>
              <p:cNvSpPr txBox="1"/>
              <p:nvPr/>
            </p:nvSpPr>
            <p:spPr>
              <a:xfrm>
                <a:off x="4316086" y="1281258"/>
                <a:ext cx="105766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panose="02040503050406030204" pitchFamily="18" charset="0"/>
                          <a:ea typeface="Cambria Math" panose="02040503050406030204" pitchFamily="18" charset="0"/>
                        </a:rPr>
                        <m:t>h</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𝑓</m:t>
                      </m:r>
                      <m:r>
                        <a:rPr lang="en-US" sz="2000" b="0" i="1" smtClean="0">
                          <a:solidFill>
                            <a:srgbClr val="FF0000"/>
                          </a:solidFill>
                          <a:latin typeface="Cambria Math" panose="02040503050406030204" pitchFamily="18" charset="0"/>
                          <a:ea typeface="Cambria Math" panose="02040503050406030204" pitchFamily="18" charset="0"/>
                        </a:rPr>
                        <m:t>(</m:t>
                      </m:r>
                      <m:r>
                        <a:rPr lang="en-US" sz="2000" b="0" i="1" smtClean="0">
                          <a:solidFill>
                            <a:srgbClr val="FF0000"/>
                          </a:solidFill>
                          <a:latin typeface="Cambria Math" panose="02040503050406030204" pitchFamily="18" charset="0"/>
                          <a:ea typeface="Cambria Math" panose="02040503050406030204" pitchFamily="18" charset="0"/>
                        </a:rPr>
                        <m:t>𝑇</m:t>
                      </m:r>
                      <m:r>
                        <a:rPr lang="en-US" sz="2000" b="0" i="1" smtClean="0">
                          <a:solidFill>
                            <a:srgbClr val="FF0000"/>
                          </a:solidFill>
                          <a:latin typeface="Cambria Math" panose="02040503050406030204" pitchFamily="18" charset="0"/>
                          <a:ea typeface="Cambria Math" panose="02040503050406030204" pitchFamily="18" charset="0"/>
                        </a:rPr>
                        <m:t>)</m:t>
                      </m:r>
                    </m:oMath>
                  </m:oMathPara>
                </a14:m>
                <a:endParaRPr lang="en-US" sz="2000" dirty="0">
                  <a:solidFill>
                    <a:srgbClr val="FF0000"/>
                  </a:solidFill>
                </a:endParaRPr>
              </a:p>
            </p:txBody>
          </p:sp>
        </mc:Choice>
        <mc:Fallback xmlns="">
          <p:sp>
            <p:nvSpPr>
              <p:cNvPr id="19" name="TextBox 18">
                <a:extLst>
                  <a:ext uri="{FF2B5EF4-FFF2-40B4-BE49-F238E27FC236}">
                    <a16:creationId xmlns:a16="http://schemas.microsoft.com/office/drawing/2014/main" id="{FD910BED-CBD7-48FB-AAE5-8ACD2FFEB053}"/>
                  </a:ext>
                </a:extLst>
              </p:cNvPr>
              <p:cNvSpPr txBox="1">
                <a:spLocks noRot="1" noChangeAspect="1" noMove="1" noResize="1" noEditPoints="1" noAdjustHandles="1" noChangeArrowheads="1" noChangeShapeType="1" noTextEdit="1"/>
              </p:cNvSpPr>
              <p:nvPr/>
            </p:nvSpPr>
            <p:spPr>
              <a:xfrm>
                <a:off x="4316086" y="1281258"/>
                <a:ext cx="1057662" cy="307777"/>
              </a:xfrm>
              <a:prstGeom prst="rect">
                <a:avLst/>
              </a:prstGeom>
              <a:blipFill>
                <a:blip r:embed="rId7"/>
                <a:stretch>
                  <a:fillRect l="-5747" t="-1961" r="-8046" b="-33333"/>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16552307-B1CB-4E98-85B2-C8D6B4DB8A45}"/>
              </a:ext>
            </a:extLst>
          </p:cNvPr>
          <p:cNvSpPr/>
          <p:nvPr/>
        </p:nvSpPr>
        <p:spPr>
          <a:xfrm>
            <a:off x="1815422" y="3255760"/>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96D16B6-6695-4EF9-972D-17A449576488}"/>
              </a:ext>
            </a:extLst>
          </p:cNvPr>
          <p:cNvSpPr/>
          <p:nvPr/>
        </p:nvSpPr>
        <p:spPr>
          <a:xfrm>
            <a:off x="6135288" y="3223260"/>
            <a:ext cx="795528" cy="4114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057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Critical Properties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6" name="Picture 2">
            <a:extLst>
              <a:ext uri="{FF2B5EF4-FFF2-40B4-BE49-F238E27FC236}">
                <a16:creationId xmlns:a16="http://schemas.microsoft.com/office/drawing/2014/main" id="{E6DD47EE-3E4F-4DB4-95D6-DA66856E0F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037" y="540639"/>
            <a:ext cx="5495925" cy="640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6796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20 MPa. </a:t>
            </a:r>
          </a:p>
        </p:txBody>
      </p:sp>
      <p:pic>
        <p:nvPicPr>
          <p:cNvPr id="6" name="Picture 5">
            <a:extLst>
              <a:ext uri="{FF2B5EF4-FFF2-40B4-BE49-F238E27FC236}">
                <a16:creationId xmlns:a16="http://schemas.microsoft.com/office/drawing/2014/main" id="{33D7A573-43DB-4883-A563-E39FB88DA81A}"/>
              </a:ext>
            </a:extLst>
          </p:cNvPr>
          <p:cNvPicPr>
            <a:picLocks noChangeAspect="1"/>
          </p:cNvPicPr>
          <p:nvPr/>
        </p:nvPicPr>
        <p:blipFill>
          <a:blip r:embed="rId4"/>
          <a:stretch>
            <a:fillRect/>
          </a:stretch>
        </p:blipFill>
        <p:spPr>
          <a:xfrm>
            <a:off x="0" y="1508127"/>
            <a:ext cx="5469726" cy="4690235"/>
          </a:xfrm>
          <a:prstGeom prst="rect">
            <a:avLst/>
          </a:prstGeom>
        </p:spPr>
      </p:pic>
      <p:sp>
        <p:nvSpPr>
          <p:cNvPr id="7" name="Freeform 5">
            <a:extLst>
              <a:ext uri="{FF2B5EF4-FFF2-40B4-BE49-F238E27FC236}">
                <a16:creationId xmlns:a16="http://schemas.microsoft.com/office/drawing/2014/main" id="{11830D8F-936B-4A35-9DF6-4D0664F399F9}"/>
              </a:ext>
            </a:extLst>
          </p:cNvPr>
          <p:cNvSpPr/>
          <p:nvPr/>
        </p:nvSpPr>
        <p:spPr>
          <a:xfrm>
            <a:off x="1809535" y="3985622"/>
            <a:ext cx="1086908"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Freeform 6">
            <a:extLst>
              <a:ext uri="{FF2B5EF4-FFF2-40B4-BE49-F238E27FC236}">
                <a16:creationId xmlns:a16="http://schemas.microsoft.com/office/drawing/2014/main" id="{BCC4B903-708F-42C2-B549-D1A49B48F85D}"/>
              </a:ext>
            </a:extLst>
          </p:cNvPr>
          <p:cNvSpPr/>
          <p:nvPr/>
        </p:nvSpPr>
        <p:spPr>
          <a:xfrm>
            <a:off x="1118179" y="4433298"/>
            <a:ext cx="808302"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9CA1F6D-5134-4CB6-B078-D69B8E2BA1AA}"/>
              </a:ext>
            </a:extLst>
          </p:cNvPr>
          <p:cNvSpPr txBox="1"/>
          <p:nvPr/>
        </p:nvSpPr>
        <p:spPr>
          <a:xfrm>
            <a:off x="1722501" y="2709167"/>
            <a:ext cx="367408" cy="369332"/>
          </a:xfrm>
          <a:prstGeom prst="rect">
            <a:avLst/>
          </a:prstGeom>
          <a:noFill/>
        </p:spPr>
        <p:txBody>
          <a:bodyPr wrap="none" rtlCol="0">
            <a:spAutoFit/>
          </a:bodyPr>
          <a:lstStyle/>
          <a:p>
            <a:r>
              <a:rPr lang="en-US" dirty="0">
                <a:solidFill>
                  <a:schemeClr val="accent4"/>
                </a:solidFill>
              </a:rPr>
              <a:t>B.</a:t>
            </a:r>
          </a:p>
        </p:txBody>
      </p:sp>
      <p:sp>
        <p:nvSpPr>
          <p:cNvPr id="10" name="TextBox 9">
            <a:extLst>
              <a:ext uri="{FF2B5EF4-FFF2-40B4-BE49-F238E27FC236}">
                <a16:creationId xmlns:a16="http://schemas.microsoft.com/office/drawing/2014/main" id="{36D9E844-24EB-42D7-871F-9AD81AF77C89}"/>
              </a:ext>
            </a:extLst>
          </p:cNvPr>
          <p:cNvSpPr txBox="1"/>
          <p:nvPr/>
        </p:nvSpPr>
        <p:spPr>
          <a:xfrm>
            <a:off x="3424702" y="4823306"/>
            <a:ext cx="365806" cy="369332"/>
          </a:xfrm>
          <a:prstGeom prst="rect">
            <a:avLst/>
          </a:prstGeom>
          <a:noFill/>
        </p:spPr>
        <p:txBody>
          <a:bodyPr wrap="none" rtlCol="0">
            <a:spAutoFit/>
          </a:bodyPr>
          <a:lstStyle/>
          <a:p>
            <a:r>
              <a:rPr lang="en-US" dirty="0"/>
              <a:t>C.</a:t>
            </a:r>
          </a:p>
        </p:txBody>
      </p:sp>
      <p:sp>
        <p:nvSpPr>
          <p:cNvPr id="11" name="TextBox 10">
            <a:extLst>
              <a:ext uri="{FF2B5EF4-FFF2-40B4-BE49-F238E27FC236}">
                <a16:creationId xmlns:a16="http://schemas.microsoft.com/office/drawing/2014/main" id="{06026495-4033-4B09-8C8C-DF5A6B5828A9}"/>
              </a:ext>
            </a:extLst>
          </p:cNvPr>
          <p:cNvSpPr txBox="1"/>
          <p:nvPr/>
        </p:nvSpPr>
        <p:spPr>
          <a:xfrm>
            <a:off x="4149827" y="3985622"/>
            <a:ext cx="379656" cy="369332"/>
          </a:xfrm>
          <a:prstGeom prst="rect">
            <a:avLst/>
          </a:prstGeom>
          <a:noFill/>
        </p:spPr>
        <p:txBody>
          <a:bodyPr wrap="none" rtlCol="0">
            <a:spAutoFit/>
          </a:bodyPr>
          <a:lstStyle/>
          <a:p>
            <a:r>
              <a:rPr lang="en-US" dirty="0">
                <a:solidFill>
                  <a:srgbClr val="0E8914"/>
                </a:solidFill>
              </a:rPr>
              <a:t>D.</a:t>
            </a:r>
          </a:p>
        </p:txBody>
      </p:sp>
      <p:sp>
        <p:nvSpPr>
          <p:cNvPr id="12" name="TextBox 11">
            <a:extLst>
              <a:ext uri="{FF2B5EF4-FFF2-40B4-BE49-F238E27FC236}">
                <a16:creationId xmlns:a16="http://schemas.microsoft.com/office/drawing/2014/main" id="{9A2AF0DA-0F0E-4A8D-9572-A2147B78DB9E}"/>
              </a:ext>
            </a:extLst>
          </p:cNvPr>
          <p:cNvSpPr txBox="1"/>
          <p:nvPr/>
        </p:nvSpPr>
        <p:spPr>
          <a:xfrm>
            <a:off x="657271" y="2709167"/>
            <a:ext cx="376770" cy="369332"/>
          </a:xfrm>
          <a:prstGeom prst="rect">
            <a:avLst/>
          </a:prstGeom>
          <a:noFill/>
        </p:spPr>
        <p:txBody>
          <a:bodyPr wrap="none" rtlCol="0">
            <a:spAutoFit/>
          </a:bodyPr>
          <a:lstStyle/>
          <a:p>
            <a:r>
              <a:rPr lang="en-US">
                <a:solidFill>
                  <a:schemeClr val="accent6"/>
                </a:solidFill>
              </a:rPr>
              <a:t>A.</a:t>
            </a:r>
          </a:p>
        </p:txBody>
      </p:sp>
      <p:sp>
        <p:nvSpPr>
          <p:cNvPr id="13" name="Rounded Rectangle 12">
            <a:extLst>
              <a:ext uri="{FF2B5EF4-FFF2-40B4-BE49-F238E27FC236}">
                <a16:creationId xmlns:a16="http://schemas.microsoft.com/office/drawing/2014/main" id="{E707B61D-7CE2-44CF-9F39-CDAB9F303474}"/>
              </a:ext>
            </a:extLst>
          </p:cNvPr>
          <p:cNvSpPr/>
          <p:nvPr/>
        </p:nvSpPr>
        <p:spPr>
          <a:xfrm>
            <a:off x="3175050" y="3569864"/>
            <a:ext cx="1382737" cy="982976"/>
          </a:xfrm>
          <a:prstGeom prst="roundRect">
            <a:avLst/>
          </a:prstGeom>
          <a:solidFill>
            <a:srgbClr val="0E8914">
              <a:alpha val="30000"/>
            </a:srgb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3">
            <a:extLst>
              <a:ext uri="{FF2B5EF4-FFF2-40B4-BE49-F238E27FC236}">
                <a16:creationId xmlns:a16="http://schemas.microsoft.com/office/drawing/2014/main" id="{B4756F4E-1E3E-4DFA-95E8-1BC50A5B30A9}"/>
              </a:ext>
            </a:extLst>
          </p:cNvPr>
          <p:cNvSpPr/>
          <p:nvPr/>
        </p:nvSpPr>
        <p:spPr>
          <a:xfrm>
            <a:off x="3175050" y="4552840"/>
            <a:ext cx="1382737" cy="723904"/>
          </a:xfrm>
          <a:prstGeom prst="roundRect">
            <a:avLst/>
          </a:prstGeom>
          <a:solidFill>
            <a:schemeClr val="tx1">
              <a:lumMod val="50000"/>
              <a:lumOff val="50000"/>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4">
            <a:extLst>
              <a:ext uri="{FF2B5EF4-FFF2-40B4-BE49-F238E27FC236}">
                <a16:creationId xmlns:a16="http://schemas.microsoft.com/office/drawing/2014/main" id="{8B70CABF-D158-421E-844D-5288245D34EA}"/>
              </a:ext>
            </a:extLst>
          </p:cNvPr>
          <p:cNvSpPr/>
          <p:nvPr/>
        </p:nvSpPr>
        <p:spPr>
          <a:xfrm>
            <a:off x="1235112" y="2196385"/>
            <a:ext cx="1785845" cy="1119479"/>
          </a:xfrm>
          <a:prstGeom prst="roundRect">
            <a:avLst/>
          </a:prstGeom>
          <a:solidFill>
            <a:schemeClr val="accent4">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5">
            <a:extLst>
              <a:ext uri="{FF2B5EF4-FFF2-40B4-BE49-F238E27FC236}">
                <a16:creationId xmlns:a16="http://schemas.microsoft.com/office/drawing/2014/main" id="{3CFBEC1C-04EB-4921-B57D-2E31694B6070}"/>
              </a:ext>
            </a:extLst>
          </p:cNvPr>
          <p:cNvSpPr/>
          <p:nvPr/>
        </p:nvSpPr>
        <p:spPr>
          <a:xfrm>
            <a:off x="629407" y="2285766"/>
            <a:ext cx="605705" cy="1842898"/>
          </a:xfrm>
          <a:prstGeom prst="roundRect">
            <a:avLst/>
          </a:prstGeom>
          <a:solidFill>
            <a:schemeClr val="accent6">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323C923-E2A1-495E-8823-82E79D4EF967}"/>
              </a:ext>
            </a:extLst>
          </p:cNvPr>
          <p:cNvSpPr/>
          <p:nvPr/>
        </p:nvSpPr>
        <p:spPr>
          <a:xfrm>
            <a:off x="5993234" y="2059096"/>
            <a:ext cx="3124609" cy="1200329"/>
          </a:xfrm>
          <a:prstGeom prst="rect">
            <a:avLst/>
          </a:prstGeom>
        </p:spPr>
        <p:txBody>
          <a:bodyPr wrap="square">
            <a:spAutoFit/>
          </a:bodyPr>
          <a:lstStyle/>
          <a:p>
            <a:r>
              <a:rPr lang="en-US" altLang="zh-CN" sz="2400" b="1" dirty="0">
                <a:solidFill>
                  <a:srgbClr val="FF0000"/>
                </a:solidFill>
              </a:rPr>
              <a:t>Usually, for </a:t>
            </a:r>
            <a:r>
              <a:rPr lang="en-US" altLang="zh-CN" sz="2400" b="1" i="1" dirty="0">
                <a:solidFill>
                  <a:srgbClr val="FF0000"/>
                </a:solidFill>
              </a:rPr>
              <a:t>p</a:t>
            </a:r>
            <a:r>
              <a:rPr lang="en-US" altLang="zh-CN" sz="2400" b="1" dirty="0">
                <a:solidFill>
                  <a:srgbClr val="FF0000"/>
                </a:solidFill>
              </a:rPr>
              <a:t> &lt; </a:t>
            </a:r>
            <a:r>
              <a:rPr lang="en-US" altLang="zh-CN" sz="2400" b="1" i="1" dirty="0">
                <a:solidFill>
                  <a:srgbClr val="FF0000"/>
                </a:solidFill>
              </a:rPr>
              <a:t>p</a:t>
            </a:r>
            <a:r>
              <a:rPr lang="en-US" altLang="zh-CN" sz="2400" b="1" i="1" baseline="-25000" dirty="0">
                <a:solidFill>
                  <a:srgbClr val="FF0000"/>
                </a:solidFill>
              </a:rPr>
              <a:t>c</a:t>
            </a:r>
            <a:r>
              <a:rPr lang="en-US" altLang="zh-CN" sz="2400" b="1" dirty="0">
                <a:solidFill>
                  <a:srgbClr val="FF0000"/>
                </a:solidFill>
              </a:rPr>
              <a:t> and </a:t>
            </a:r>
            <a:r>
              <a:rPr lang="en-US" altLang="zh-CN" sz="2400" b="1" i="1" dirty="0">
                <a:solidFill>
                  <a:srgbClr val="FF0000"/>
                </a:solidFill>
              </a:rPr>
              <a:t>T</a:t>
            </a:r>
            <a:r>
              <a:rPr lang="en-US" altLang="zh-CN" sz="2400" b="1" dirty="0">
                <a:solidFill>
                  <a:srgbClr val="FF0000"/>
                </a:solidFill>
              </a:rPr>
              <a:t> &gt; </a:t>
            </a:r>
            <a:r>
              <a:rPr lang="en-US" altLang="zh-CN" sz="2400" b="1" i="1" dirty="0">
                <a:solidFill>
                  <a:srgbClr val="FF0000"/>
                </a:solidFill>
              </a:rPr>
              <a:t>T</a:t>
            </a:r>
            <a:r>
              <a:rPr lang="en-US" altLang="zh-CN" sz="2400" b="1" i="1" baseline="-25000" dirty="0">
                <a:solidFill>
                  <a:srgbClr val="FF0000"/>
                </a:solidFill>
              </a:rPr>
              <a:t>c</a:t>
            </a:r>
            <a:r>
              <a:rPr lang="en-US" altLang="zh-CN" sz="2400" b="1" dirty="0">
                <a:solidFill>
                  <a:srgbClr val="FF0000"/>
                </a:solidFill>
              </a:rPr>
              <a:t>, ideal gas is reasonable.</a:t>
            </a:r>
            <a:endParaRPr lang="en-US" sz="2400" b="1" baseline="-25000" dirty="0">
              <a:solidFill>
                <a:srgbClr val="FF0000"/>
              </a:solidFill>
            </a:endParaRPr>
          </a:p>
        </p:txBody>
      </p:sp>
      <p:sp>
        <p:nvSpPr>
          <p:cNvPr id="20" name="Rectangle 19">
            <a:extLst>
              <a:ext uri="{FF2B5EF4-FFF2-40B4-BE49-F238E27FC236}">
                <a16:creationId xmlns:a16="http://schemas.microsoft.com/office/drawing/2014/main" id="{74AFDD2D-9604-44D9-8727-5D7D98E944F2}"/>
              </a:ext>
            </a:extLst>
          </p:cNvPr>
          <p:cNvSpPr/>
          <p:nvPr/>
        </p:nvSpPr>
        <p:spPr>
          <a:xfrm>
            <a:off x="6032511" y="3663224"/>
            <a:ext cx="3124609" cy="1200329"/>
          </a:xfrm>
          <a:prstGeom prst="rect">
            <a:avLst/>
          </a:prstGeom>
        </p:spPr>
        <p:txBody>
          <a:bodyPr wrap="square">
            <a:spAutoFit/>
          </a:bodyPr>
          <a:lstStyle/>
          <a:p>
            <a:r>
              <a:rPr lang="en-US" altLang="zh-CN" sz="2400" b="1" dirty="0">
                <a:solidFill>
                  <a:srgbClr val="FF0000"/>
                </a:solidFill>
              </a:rPr>
              <a:t>For water, </a:t>
            </a:r>
          </a:p>
          <a:p>
            <a:r>
              <a:rPr lang="en-US" altLang="zh-CN" sz="2400" b="1" i="1" dirty="0">
                <a:solidFill>
                  <a:srgbClr val="FF0000"/>
                </a:solidFill>
              </a:rPr>
              <a:t>p</a:t>
            </a:r>
            <a:r>
              <a:rPr lang="en-US" altLang="zh-CN" sz="2400" b="1" i="1" baseline="-25000" dirty="0">
                <a:solidFill>
                  <a:srgbClr val="FF0000"/>
                </a:solidFill>
              </a:rPr>
              <a:t>c</a:t>
            </a:r>
            <a:r>
              <a:rPr lang="en-US" altLang="zh-CN" sz="2400" b="1" dirty="0">
                <a:solidFill>
                  <a:srgbClr val="FF0000"/>
                </a:solidFill>
              </a:rPr>
              <a:t> = 22.06 MPa</a:t>
            </a:r>
          </a:p>
          <a:p>
            <a:r>
              <a:rPr lang="en-US" altLang="zh-CN" sz="2400" b="1" i="1" dirty="0">
                <a:solidFill>
                  <a:srgbClr val="FF0000"/>
                </a:solidFill>
              </a:rPr>
              <a:t>T</a:t>
            </a:r>
            <a:r>
              <a:rPr lang="en-US" altLang="zh-CN" sz="2400" b="1" i="1" baseline="-25000" dirty="0">
                <a:solidFill>
                  <a:srgbClr val="FF0000"/>
                </a:solidFill>
              </a:rPr>
              <a:t>c</a:t>
            </a:r>
            <a:r>
              <a:rPr lang="en-US" altLang="zh-CN" sz="2400" b="1" dirty="0">
                <a:solidFill>
                  <a:srgbClr val="FF0000"/>
                </a:solidFill>
              </a:rPr>
              <a:t> = 647.1 K</a:t>
            </a:r>
            <a:endParaRPr lang="en-US" sz="2400" b="1" baseline="-25000" dirty="0">
              <a:solidFill>
                <a:srgbClr val="FF0000"/>
              </a:solidFill>
            </a:endParaRPr>
          </a:p>
        </p:txBody>
      </p:sp>
      <p:sp>
        <p:nvSpPr>
          <p:cNvPr id="2" name="TextBox 1">
            <a:extLst>
              <a:ext uri="{FF2B5EF4-FFF2-40B4-BE49-F238E27FC236}">
                <a16:creationId xmlns:a16="http://schemas.microsoft.com/office/drawing/2014/main" id="{FD9A66D5-BB48-4F4A-8887-27D0CE2159A6}"/>
              </a:ext>
            </a:extLst>
          </p:cNvPr>
          <p:cNvSpPr txBox="1"/>
          <p:nvPr/>
        </p:nvSpPr>
        <p:spPr>
          <a:xfrm>
            <a:off x="7255764" y="1055636"/>
            <a:ext cx="1058175" cy="369332"/>
          </a:xfrm>
          <a:prstGeom prst="rect">
            <a:avLst/>
          </a:prstGeom>
          <a:noFill/>
        </p:spPr>
        <p:txBody>
          <a:bodyPr wrap="none" rtlCol="0">
            <a:spAutoFit/>
          </a:bodyPr>
          <a:lstStyle/>
          <a:p>
            <a:r>
              <a:rPr lang="en-US" dirty="0"/>
              <a:t>2.5 </a:t>
            </a:r>
            <a:r>
              <a:rPr lang="en-US" dirty="0" err="1"/>
              <a:t>Mpa</a:t>
            </a:r>
            <a:r>
              <a:rPr lang="en-US" dirty="0"/>
              <a:t>?</a:t>
            </a:r>
          </a:p>
        </p:txBody>
      </p:sp>
      <p:sp>
        <p:nvSpPr>
          <p:cNvPr id="4" name="Arrow: Down 3">
            <a:extLst>
              <a:ext uri="{FF2B5EF4-FFF2-40B4-BE49-F238E27FC236}">
                <a16:creationId xmlns:a16="http://schemas.microsoft.com/office/drawing/2014/main" id="{7C7718B7-3F9E-4CFC-87F8-36AF361CDCEB}"/>
              </a:ext>
            </a:extLst>
          </p:cNvPr>
          <p:cNvSpPr/>
          <p:nvPr/>
        </p:nvSpPr>
        <p:spPr>
          <a:xfrm>
            <a:off x="2679192" y="2756124"/>
            <a:ext cx="217251" cy="7323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CF417A7F-51C1-4AED-85C1-FA465EB65181}"/>
              </a:ext>
            </a:extLst>
          </p:cNvPr>
          <p:cNvSpPr/>
          <p:nvPr/>
        </p:nvSpPr>
        <p:spPr>
          <a:xfrm>
            <a:off x="4012897" y="3438711"/>
            <a:ext cx="217251" cy="7323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925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fade">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Equations of States (EOS)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Compressibility Factor</a:t>
            </a:r>
          </a:p>
        </p:txBody>
      </p:sp>
      <p:grpSp>
        <p:nvGrpSpPr>
          <p:cNvPr id="6" name="Group 5">
            <a:extLst>
              <a:ext uri="{FF2B5EF4-FFF2-40B4-BE49-F238E27FC236}">
                <a16:creationId xmlns:a16="http://schemas.microsoft.com/office/drawing/2014/main" id="{88C6CA45-089A-4321-B917-BAF75925C706}"/>
              </a:ext>
            </a:extLst>
          </p:cNvPr>
          <p:cNvGrpSpPr/>
          <p:nvPr/>
        </p:nvGrpSpPr>
        <p:grpSpPr>
          <a:xfrm>
            <a:off x="603738" y="1438289"/>
            <a:ext cx="4239560" cy="723083"/>
            <a:chOff x="2825159" y="1392569"/>
            <a:chExt cx="4239560" cy="72308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93A14FE-49D2-484E-840C-D859C89DB770}"/>
                    </a:ext>
                  </a:extLst>
                </p:cNvPr>
                <p:cNvSpPr/>
                <p:nvPr/>
              </p:nvSpPr>
              <p:spPr>
                <a:xfrm>
                  <a:off x="2825159" y="1392569"/>
                  <a:ext cx="1543756" cy="7230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ea typeface="Cambria Math"/>
                          </a:rPr>
                          <m:t>𝑍</m:t>
                        </m:r>
                        <m:r>
                          <a:rPr lang="en-US" sz="2400" b="0" i="1" smtClean="0">
                            <a:latin typeface="Cambria Math"/>
                            <a:ea typeface="Cambria Math"/>
                          </a:rPr>
                          <m:t>=</m:t>
                        </m:r>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𝑝𝑣</m:t>
                            </m:r>
                          </m:num>
                          <m:den>
                            <m:r>
                              <a:rPr lang="en-US" sz="2400" b="0" i="1" smtClean="0">
                                <a:latin typeface="Cambria Math"/>
                                <a:ea typeface="Cambria Math"/>
                              </a:rPr>
                              <m:t>𝑅𝑇</m:t>
                            </m:r>
                          </m:den>
                        </m:f>
                        <m:r>
                          <a:rPr lang="en-US" sz="2400" b="0" i="1" smtClean="0">
                            <a:latin typeface="Cambria Math"/>
                            <a:ea typeface="Cambria Math"/>
                          </a:rPr>
                          <m:t>=</m:t>
                        </m:r>
                      </m:oMath>
                    </m:oMathPara>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2825159" y="1392569"/>
                  <a:ext cx="1543756" cy="723083"/>
                </a:xfrm>
                <a:prstGeom prst="rect">
                  <a:avLst/>
                </a:prstGeom>
                <a:blipFill rotWithShape="1">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80D18F54-0688-4B53-9386-65678A2D4876}"/>
                </a:ext>
              </a:extLst>
            </p:cNvPr>
            <p:cNvSpPr/>
            <p:nvPr/>
          </p:nvSpPr>
          <p:spPr>
            <a:xfrm>
              <a:off x="4196241" y="1524390"/>
              <a:ext cx="2868478" cy="461665"/>
            </a:xfrm>
            <a:prstGeom prst="rect">
              <a:avLst/>
            </a:prstGeom>
          </p:spPr>
          <p:txBody>
            <a:bodyPr wrap="none">
              <a:spAutoFit/>
            </a:bodyPr>
            <a:lstStyle/>
            <a:p>
              <a:r>
                <a:rPr lang="en-US" sz="2400" dirty="0"/>
                <a:t>compressibility factor</a:t>
              </a:r>
            </a:p>
          </p:txBody>
        </p:sp>
      </p:grpSp>
      <p:grpSp>
        <p:nvGrpSpPr>
          <p:cNvPr id="9" name="Group 8">
            <a:extLst>
              <a:ext uri="{FF2B5EF4-FFF2-40B4-BE49-F238E27FC236}">
                <a16:creationId xmlns:a16="http://schemas.microsoft.com/office/drawing/2014/main" id="{D2010178-8142-4399-BF42-8BC9406CB7C7}"/>
              </a:ext>
            </a:extLst>
          </p:cNvPr>
          <p:cNvGrpSpPr/>
          <p:nvPr/>
        </p:nvGrpSpPr>
        <p:grpSpPr>
          <a:xfrm>
            <a:off x="612883" y="2335253"/>
            <a:ext cx="4508262" cy="467010"/>
            <a:chOff x="2659493" y="2289533"/>
            <a:chExt cx="4508262" cy="467010"/>
          </a:xfrm>
        </p:grpSpPr>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098FC61-6531-45E4-913A-35E90FDD985A}"/>
                    </a:ext>
                  </a:extLst>
                </p:cNvPr>
                <p:cNvSpPr/>
                <p:nvPr/>
              </p:nvSpPr>
              <p:spPr>
                <a:xfrm>
                  <a:off x="2659493" y="2294878"/>
                  <a:ext cx="136550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ea typeface="Cambria Math"/>
                          </a:rPr>
                          <m:t>𝑍</m:t>
                        </m:r>
                        <m:r>
                          <a:rPr lang="en-US" sz="2400" i="1" smtClean="0">
                            <a:latin typeface="Cambria Math"/>
                            <a:ea typeface="Cambria Math"/>
                          </a:rPr>
                          <m:t>=1⇒</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2659493" y="2294878"/>
                  <a:ext cx="1365502" cy="461665"/>
                </a:xfrm>
                <a:prstGeom prst="rect">
                  <a:avLst/>
                </a:prstGeom>
                <a:blipFill rotWithShape="1">
                  <a:blip r:embed="rId5"/>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3DA5CE81-1C33-4ABB-859D-17833A8F01C3}"/>
                </a:ext>
              </a:extLst>
            </p:cNvPr>
            <p:cNvSpPr/>
            <p:nvPr/>
          </p:nvSpPr>
          <p:spPr>
            <a:xfrm>
              <a:off x="3896154" y="2289533"/>
              <a:ext cx="3271601" cy="461665"/>
            </a:xfrm>
            <a:prstGeom prst="rect">
              <a:avLst/>
            </a:prstGeom>
          </p:spPr>
          <p:txBody>
            <a:bodyPr wrap="none">
              <a:spAutoFit/>
            </a:bodyPr>
            <a:lstStyle/>
            <a:p>
              <a:r>
                <a:rPr lang="en-US" sz="2400" dirty="0"/>
                <a:t>a gas is “perfect”, “ideal”</a:t>
              </a:r>
            </a:p>
          </p:txBody>
        </p:sp>
      </p:grpSp>
      <p:pic>
        <p:nvPicPr>
          <p:cNvPr id="12" name="Picture 3">
            <a:extLst>
              <a:ext uri="{FF2B5EF4-FFF2-40B4-BE49-F238E27FC236}">
                <a16:creationId xmlns:a16="http://schemas.microsoft.com/office/drawing/2014/main" id="{EA7AE55B-DB68-4F72-9B90-0086713AB4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7328" y="1516578"/>
            <a:ext cx="4071938" cy="477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a:extLst>
              <a:ext uri="{FF2B5EF4-FFF2-40B4-BE49-F238E27FC236}">
                <a16:creationId xmlns:a16="http://schemas.microsoft.com/office/drawing/2014/main" id="{4C800C3C-6325-4FAA-94A4-47D616D803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8046" y="5582730"/>
            <a:ext cx="3836194" cy="792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ctangle 15">
            <a:extLst>
              <a:ext uri="{FF2B5EF4-FFF2-40B4-BE49-F238E27FC236}">
                <a16:creationId xmlns:a16="http://schemas.microsoft.com/office/drawing/2014/main" id="{0BAFA7FD-3094-4853-AD5C-F217BC2037A1}"/>
              </a:ext>
            </a:extLst>
          </p:cNvPr>
          <p:cNvSpPr>
            <a:spLocks noChangeArrowheads="1"/>
          </p:cNvSpPr>
          <p:nvPr/>
        </p:nvSpPr>
        <p:spPr bwMode="auto">
          <a:xfrm>
            <a:off x="349508" y="1304536"/>
            <a:ext cx="1409530" cy="99094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7" name="Rectangle 16">
            <a:extLst>
              <a:ext uri="{FF2B5EF4-FFF2-40B4-BE49-F238E27FC236}">
                <a16:creationId xmlns:a16="http://schemas.microsoft.com/office/drawing/2014/main" id="{400FEB5F-E950-46B1-9A5A-D2667552877E}"/>
              </a:ext>
            </a:extLst>
          </p:cNvPr>
          <p:cNvSpPr>
            <a:spLocks noChangeArrowheads="1"/>
          </p:cNvSpPr>
          <p:nvPr/>
        </p:nvSpPr>
        <p:spPr bwMode="auto">
          <a:xfrm>
            <a:off x="155427" y="2412040"/>
            <a:ext cx="1409530" cy="99094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dirty="0"/>
          </a:p>
        </p:txBody>
      </p:sp>
      <p:sp>
        <p:nvSpPr>
          <p:cNvPr id="18" name="TextBox 17">
            <a:extLst>
              <a:ext uri="{FF2B5EF4-FFF2-40B4-BE49-F238E27FC236}">
                <a16:creationId xmlns:a16="http://schemas.microsoft.com/office/drawing/2014/main" id="{0D3B30E0-51E3-453E-AFCB-27E33EB491E5}"/>
              </a:ext>
            </a:extLst>
          </p:cNvPr>
          <p:cNvSpPr txBox="1"/>
          <p:nvPr/>
        </p:nvSpPr>
        <p:spPr>
          <a:xfrm>
            <a:off x="1493533" y="3672594"/>
            <a:ext cx="4583430" cy="1200329"/>
          </a:xfrm>
          <a:prstGeom prst="rect">
            <a:avLst/>
          </a:prstGeom>
          <a:noFill/>
        </p:spPr>
        <p:txBody>
          <a:bodyPr wrap="square">
            <a:spAutoFit/>
          </a:bodyPr>
          <a:lstStyle/>
          <a:p>
            <a:r>
              <a:rPr lang="en-US" sz="1800" dirty="0"/>
              <a:t>A good measurement of the </a:t>
            </a:r>
          </a:p>
          <a:p>
            <a:r>
              <a:rPr lang="en-US" sz="1800" dirty="0"/>
              <a:t>“idealness” of a real gas is </a:t>
            </a:r>
          </a:p>
          <a:p>
            <a:r>
              <a:rPr lang="en-US" sz="1800" dirty="0"/>
              <a:t>its deviation from 1 in terms </a:t>
            </a:r>
          </a:p>
          <a:p>
            <a:r>
              <a:rPr lang="en-US" sz="1800" dirty="0"/>
              <a:t>of the compressibility factor.</a:t>
            </a:r>
          </a:p>
        </p:txBody>
      </p:sp>
    </p:spTree>
    <p:extLst>
      <p:ext uri="{BB962C8B-B14F-4D97-AF65-F5344CB8AC3E}">
        <p14:creationId xmlns:p14="http://schemas.microsoft.com/office/powerpoint/2010/main" val="323980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Compressibility Factor</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Normalize </a:t>
            </a:r>
            <a:r>
              <a:rPr lang="en-US" altLang="zh-CN" sz="2400" b="1" i="1" dirty="0"/>
              <a:t>p</a:t>
            </a:r>
            <a:r>
              <a:rPr lang="en-US" altLang="zh-CN" sz="2400" b="1" dirty="0"/>
              <a:t> and </a:t>
            </a:r>
            <a:r>
              <a:rPr lang="en-US" altLang="zh-CN" sz="2400" b="1" i="1" dirty="0"/>
              <a:t>T</a:t>
            </a:r>
            <a:r>
              <a:rPr lang="en-US" altLang="zh-CN" sz="2400" b="1" dirty="0"/>
              <a:t> to determine </a:t>
            </a:r>
            <a:r>
              <a:rPr lang="en-US" altLang="zh-CN" sz="2400" b="1" i="1" dirty="0"/>
              <a:t>Z</a:t>
            </a:r>
            <a:endParaRPr lang="en-US" altLang="zh-CN" sz="2400" b="1" dirty="0"/>
          </a:p>
        </p:txBody>
      </p:sp>
      <p:pic>
        <p:nvPicPr>
          <p:cNvPr id="6" name="Picture 2">
            <a:extLst>
              <a:ext uri="{FF2B5EF4-FFF2-40B4-BE49-F238E27FC236}">
                <a16:creationId xmlns:a16="http://schemas.microsoft.com/office/drawing/2014/main" id="{36FD9755-AA02-4CDC-9BAA-3EAD444B4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5641" y="2545871"/>
            <a:ext cx="5250656" cy="3686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Group 6">
            <a:extLst>
              <a:ext uri="{FF2B5EF4-FFF2-40B4-BE49-F238E27FC236}">
                <a16:creationId xmlns:a16="http://schemas.microsoft.com/office/drawing/2014/main" id="{8F88DE17-E30C-4E9B-ADD2-5D13E0AFC672}"/>
              </a:ext>
            </a:extLst>
          </p:cNvPr>
          <p:cNvGrpSpPr/>
          <p:nvPr/>
        </p:nvGrpSpPr>
        <p:grpSpPr>
          <a:xfrm>
            <a:off x="294826" y="1277317"/>
            <a:ext cx="4221222" cy="1572656"/>
            <a:chOff x="982402" y="1418217"/>
            <a:chExt cx="4221222" cy="1572656"/>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6169FD2-80AD-4ACC-8EE9-DF9EBEF2F8F9}"/>
                    </a:ext>
                  </a:extLst>
                </p:cNvPr>
                <p:cNvSpPr/>
                <p:nvPr/>
              </p:nvSpPr>
              <p:spPr>
                <a:xfrm>
                  <a:off x="3927827" y="1418217"/>
                  <a:ext cx="1275797" cy="787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FF0000"/>
                                </a:solidFill>
                                <a:latin typeface="Cambria Math" panose="02040503050406030204" pitchFamily="18" charset="0"/>
                                <a:ea typeface="Cambria Math"/>
                              </a:rPr>
                            </m:ctrlPr>
                          </m:sSubPr>
                          <m:e>
                            <m:r>
                              <a:rPr lang="en-US" sz="2400" b="0" i="1" smtClean="0">
                                <a:solidFill>
                                  <a:srgbClr val="FF0000"/>
                                </a:solidFill>
                                <a:latin typeface="Cambria Math"/>
                                <a:ea typeface="Cambria Math"/>
                              </a:rPr>
                              <m:t>𝑝</m:t>
                            </m:r>
                          </m:e>
                          <m:sub>
                            <m:r>
                              <a:rPr lang="en-US" sz="2400" b="0" i="1" smtClean="0">
                                <a:solidFill>
                                  <a:srgbClr val="FF0000"/>
                                </a:solidFill>
                                <a:latin typeface="Cambria Math"/>
                                <a:ea typeface="Cambria Math"/>
                              </a:rPr>
                              <m:t>𝑅</m:t>
                            </m:r>
                          </m:sub>
                        </m:sSub>
                        <m:r>
                          <a:rPr lang="en-US" sz="2400" b="0" i="1" smtClean="0">
                            <a:solidFill>
                              <a:srgbClr val="FF0000"/>
                            </a:solidFill>
                            <a:latin typeface="Cambria Math"/>
                            <a:ea typeface="Cambria Math"/>
                          </a:rPr>
                          <m:t>=</m:t>
                        </m:r>
                        <m:f>
                          <m:fPr>
                            <m:ctrlPr>
                              <a:rPr lang="en-US" sz="2400" b="0" i="1" smtClean="0">
                                <a:solidFill>
                                  <a:srgbClr val="FF0000"/>
                                </a:solidFill>
                                <a:latin typeface="Cambria Math" panose="02040503050406030204" pitchFamily="18" charset="0"/>
                                <a:ea typeface="Cambria Math"/>
                              </a:rPr>
                            </m:ctrlPr>
                          </m:fPr>
                          <m:num>
                            <m:r>
                              <a:rPr lang="en-US" sz="2400" b="0" i="1" smtClean="0">
                                <a:solidFill>
                                  <a:srgbClr val="FF0000"/>
                                </a:solidFill>
                                <a:latin typeface="Cambria Math"/>
                                <a:ea typeface="Cambria Math"/>
                              </a:rPr>
                              <m:t>𝑝</m:t>
                            </m:r>
                          </m:num>
                          <m:den>
                            <m:sSub>
                              <m:sSubPr>
                                <m:ctrlPr>
                                  <a:rPr lang="en-US" sz="2400" b="0" i="1" smtClean="0">
                                    <a:solidFill>
                                      <a:srgbClr val="FF0000"/>
                                    </a:solidFill>
                                    <a:latin typeface="Cambria Math" panose="02040503050406030204" pitchFamily="18" charset="0"/>
                                    <a:ea typeface="Cambria Math"/>
                                  </a:rPr>
                                </m:ctrlPr>
                              </m:sSubPr>
                              <m:e>
                                <m:r>
                                  <a:rPr lang="en-US" sz="2400" b="0" i="1" smtClean="0">
                                    <a:solidFill>
                                      <a:srgbClr val="FF0000"/>
                                    </a:solidFill>
                                    <a:latin typeface="Cambria Math"/>
                                    <a:ea typeface="Cambria Math"/>
                                  </a:rPr>
                                  <m:t>𝑝</m:t>
                                </m:r>
                              </m:e>
                              <m:sub>
                                <m:r>
                                  <a:rPr lang="en-US" sz="2400" b="0" i="1" smtClean="0">
                                    <a:solidFill>
                                      <a:srgbClr val="FF0000"/>
                                    </a:solidFill>
                                    <a:latin typeface="Cambria Math"/>
                                    <a:ea typeface="Cambria Math"/>
                                  </a:rPr>
                                  <m:t>𝑐</m:t>
                                </m:r>
                              </m:sub>
                            </m:sSub>
                          </m:den>
                        </m:f>
                      </m:oMath>
                    </m:oMathPara>
                  </a14:m>
                  <a:endParaRPr lang="en-US" sz="2400" dirty="0"/>
                </a:p>
              </p:txBody>
            </p:sp>
          </mc:Choice>
          <mc:Fallback xmlns="">
            <p:sp>
              <p:nvSpPr>
                <p:cNvPr id="8" name="Rectangle 7">
                  <a:extLst>
                    <a:ext uri="{FF2B5EF4-FFF2-40B4-BE49-F238E27FC236}">
                      <a16:creationId xmlns:a16="http://schemas.microsoft.com/office/drawing/2014/main" id="{E6169FD2-80AD-4ACC-8EE9-DF9EBEF2F8F9}"/>
                    </a:ext>
                  </a:extLst>
                </p:cNvPr>
                <p:cNvSpPr>
                  <a:spLocks noRot="1" noChangeAspect="1" noMove="1" noResize="1" noEditPoints="1" noAdjustHandles="1" noChangeArrowheads="1" noChangeShapeType="1" noTextEdit="1"/>
                </p:cNvSpPr>
                <p:nvPr/>
              </p:nvSpPr>
              <p:spPr>
                <a:xfrm>
                  <a:off x="3927827" y="1418217"/>
                  <a:ext cx="1275797" cy="787267"/>
                </a:xfrm>
                <a:prstGeom prst="rect">
                  <a:avLst/>
                </a:prstGeom>
                <a:blipFill>
                  <a:blip r:embed="rId5"/>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0619AE52-1DE0-4588-BA73-F5993F8AE9DC}"/>
                </a:ext>
              </a:extLst>
            </p:cNvPr>
            <p:cNvSpPr/>
            <p:nvPr/>
          </p:nvSpPr>
          <p:spPr>
            <a:xfrm>
              <a:off x="982402" y="1551284"/>
              <a:ext cx="2562881" cy="461665"/>
            </a:xfrm>
            <a:prstGeom prst="rect">
              <a:avLst/>
            </a:prstGeom>
          </p:spPr>
          <p:txBody>
            <a:bodyPr wrap="none">
              <a:spAutoFit/>
            </a:bodyPr>
            <a:lstStyle/>
            <a:p>
              <a:r>
                <a:rPr lang="en-US" sz="2400" dirty="0"/>
                <a:t>Reduced pressure,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B66FE10-808E-4587-B4E7-FB6FE1C81A70}"/>
                    </a:ext>
                  </a:extLst>
                </p:cNvPr>
                <p:cNvSpPr/>
                <p:nvPr/>
              </p:nvSpPr>
              <p:spPr>
                <a:xfrm>
                  <a:off x="3940349" y="2144679"/>
                  <a:ext cx="1244828" cy="8461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FF0000"/>
                                </a:solidFill>
                                <a:latin typeface="Cambria Math" panose="02040503050406030204" pitchFamily="18" charset="0"/>
                                <a:ea typeface="Cambria Math"/>
                              </a:rPr>
                            </m:ctrlPr>
                          </m:sSubPr>
                          <m:e>
                            <m:r>
                              <a:rPr lang="en-US" sz="2400" b="0" i="1" smtClean="0">
                                <a:solidFill>
                                  <a:srgbClr val="FF0000"/>
                                </a:solidFill>
                                <a:latin typeface="Cambria Math"/>
                                <a:ea typeface="Cambria Math"/>
                              </a:rPr>
                              <m:t>𝑇</m:t>
                            </m:r>
                          </m:e>
                          <m:sub>
                            <m:r>
                              <a:rPr lang="en-US" sz="2400" b="0" i="1" smtClean="0">
                                <a:solidFill>
                                  <a:srgbClr val="FF0000"/>
                                </a:solidFill>
                                <a:latin typeface="Cambria Math"/>
                                <a:ea typeface="Cambria Math"/>
                              </a:rPr>
                              <m:t>𝑅</m:t>
                            </m:r>
                          </m:sub>
                        </m:sSub>
                        <m:r>
                          <a:rPr lang="en-US" sz="2400" b="0" i="1" smtClean="0">
                            <a:solidFill>
                              <a:srgbClr val="FF0000"/>
                            </a:solidFill>
                            <a:latin typeface="Cambria Math"/>
                            <a:ea typeface="Cambria Math"/>
                          </a:rPr>
                          <m:t>=</m:t>
                        </m:r>
                        <m:f>
                          <m:fPr>
                            <m:ctrlPr>
                              <a:rPr lang="en-US" sz="2400" b="0" i="1" smtClean="0">
                                <a:solidFill>
                                  <a:srgbClr val="FF0000"/>
                                </a:solidFill>
                                <a:latin typeface="Cambria Math" panose="02040503050406030204" pitchFamily="18" charset="0"/>
                                <a:ea typeface="Cambria Math"/>
                              </a:rPr>
                            </m:ctrlPr>
                          </m:fPr>
                          <m:num>
                            <m:r>
                              <a:rPr lang="en-US" sz="2400" b="0" i="1" smtClean="0">
                                <a:solidFill>
                                  <a:srgbClr val="FF0000"/>
                                </a:solidFill>
                                <a:latin typeface="Cambria Math"/>
                                <a:ea typeface="Cambria Math"/>
                              </a:rPr>
                              <m:t>𝑇</m:t>
                            </m:r>
                          </m:num>
                          <m:den>
                            <m:sSub>
                              <m:sSubPr>
                                <m:ctrlPr>
                                  <a:rPr lang="en-US" sz="2400" b="0" i="1" smtClean="0">
                                    <a:solidFill>
                                      <a:srgbClr val="FF0000"/>
                                    </a:solidFill>
                                    <a:latin typeface="Cambria Math" panose="02040503050406030204" pitchFamily="18" charset="0"/>
                                    <a:ea typeface="Cambria Math"/>
                                  </a:rPr>
                                </m:ctrlPr>
                              </m:sSubPr>
                              <m:e>
                                <m:r>
                                  <a:rPr lang="en-US" sz="2400" b="0" i="1" smtClean="0">
                                    <a:solidFill>
                                      <a:srgbClr val="FF0000"/>
                                    </a:solidFill>
                                    <a:latin typeface="Cambria Math"/>
                                    <a:ea typeface="Cambria Math"/>
                                  </a:rPr>
                                  <m:t>𝑇</m:t>
                                </m:r>
                              </m:e>
                              <m:sub>
                                <m:r>
                                  <a:rPr lang="en-US" sz="2400" b="0" i="1" smtClean="0">
                                    <a:solidFill>
                                      <a:srgbClr val="FF0000"/>
                                    </a:solidFill>
                                    <a:latin typeface="Cambria Math"/>
                                    <a:ea typeface="Cambria Math"/>
                                  </a:rPr>
                                  <m:t>𝑐</m:t>
                                </m:r>
                              </m:sub>
                            </m:sSub>
                          </m:den>
                        </m:f>
                      </m:oMath>
                    </m:oMathPara>
                  </a14:m>
                  <a:endParaRPr lang="en-US" sz="2400" dirty="0"/>
                </a:p>
              </p:txBody>
            </p:sp>
          </mc:Choice>
          <mc:Fallback xmlns="">
            <p:sp>
              <p:nvSpPr>
                <p:cNvPr id="10" name="Rectangle 9">
                  <a:extLst>
                    <a:ext uri="{FF2B5EF4-FFF2-40B4-BE49-F238E27FC236}">
                      <a16:creationId xmlns:a16="http://schemas.microsoft.com/office/drawing/2014/main" id="{2B66FE10-808E-4587-B4E7-FB6FE1C81A70}"/>
                    </a:ext>
                  </a:extLst>
                </p:cNvPr>
                <p:cNvSpPr>
                  <a:spLocks noRot="1" noChangeAspect="1" noMove="1" noResize="1" noEditPoints="1" noAdjustHandles="1" noChangeArrowheads="1" noChangeShapeType="1" noTextEdit="1"/>
                </p:cNvSpPr>
                <p:nvPr/>
              </p:nvSpPr>
              <p:spPr>
                <a:xfrm>
                  <a:off x="3940349" y="2144679"/>
                  <a:ext cx="1244828" cy="846194"/>
                </a:xfrm>
                <a:prstGeom prst="rect">
                  <a:avLst/>
                </a:prstGeom>
                <a:blipFill>
                  <a:blip r:embed="rId6"/>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915BA57B-0760-41B6-B37C-6DCAC2D038E6}"/>
                </a:ext>
              </a:extLst>
            </p:cNvPr>
            <p:cNvSpPr/>
            <p:nvPr/>
          </p:nvSpPr>
          <p:spPr>
            <a:xfrm>
              <a:off x="990904" y="2346369"/>
              <a:ext cx="3065776" cy="461665"/>
            </a:xfrm>
            <a:prstGeom prst="rect">
              <a:avLst/>
            </a:prstGeom>
          </p:spPr>
          <p:txBody>
            <a:bodyPr wrap="none">
              <a:spAutoFit/>
            </a:bodyPr>
            <a:lstStyle/>
            <a:p>
              <a:r>
                <a:rPr lang="en-US" sz="2400" dirty="0"/>
                <a:t>Reduced temperature, </a:t>
              </a:r>
            </a:p>
          </p:txBody>
        </p:sp>
      </p:grpSp>
      <p:sp>
        <p:nvSpPr>
          <p:cNvPr id="12" name="Rectangle 11">
            <a:extLst>
              <a:ext uri="{FF2B5EF4-FFF2-40B4-BE49-F238E27FC236}">
                <a16:creationId xmlns:a16="http://schemas.microsoft.com/office/drawing/2014/main" id="{F0F5A05D-7298-4440-BA31-F00D34E24EF7}"/>
              </a:ext>
            </a:extLst>
          </p:cNvPr>
          <p:cNvSpPr>
            <a:spLocks noChangeArrowheads="1"/>
          </p:cNvSpPr>
          <p:nvPr/>
        </p:nvSpPr>
        <p:spPr bwMode="auto">
          <a:xfrm>
            <a:off x="3304244" y="1135949"/>
            <a:ext cx="1409530" cy="17356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2000">
                <a:solidFill>
                  <a:schemeClr val="tx1"/>
                </a:solidFill>
                <a:latin typeface="Times New Roman" charset="0"/>
              </a:defRPr>
            </a:lvl1pPr>
            <a:lvl2pPr marL="742950" indent="-285750" eaLnBrk="0" hangingPunct="0">
              <a:spcBef>
                <a:spcPct val="20000"/>
              </a:spcBef>
              <a:buChar char="–"/>
              <a:defRPr>
                <a:solidFill>
                  <a:schemeClr val="tx1"/>
                </a:solidFill>
                <a:latin typeface="Times New Roman" charset="0"/>
              </a:defRPr>
            </a:lvl2pPr>
            <a:lvl3pPr marL="1143000" indent="-228600" eaLnBrk="0" hangingPunct="0">
              <a:spcBef>
                <a:spcPct val="20000"/>
              </a:spcBef>
              <a:buChar char="•"/>
              <a:defRPr sz="1600">
                <a:solidFill>
                  <a:schemeClr val="tx1"/>
                </a:solidFill>
                <a:latin typeface="Times New Roman" charset="0"/>
              </a:defRPr>
            </a:lvl3pPr>
            <a:lvl4pPr marL="1600200" indent="-228600" eaLnBrk="0" hangingPunct="0">
              <a:spcBef>
                <a:spcPct val="20000"/>
              </a:spcBef>
              <a:buChar char="–"/>
              <a:defRPr sz="1400">
                <a:solidFill>
                  <a:schemeClr val="tx1"/>
                </a:solidFill>
                <a:latin typeface="Times New Roman" charset="0"/>
              </a:defRPr>
            </a:lvl4pPr>
            <a:lvl5pPr marL="2057400" indent="-228600" eaLnBrk="0" hangingPunct="0">
              <a:spcBef>
                <a:spcPct val="20000"/>
              </a:spcBef>
              <a:buChar char="»"/>
              <a:defRPr sz="1400">
                <a:solidFill>
                  <a:schemeClr val="tx1"/>
                </a:solidFill>
                <a:latin typeface="Times New Roman" charset="0"/>
              </a:defRPr>
            </a:lvl5pPr>
            <a:lvl6pPr marL="2514600" indent="-228600" eaLnBrk="0" fontAlgn="base" hangingPunct="0">
              <a:spcBef>
                <a:spcPct val="20000"/>
              </a:spcBef>
              <a:spcAft>
                <a:spcPct val="0"/>
              </a:spcAft>
              <a:buChar char="»"/>
              <a:defRPr sz="1400">
                <a:solidFill>
                  <a:schemeClr val="tx1"/>
                </a:solidFill>
                <a:latin typeface="Times New Roman" charset="0"/>
              </a:defRPr>
            </a:lvl6pPr>
            <a:lvl7pPr marL="2971800" indent="-228600" eaLnBrk="0" fontAlgn="base" hangingPunct="0">
              <a:spcBef>
                <a:spcPct val="20000"/>
              </a:spcBef>
              <a:spcAft>
                <a:spcPct val="0"/>
              </a:spcAft>
              <a:buChar char="»"/>
              <a:defRPr sz="1400">
                <a:solidFill>
                  <a:schemeClr val="tx1"/>
                </a:solidFill>
                <a:latin typeface="Times New Roman" charset="0"/>
              </a:defRPr>
            </a:lvl7pPr>
            <a:lvl8pPr marL="3429000" indent="-228600" eaLnBrk="0" fontAlgn="base" hangingPunct="0">
              <a:spcBef>
                <a:spcPct val="20000"/>
              </a:spcBef>
              <a:spcAft>
                <a:spcPct val="0"/>
              </a:spcAft>
              <a:buChar char="»"/>
              <a:defRPr sz="1400">
                <a:solidFill>
                  <a:schemeClr val="tx1"/>
                </a:solidFill>
                <a:latin typeface="Times New Roman" charset="0"/>
              </a:defRPr>
            </a:lvl8pPr>
            <a:lvl9pPr marL="3886200" indent="-228600" eaLnBrk="0" fontAlgn="base" hangingPunct="0">
              <a:spcBef>
                <a:spcPct val="20000"/>
              </a:spcBef>
              <a:spcAft>
                <a:spcPct val="0"/>
              </a:spcAft>
              <a:buChar char="»"/>
              <a:defRPr sz="1400">
                <a:solidFill>
                  <a:schemeClr val="tx1"/>
                </a:solidFill>
                <a:latin typeface="Times New Roman" charset="0"/>
              </a:defRPr>
            </a:lvl9pPr>
          </a:lstStyle>
          <a:p>
            <a:pPr eaLnBrk="1" hangingPunct="1">
              <a:spcBef>
                <a:spcPct val="0"/>
              </a:spcBef>
              <a:buFontTx/>
              <a:buNone/>
            </a:pPr>
            <a:endParaRPr lang="en-US" altLang="en-US" sz="2400"/>
          </a:p>
        </p:txBody>
      </p:sp>
      <p:sp>
        <p:nvSpPr>
          <p:cNvPr id="16" name="TextBox 15">
            <a:extLst>
              <a:ext uri="{FF2B5EF4-FFF2-40B4-BE49-F238E27FC236}">
                <a16:creationId xmlns:a16="http://schemas.microsoft.com/office/drawing/2014/main" id="{07770A68-B0AD-47D4-90B4-DB230EB0A52E}"/>
              </a:ext>
            </a:extLst>
          </p:cNvPr>
          <p:cNvSpPr txBox="1"/>
          <p:nvPr/>
        </p:nvSpPr>
        <p:spPr>
          <a:xfrm>
            <a:off x="565992" y="3461194"/>
            <a:ext cx="4583430" cy="1754326"/>
          </a:xfrm>
          <a:prstGeom prst="rect">
            <a:avLst/>
          </a:prstGeom>
          <a:noFill/>
        </p:spPr>
        <p:txBody>
          <a:bodyPr wrap="square">
            <a:spAutoFit/>
          </a:bodyPr>
          <a:lstStyle/>
          <a:p>
            <a:r>
              <a:rPr lang="en-US" sz="1800" dirty="0">
                <a:sym typeface="Symbol"/>
              </a:rPr>
              <a:t>Example: air: (Table A-1) </a:t>
            </a:r>
          </a:p>
          <a:p>
            <a:r>
              <a:rPr lang="en-US" sz="1800" i="1" dirty="0">
                <a:sym typeface="Symbol"/>
              </a:rPr>
              <a:t>p</a:t>
            </a:r>
            <a:r>
              <a:rPr lang="en-US" sz="1800" i="1" baseline="-25000" dirty="0">
                <a:sym typeface="Symbol"/>
              </a:rPr>
              <a:t>c</a:t>
            </a:r>
            <a:r>
              <a:rPr lang="en-US" sz="1800" dirty="0">
                <a:sym typeface="Symbol"/>
              </a:rPr>
              <a:t> = 37.7 bars, </a:t>
            </a:r>
          </a:p>
          <a:p>
            <a:r>
              <a:rPr lang="en-US" sz="1800" i="1" dirty="0">
                <a:sym typeface="Symbol"/>
              </a:rPr>
              <a:t>T</a:t>
            </a:r>
            <a:r>
              <a:rPr lang="en-US" sz="1800" i="1" baseline="-25000" dirty="0">
                <a:sym typeface="Symbol"/>
              </a:rPr>
              <a:t>c</a:t>
            </a:r>
            <a:r>
              <a:rPr lang="en-US" sz="1800" dirty="0">
                <a:sym typeface="Symbol"/>
              </a:rPr>
              <a:t> = 133 K</a:t>
            </a:r>
          </a:p>
          <a:p>
            <a:endParaRPr lang="en-US" sz="1800" dirty="0">
              <a:sym typeface="Symbol"/>
            </a:endParaRPr>
          </a:p>
          <a:p>
            <a:r>
              <a:rPr lang="en-US" sz="1800" dirty="0">
                <a:sym typeface="Symbol"/>
              </a:rPr>
              <a:t>At </a:t>
            </a:r>
            <a:r>
              <a:rPr lang="en-US" sz="1800" i="1" dirty="0">
                <a:sym typeface="Symbol"/>
              </a:rPr>
              <a:t>p</a:t>
            </a:r>
            <a:r>
              <a:rPr lang="en-US" sz="1800" dirty="0">
                <a:sym typeface="Symbol"/>
              </a:rPr>
              <a:t> = 37.7 bar, </a:t>
            </a:r>
          </a:p>
          <a:p>
            <a:r>
              <a:rPr lang="en-US" sz="1800" i="1" dirty="0">
                <a:sym typeface="Symbol"/>
              </a:rPr>
              <a:t>T</a:t>
            </a:r>
            <a:r>
              <a:rPr lang="en-US" sz="1800" dirty="0">
                <a:sym typeface="Symbol"/>
              </a:rPr>
              <a:t> = 266 K, then</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9E2CD90-D6F0-4A1C-913C-6ADE353AADA1}"/>
                  </a:ext>
                </a:extLst>
              </p:cNvPr>
              <p:cNvSpPr txBox="1"/>
              <p:nvPr/>
            </p:nvSpPr>
            <p:spPr>
              <a:xfrm>
                <a:off x="619506" y="5406445"/>
                <a:ext cx="7255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𝑅</m:t>
                          </m:r>
                        </m:sub>
                      </m:sSub>
                      <m:r>
                        <a:rPr lang="en-US" b="0" i="1" smtClean="0">
                          <a:latin typeface="Cambria Math" panose="02040503050406030204" pitchFamily="18" charset="0"/>
                        </a:rPr>
                        <m:t>=1</m:t>
                      </m:r>
                    </m:oMath>
                  </m:oMathPara>
                </a14:m>
                <a:endParaRPr lang="en-US" dirty="0"/>
              </a:p>
            </p:txBody>
          </p:sp>
        </mc:Choice>
        <mc:Fallback xmlns="">
          <p:sp>
            <p:nvSpPr>
              <p:cNvPr id="17" name="TextBox 16">
                <a:extLst>
                  <a:ext uri="{FF2B5EF4-FFF2-40B4-BE49-F238E27FC236}">
                    <a16:creationId xmlns:a16="http://schemas.microsoft.com/office/drawing/2014/main" id="{19E2CD90-D6F0-4A1C-913C-6ADE353AADA1}"/>
                  </a:ext>
                </a:extLst>
              </p:cNvPr>
              <p:cNvSpPr txBox="1">
                <a:spLocks noRot="1" noChangeAspect="1" noMove="1" noResize="1" noEditPoints="1" noAdjustHandles="1" noChangeArrowheads="1" noChangeShapeType="1" noTextEdit="1"/>
              </p:cNvSpPr>
              <p:nvPr/>
            </p:nvSpPr>
            <p:spPr>
              <a:xfrm>
                <a:off x="619506" y="5406445"/>
                <a:ext cx="725583" cy="276999"/>
              </a:xfrm>
              <a:prstGeom prst="rect">
                <a:avLst/>
              </a:prstGeom>
              <a:blipFill>
                <a:blip r:embed="rId7"/>
                <a:stretch>
                  <a:fillRect l="-7563" r="-6723"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B8DE61B-77E3-4C9E-80B1-47C277D23A90}"/>
                  </a:ext>
                </a:extLst>
              </p:cNvPr>
              <p:cNvSpPr txBox="1"/>
              <p:nvPr/>
            </p:nvSpPr>
            <p:spPr>
              <a:xfrm>
                <a:off x="619506" y="5732581"/>
                <a:ext cx="72077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𝑅</m:t>
                          </m:r>
                        </m:sub>
                      </m:sSub>
                      <m:r>
                        <a:rPr lang="en-US" b="0" i="1" smtClean="0">
                          <a:latin typeface="Cambria Math" panose="02040503050406030204" pitchFamily="18" charset="0"/>
                        </a:rPr>
                        <m:t>=2</m:t>
                      </m:r>
                    </m:oMath>
                  </m:oMathPara>
                </a14:m>
                <a:endParaRPr lang="en-US" dirty="0"/>
              </a:p>
            </p:txBody>
          </p:sp>
        </mc:Choice>
        <mc:Fallback xmlns="">
          <p:sp>
            <p:nvSpPr>
              <p:cNvPr id="18" name="TextBox 17">
                <a:extLst>
                  <a:ext uri="{FF2B5EF4-FFF2-40B4-BE49-F238E27FC236}">
                    <a16:creationId xmlns:a16="http://schemas.microsoft.com/office/drawing/2014/main" id="{8B8DE61B-77E3-4C9E-80B1-47C277D23A90}"/>
                  </a:ext>
                </a:extLst>
              </p:cNvPr>
              <p:cNvSpPr txBox="1">
                <a:spLocks noRot="1" noChangeAspect="1" noMove="1" noResize="1" noEditPoints="1" noAdjustHandles="1" noChangeArrowheads="1" noChangeShapeType="1" noTextEdit="1"/>
              </p:cNvSpPr>
              <p:nvPr/>
            </p:nvSpPr>
            <p:spPr>
              <a:xfrm>
                <a:off x="619506" y="5732581"/>
                <a:ext cx="720775" cy="276999"/>
              </a:xfrm>
              <a:prstGeom prst="rect">
                <a:avLst/>
              </a:prstGeom>
              <a:blipFill>
                <a:blip r:embed="rId8"/>
                <a:stretch>
                  <a:fillRect l="-7627" r="-7627" b="-15217"/>
                </a:stretch>
              </a:blipFill>
            </p:spPr>
            <p:txBody>
              <a:bodyPr/>
              <a:lstStyle/>
              <a:p>
                <a:r>
                  <a:rPr lang="en-US">
                    <a:noFill/>
                  </a:rPr>
                  <a:t> </a:t>
                </a:r>
              </a:p>
            </p:txBody>
          </p:sp>
        </mc:Fallback>
      </mc:AlternateContent>
    </p:spTree>
    <p:extLst>
      <p:ext uri="{BB962C8B-B14F-4D97-AF65-F5344CB8AC3E}">
        <p14:creationId xmlns:p14="http://schemas.microsoft.com/office/powerpoint/2010/main" val="332047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Generalized Compressibility Chart</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6" name="Picture 8">
            <a:extLst>
              <a:ext uri="{FF2B5EF4-FFF2-40B4-BE49-F238E27FC236}">
                <a16:creationId xmlns:a16="http://schemas.microsoft.com/office/drawing/2014/main" id="{571FD292-F41D-49E1-ADB5-CD1E90AF09E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a:xfrm>
            <a:off x="474547" y="833843"/>
            <a:ext cx="7995367" cy="5563011"/>
          </a:xfrm>
          <a:prstGeom prst="rect">
            <a:avLst/>
          </a:prstGeom>
          <a:noFill/>
        </p:spPr>
      </p:pic>
    </p:spTree>
    <p:extLst>
      <p:ext uri="{BB962C8B-B14F-4D97-AF65-F5344CB8AC3E}">
        <p14:creationId xmlns:p14="http://schemas.microsoft.com/office/powerpoint/2010/main" val="2694369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Generalized Compressibility Chart</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830997"/>
          </a:xfrm>
          <a:prstGeom prst="rect">
            <a:avLst/>
          </a:prstGeom>
          <a:noFill/>
        </p:spPr>
        <p:txBody>
          <a:bodyPr wrap="square" rtlCol="0">
            <a:spAutoFit/>
          </a:bodyPr>
          <a:lstStyle/>
          <a:p>
            <a:pPr>
              <a:spcAft>
                <a:spcPts val="1800"/>
              </a:spcAft>
            </a:pPr>
            <a:r>
              <a:rPr lang="en-US" sz="2400" b="1" dirty="0"/>
              <a:t>What is the compressibility factor for a gas with a reduced temperature of 1.1 and a reduced pressure of 1?</a:t>
            </a:r>
            <a:endParaRPr lang="en-US" altLang="zh-CN" sz="2400" b="1" dirty="0"/>
          </a:p>
        </p:txBody>
      </p:sp>
      <p:pic>
        <p:nvPicPr>
          <p:cNvPr id="6" name="Picture 8">
            <a:extLst>
              <a:ext uri="{FF2B5EF4-FFF2-40B4-BE49-F238E27FC236}">
                <a16:creationId xmlns:a16="http://schemas.microsoft.com/office/drawing/2014/main" id="{FC4757C3-B9FC-44C2-87C0-C14FB120765D}"/>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a:xfrm>
            <a:off x="77703" y="1402205"/>
            <a:ext cx="7347945" cy="5112548"/>
          </a:xfrm>
          <a:prstGeom prst="rect">
            <a:avLst/>
          </a:prstGeom>
          <a:noFill/>
        </p:spPr>
      </p:pic>
      <p:sp>
        <p:nvSpPr>
          <p:cNvPr id="7" name="TextBox 6">
            <a:extLst>
              <a:ext uri="{FF2B5EF4-FFF2-40B4-BE49-F238E27FC236}">
                <a16:creationId xmlns:a16="http://schemas.microsoft.com/office/drawing/2014/main" id="{CC0D2066-BA71-4A13-8BE4-10A54BD20566}"/>
              </a:ext>
            </a:extLst>
          </p:cNvPr>
          <p:cNvSpPr txBox="1"/>
          <p:nvPr/>
        </p:nvSpPr>
        <p:spPr>
          <a:xfrm flipH="1">
            <a:off x="7601931" y="1997839"/>
            <a:ext cx="1190025" cy="2862322"/>
          </a:xfrm>
          <a:prstGeom prst="rect">
            <a:avLst/>
          </a:prstGeom>
          <a:noFill/>
        </p:spPr>
        <p:txBody>
          <a:bodyPr wrap="square" rtlCol="0">
            <a:spAutoFit/>
          </a:bodyPr>
          <a:lstStyle/>
          <a:p>
            <a:pPr marL="342900" indent="-342900">
              <a:spcAft>
                <a:spcPts val="1200"/>
              </a:spcAft>
              <a:buAutoNum type="alphaUcPeriod"/>
            </a:pPr>
            <a:r>
              <a:rPr lang="en-US" sz="2800" b="1" dirty="0"/>
              <a:t>0.4</a:t>
            </a:r>
          </a:p>
          <a:p>
            <a:pPr marL="342900" indent="-342900">
              <a:spcAft>
                <a:spcPts val="1200"/>
              </a:spcAft>
              <a:buAutoNum type="alphaUcPeriod"/>
            </a:pPr>
            <a:r>
              <a:rPr lang="en-US" sz="2800" b="1" dirty="0"/>
              <a:t>0.7</a:t>
            </a:r>
          </a:p>
          <a:p>
            <a:pPr marL="342900" indent="-342900">
              <a:spcAft>
                <a:spcPts val="1200"/>
              </a:spcAft>
              <a:buAutoNum type="alphaUcPeriod"/>
            </a:pPr>
            <a:r>
              <a:rPr lang="en-US" sz="2800" b="1" dirty="0"/>
              <a:t>0.8</a:t>
            </a:r>
          </a:p>
          <a:p>
            <a:pPr marL="342900" indent="-342900">
              <a:spcAft>
                <a:spcPts val="1200"/>
              </a:spcAft>
              <a:buAutoNum type="alphaUcPeriod"/>
            </a:pPr>
            <a:r>
              <a:rPr lang="en-US" sz="2800" b="1" dirty="0"/>
              <a:t>1.0</a:t>
            </a:r>
          </a:p>
          <a:p>
            <a:pPr marL="342900" indent="-342900">
              <a:spcAft>
                <a:spcPts val="1200"/>
              </a:spcAft>
              <a:buAutoNum type="alphaUcPeriod"/>
            </a:pPr>
            <a:r>
              <a:rPr lang="en-US" sz="2800" b="1" dirty="0"/>
              <a:t>1.1 </a:t>
            </a:r>
          </a:p>
        </p:txBody>
      </p:sp>
    </p:spTree>
    <p:extLst>
      <p:ext uri="{BB962C8B-B14F-4D97-AF65-F5344CB8AC3E}">
        <p14:creationId xmlns:p14="http://schemas.microsoft.com/office/powerpoint/2010/main" val="2193435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Critical Properties</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6" name="Picture 2">
            <a:extLst>
              <a:ext uri="{FF2B5EF4-FFF2-40B4-BE49-F238E27FC236}">
                <a16:creationId xmlns:a16="http://schemas.microsoft.com/office/drawing/2014/main" id="{E6DD47EE-3E4F-4DB4-95D6-DA66856E0F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037" y="540639"/>
            <a:ext cx="5495925" cy="640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7428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461665"/>
          </a:xfrm>
          <a:prstGeom prst="rect">
            <a:avLst/>
          </a:prstGeom>
          <a:noFill/>
        </p:spPr>
        <p:txBody>
          <a:bodyPr wrap="square" rtlCol="0">
            <a:spAutoFit/>
          </a:bodyPr>
          <a:lstStyle/>
          <a:p>
            <a:pPr>
              <a:spcAft>
                <a:spcPts val="1800"/>
              </a:spcAft>
            </a:pPr>
            <a:r>
              <a:rPr lang="en-US" altLang="zh-CN" sz="2400" b="1" dirty="0"/>
              <a:t>Find the value of specific volume of methane at 250 K and 10 MPa. </a:t>
            </a:r>
          </a:p>
        </p:txBody>
      </p:sp>
    </p:spTree>
    <p:extLst>
      <p:ext uri="{BB962C8B-B14F-4D97-AF65-F5344CB8AC3E}">
        <p14:creationId xmlns:p14="http://schemas.microsoft.com/office/powerpoint/2010/main" val="1488390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830997"/>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20 MPa using Compressibility Factor. </a:t>
            </a:r>
          </a:p>
        </p:txBody>
      </p:sp>
      <p:sp>
        <p:nvSpPr>
          <p:cNvPr id="8" name="Rectangle 7">
            <a:extLst>
              <a:ext uri="{FF2B5EF4-FFF2-40B4-BE49-F238E27FC236}">
                <a16:creationId xmlns:a16="http://schemas.microsoft.com/office/drawing/2014/main" id="{3D001A6B-9E63-47D6-9F11-6503203EB504}"/>
              </a:ext>
            </a:extLst>
          </p:cNvPr>
          <p:cNvSpPr/>
          <p:nvPr/>
        </p:nvSpPr>
        <p:spPr>
          <a:xfrm>
            <a:off x="6819958" y="1252562"/>
            <a:ext cx="2246339" cy="1200329"/>
          </a:xfrm>
          <a:prstGeom prst="rect">
            <a:avLst/>
          </a:prstGeom>
        </p:spPr>
        <p:txBody>
          <a:bodyPr wrap="square">
            <a:spAutoFit/>
          </a:bodyPr>
          <a:lstStyle/>
          <a:p>
            <a:r>
              <a:rPr lang="en-US" altLang="zh-CN" sz="2400" b="1" dirty="0">
                <a:solidFill>
                  <a:srgbClr val="0070C0"/>
                </a:solidFill>
              </a:rPr>
              <a:t>For water, </a:t>
            </a:r>
          </a:p>
          <a:p>
            <a:r>
              <a:rPr lang="en-US" altLang="zh-CN" sz="2400" b="1" i="1" dirty="0">
                <a:solidFill>
                  <a:srgbClr val="0070C0"/>
                </a:solidFill>
              </a:rPr>
              <a:t>p</a:t>
            </a:r>
            <a:r>
              <a:rPr lang="en-US" altLang="zh-CN" sz="2400" b="1" i="1" baseline="-25000" dirty="0">
                <a:solidFill>
                  <a:srgbClr val="0070C0"/>
                </a:solidFill>
              </a:rPr>
              <a:t>c</a:t>
            </a:r>
            <a:r>
              <a:rPr lang="en-US" altLang="zh-CN" sz="2400" b="1" dirty="0">
                <a:solidFill>
                  <a:srgbClr val="0070C0"/>
                </a:solidFill>
              </a:rPr>
              <a:t> = 22.06 MPa</a:t>
            </a:r>
          </a:p>
          <a:p>
            <a:r>
              <a:rPr lang="en-US" altLang="zh-CN" sz="2400" b="1" i="1" dirty="0">
                <a:solidFill>
                  <a:srgbClr val="0070C0"/>
                </a:solidFill>
              </a:rPr>
              <a:t>T</a:t>
            </a:r>
            <a:r>
              <a:rPr lang="en-US" altLang="zh-CN" sz="2400" b="1" i="1" baseline="-25000" dirty="0">
                <a:solidFill>
                  <a:srgbClr val="0070C0"/>
                </a:solidFill>
              </a:rPr>
              <a:t>c</a:t>
            </a:r>
            <a:r>
              <a:rPr lang="en-US" altLang="zh-CN" sz="2400" b="1" dirty="0">
                <a:solidFill>
                  <a:srgbClr val="0070C0"/>
                </a:solidFill>
              </a:rPr>
              <a:t> = 647.1 K</a:t>
            </a:r>
            <a:endParaRPr lang="en-US" sz="2400" b="1" baseline="-25000" dirty="0">
              <a:solidFill>
                <a:srgbClr val="0070C0"/>
              </a:solidFill>
            </a:endParaRPr>
          </a:p>
        </p:txBody>
      </p:sp>
      <p:sp>
        <p:nvSpPr>
          <p:cNvPr id="9" name="Rectangle 8">
            <a:extLst>
              <a:ext uri="{FF2B5EF4-FFF2-40B4-BE49-F238E27FC236}">
                <a16:creationId xmlns:a16="http://schemas.microsoft.com/office/drawing/2014/main" id="{75FC7856-8BF1-4F27-918D-2EE87A3A8C0F}"/>
              </a:ext>
            </a:extLst>
          </p:cNvPr>
          <p:cNvSpPr/>
          <p:nvPr/>
        </p:nvSpPr>
        <p:spPr>
          <a:xfrm>
            <a:off x="5328953" y="5587674"/>
            <a:ext cx="3737344" cy="830997"/>
          </a:xfrm>
          <a:prstGeom prst="rect">
            <a:avLst/>
          </a:prstGeom>
        </p:spPr>
        <p:txBody>
          <a:bodyPr wrap="square">
            <a:spAutoFit/>
          </a:bodyPr>
          <a:lstStyle/>
          <a:p>
            <a:r>
              <a:rPr lang="en-US" altLang="zh-CN" sz="2400" b="1" dirty="0">
                <a:solidFill>
                  <a:srgbClr val="0070C0"/>
                </a:solidFill>
              </a:rPr>
              <a:t>Using steam table we found </a:t>
            </a:r>
            <a:r>
              <a:rPr lang="en-US" altLang="zh-CN" sz="2400" b="1" i="1" dirty="0">
                <a:solidFill>
                  <a:srgbClr val="0070C0"/>
                </a:solidFill>
              </a:rPr>
              <a:t>v</a:t>
            </a:r>
            <a:r>
              <a:rPr lang="en-US" altLang="zh-CN" sz="2400" b="1" dirty="0">
                <a:solidFill>
                  <a:srgbClr val="0070C0"/>
                </a:solidFill>
              </a:rPr>
              <a:t> = 0.009946 m</a:t>
            </a:r>
            <a:r>
              <a:rPr lang="en-US" altLang="zh-CN" sz="2400" b="1" baseline="30000" dirty="0">
                <a:solidFill>
                  <a:srgbClr val="0070C0"/>
                </a:solidFill>
              </a:rPr>
              <a:t>3</a:t>
            </a:r>
            <a:r>
              <a:rPr lang="en-US" altLang="zh-CN" sz="2400" b="1" dirty="0">
                <a:solidFill>
                  <a:srgbClr val="0070C0"/>
                </a:solidFill>
              </a:rPr>
              <a:t>/kg</a:t>
            </a:r>
            <a:endParaRPr lang="en-US" sz="2400" b="1" baseline="-25000" dirty="0">
              <a:solidFill>
                <a:srgbClr val="0070C0"/>
              </a:solidFill>
            </a:endParaRPr>
          </a:p>
        </p:txBody>
      </p:sp>
    </p:spTree>
    <p:extLst>
      <p:ext uri="{BB962C8B-B14F-4D97-AF65-F5344CB8AC3E}">
        <p14:creationId xmlns:p14="http://schemas.microsoft.com/office/powerpoint/2010/main" val="551081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Example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5" name="TextBox 14">
            <a:extLst>
              <a:ext uri="{FF2B5EF4-FFF2-40B4-BE49-F238E27FC236}">
                <a16:creationId xmlns:a16="http://schemas.microsoft.com/office/drawing/2014/main" id="{4A9B0BA6-74CF-464F-8F2B-2652F6591DFD}"/>
              </a:ext>
            </a:extLst>
          </p:cNvPr>
          <p:cNvSpPr txBox="1"/>
          <p:nvPr/>
        </p:nvSpPr>
        <p:spPr>
          <a:xfrm>
            <a:off x="77703" y="659638"/>
            <a:ext cx="8988594" cy="830997"/>
          </a:xfrm>
          <a:prstGeom prst="rect">
            <a:avLst/>
          </a:prstGeom>
          <a:noFill/>
        </p:spPr>
        <p:txBody>
          <a:bodyPr wrap="square" rtlCol="0">
            <a:spAutoFit/>
          </a:bodyPr>
          <a:lstStyle/>
          <a:p>
            <a:pPr>
              <a:spcAft>
                <a:spcPts val="1800"/>
              </a:spcAft>
            </a:pPr>
            <a:r>
              <a:rPr lang="en-US" altLang="zh-CN" sz="2400" b="1" dirty="0"/>
              <a:t>Find the value of specific volume of steam at 400 </a:t>
            </a:r>
            <a:r>
              <a:rPr lang="en-US" altLang="zh-CN" sz="2400" b="1" baseline="30000" dirty="0" err="1"/>
              <a:t>o</a:t>
            </a:r>
            <a:r>
              <a:rPr lang="en-US" altLang="zh-CN" sz="2400" b="1" dirty="0" err="1"/>
              <a:t>C</a:t>
            </a:r>
            <a:r>
              <a:rPr lang="en-US" altLang="zh-CN" sz="2400" b="1" dirty="0"/>
              <a:t> and 20 MPa using Compressibility Factor. </a:t>
            </a:r>
          </a:p>
        </p:txBody>
      </p:sp>
      <p:sp>
        <p:nvSpPr>
          <p:cNvPr id="8" name="Rectangle 7">
            <a:extLst>
              <a:ext uri="{FF2B5EF4-FFF2-40B4-BE49-F238E27FC236}">
                <a16:creationId xmlns:a16="http://schemas.microsoft.com/office/drawing/2014/main" id="{3D001A6B-9E63-47D6-9F11-6503203EB504}"/>
              </a:ext>
            </a:extLst>
          </p:cNvPr>
          <p:cNvSpPr/>
          <p:nvPr/>
        </p:nvSpPr>
        <p:spPr>
          <a:xfrm>
            <a:off x="6819958" y="1252562"/>
            <a:ext cx="2246339" cy="1200329"/>
          </a:xfrm>
          <a:prstGeom prst="rect">
            <a:avLst/>
          </a:prstGeom>
        </p:spPr>
        <p:txBody>
          <a:bodyPr wrap="square">
            <a:spAutoFit/>
          </a:bodyPr>
          <a:lstStyle/>
          <a:p>
            <a:r>
              <a:rPr lang="en-US" altLang="zh-CN" sz="2400" b="1" dirty="0">
                <a:solidFill>
                  <a:srgbClr val="0070C0"/>
                </a:solidFill>
              </a:rPr>
              <a:t>For water, </a:t>
            </a:r>
          </a:p>
          <a:p>
            <a:r>
              <a:rPr lang="en-US" altLang="zh-CN" sz="2400" b="1" i="1" dirty="0">
                <a:solidFill>
                  <a:srgbClr val="0070C0"/>
                </a:solidFill>
              </a:rPr>
              <a:t>p</a:t>
            </a:r>
            <a:r>
              <a:rPr lang="en-US" altLang="zh-CN" sz="2400" b="1" i="1" baseline="-25000" dirty="0">
                <a:solidFill>
                  <a:srgbClr val="0070C0"/>
                </a:solidFill>
              </a:rPr>
              <a:t>c</a:t>
            </a:r>
            <a:r>
              <a:rPr lang="en-US" altLang="zh-CN" sz="2400" b="1" dirty="0">
                <a:solidFill>
                  <a:srgbClr val="0070C0"/>
                </a:solidFill>
              </a:rPr>
              <a:t> = 22.06 MPa</a:t>
            </a:r>
          </a:p>
          <a:p>
            <a:r>
              <a:rPr lang="en-US" altLang="zh-CN" sz="2400" b="1" i="1" dirty="0">
                <a:solidFill>
                  <a:srgbClr val="0070C0"/>
                </a:solidFill>
              </a:rPr>
              <a:t>T</a:t>
            </a:r>
            <a:r>
              <a:rPr lang="en-US" altLang="zh-CN" sz="2400" b="1" i="1" baseline="-25000" dirty="0">
                <a:solidFill>
                  <a:srgbClr val="0070C0"/>
                </a:solidFill>
              </a:rPr>
              <a:t>c</a:t>
            </a:r>
            <a:r>
              <a:rPr lang="en-US" altLang="zh-CN" sz="2400" b="1" dirty="0">
                <a:solidFill>
                  <a:srgbClr val="0070C0"/>
                </a:solidFill>
              </a:rPr>
              <a:t> = 647.1 K</a:t>
            </a:r>
            <a:endParaRPr lang="en-US" sz="2400" b="1" baseline="-25000" dirty="0">
              <a:solidFill>
                <a:srgbClr val="0070C0"/>
              </a:solidFill>
            </a:endParaRPr>
          </a:p>
        </p:txBody>
      </p:sp>
      <p:sp>
        <p:nvSpPr>
          <p:cNvPr id="9" name="Rectangle 8">
            <a:extLst>
              <a:ext uri="{FF2B5EF4-FFF2-40B4-BE49-F238E27FC236}">
                <a16:creationId xmlns:a16="http://schemas.microsoft.com/office/drawing/2014/main" id="{75FC7856-8BF1-4F27-918D-2EE87A3A8C0F}"/>
              </a:ext>
            </a:extLst>
          </p:cNvPr>
          <p:cNvSpPr/>
          <p:nvPr/>
        </p:nvSpPr>
        <p:spPr>
          <a:xfrm>
            <a:off x="5328953" y="5587674"/>
            <a:ext cx="3737344" cy="830997"/>
          </a:xfrm>
          <a:prstGeom prst="rect">
            <a:avLst/>
          </a:prstGeom>
        </p:spPr>
        <p:txBody>
          <a:bodyPr wrap="square">
            <a:spAutoFit/>
          </a:bodyPr>
          <a:lstStyle/>
          <a:p>
            <a:r>
              <a:rPr lang="en-US" altLang="zh-CN" sz="2400" b="1" dirty="0">
                <a:solidFill>
                  <a:srgbClr val="0070C0"/>
                </a:solidFill>
              </a:rPr>
              <a:t>Using steam table we found </a:t>
            </a:r>
            <a:r>
              <a:rPr lang="en-US" altLang="zh-CN" sz="2400" b="1" i="1" dirty="0">
                <a:solidFill>
                  <a:srgbClr val="0070C0"/>
                </a:solidFill>
              </a:rPr>
              <a:t>v</a:t>
            </a:r>
            <a:r>
              <a:rPr lang="en-US" altLang="zh-CN" sz="2400" b="1" dirty="0">
                <a:solidFill>
                  <a:srgbClr val="0070C0"/>
                </a:solidFill>
              </a:rPr>
              <a:t> = 0.009946 m</a:t>
            </a:r>
            <a:r>
              <a:rPr lang="en-US" altLang="zh-CN" sz="2400" b="1" baseline="30000" dirty="0">
                <a:solidFill>
                  <a:srgbClr val="0070C0"/>
                </a:solidFill>
              </a:rPr>
              <a:t>3</a:t>
            </a:r>
            <a:r>
              <a:rPr lang="en-US" altLang="zh-CN" sz="2400" b="1" dirty="0">
                <a:solidFill>
                  <a:srgbClr val="0070C0"/>
                </a:solidFill>
              </a:rPr>
              <a:t>/kg</a:t>
            </a:r>
            <a:endParaRPr lang="en-US" sz="2400" b="1" baseline="-25000" dirty="0">
              <a:solidFill>
                <a:srgbClr val="0070C0"/>
              </a:solidFill>
            </a:endParaRPr>
          </a:p>
        </p:txBody>
      </p:sp>
    </p:spTree>
    <p:extLst>
      <p:ext uri="{BB962C8B-B14F-4D97-AF65-F5344CB8AC3E}">
        <p14:creationId xmlns:p14="http://schemas.microsoft.com/office/powerpoint/2010/main" val="519795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Pseudo-reduced Specific Volume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10" name="Rectangle 9">
            <a:extLst>
              <a:ext uri="{FF2B5EF4-FFF2-40B4-BE49-F238E27FC236}">
                <a16:creationId xmlns:a16="http://schemas.microsoft.com/office/drawing/2014/main" id="{34CA83B3-C802-4EEA-A1D1-3CBF2958D50B}"/>
              </a:ext>
            </a:extLst>
          </p:cNvPr>
          <p:cNvSpPr/>
          <p:nvPr/>
        </p:nvSpPr>
        <p:spPr>
          <a:xfrm>
            <a:off x="800798" y="749676"/>
            <a:ext cx="7970862" cy="830997"/>
          </a:xfrm>
          <a:prstGeom prst="rect">
            <a:avLst/>
          </a:prstGeom>
        </p:spPr>
        <p:txBody>
          <a:bodyPr wrap="square">
            <a:spAutoFit/>
          </a:bodyPr>
          <a:lstStyle/>
          <a:p>
            <a:r>
              <a:rPr lang="en-US" altLang="zh-CN" sz="2400" b="1" dirty="0">
                <a:solidFill>
                  <a:srgbClr val="0070C0"/>
                </a:solidFill>
              </a:rPr>
              <a:t>Sometimes, p and </a:t>
            </a:r>
            <a:r>
              <a:rPr lang="en-US" altLang="zh-CN" sz="2400" b="1" i="1" dirty="0">
                <a:solidFill>
                  <a:srgbClr val="0070C0"/>
                </a:solidFill>
              </a:rPr>
              <a:t>v</a:t>
            </a:r>
            <a:r>
              <a:rPr lang="en-US" altLang="zh-CN" sz="2400" b="1" dirty="0">
                <a:solidFill>
                  <a:srgbClr val="0070C0"/>
                </a:solidFill>
              </a:rPr>
              <a:t> are given instead, then need to calculate pseudo-reduced specific volume:</a:t>
            </a:r>
            <a:endParaRPr lang="en-US" sz="2400" b="1" baseline="-25000" dirty="0">
              <a:solidFill>
                <a:srgbClr val="0070C0"/>
              </a:solidFill>
            </a:endParaRPr>
          </a:p>
        </p:txBody>
      </p:sp>
      <p:sp>
        <p:nvSpPr>
          <p:cNvPr id="11" name="Rectangle 10">
            <a:extLst>
              <a:ext uri="{FF2B5EF4-FFF2-40B4-BE49-F238E27FC236}">
                <a16:creationId xmlns:a16="http://schemas.microsoft.com/office/drawing/2014/main" id="{9E6D0F4F-BACB-4A7F-A9AE-9BF3E7B070B5}"/>
              </a:ext>
            </a:extLst>
          </p:cNvPr>
          <p:cNvSpPr/>
          <p:nvPr/>
        </p:nvSpPr>
        <p:spPr>
          <a:xfrm>
            <a:off x="6701570" y="5150506"/>
            <a:ext cx="2246339" cy="1200329"/>
          </a:xfrm>
          <a:prstGeom prst="rect">
            <a:avLst/>
          </a:prstGeom>
        </p:spPr>
        <p:txBody>
          <a:bodyPr wrap="square">
            <a:spAutoFit/>
          </a:bodyPr>
          <a:lstStyle/>
          <a:p>
            <a:r>
              <a:rPr lang="en-US" altLang="zh-CN" sz="2400" b="1" dirty="0">
                <a:solidFill>
                  <a:srgbClr val="0070C0"/>
                </a:solidFill>
              </a:rPr>
              <a:t>For water, </a:t>
            </a:r>
          </a:p>
          <a:p>
            <a:r>
              <a:rPr lang="en-US" altLang="zh-CN" sz="2400" b="1" i="1" dirty="0">
                <a:solidFill>
                  <a:srgbClr val="0070C0"/>
                </a:solidFill>
              </a:rPr>
              <a:t>p</a:t>
            </a:r>
            <a:r>
              <a:rPr lang="en-US" altLang="zh-CN" sz="2400" b="1" i="1" baseline="-25000" dirty="0">
                <a:solidFill>
                  <a:srgbClr val="0070C0"/>
                </a:solidFill>
              </a:rPr>
              <a:t>c</a:t>
            </a:r>
            <a:r>
              <a:rPr lang="en-US" altLang="zh-CN" sz="2400" b="1" dirty="0">
                <a:solidFill>
                  <a:srgbClr val="0070C0"/>
                </a:solidFill>
              </a:rPr>
              <a:t> = 22.06 MPa</a:t>
            </a:r>
          </a:p>
          <a:p>
            <a:r>
              <a:rPr lang="en-US" altLang="zh-CN" sz="2400" b="1" i="1" dirty="0">
                <a:solidFill>
                  <a:srgbClr val="0070C0"/>
                </a:solidFill>
              </a:rPr>
              <a:t>T</a:t>
            </a:r>
            <a:r>
              <a:rPr lang="en-US" altLang="zh-CN" sz="2400" b="1" i="1" baseline="-25000" dirty="0">
                <a:solidFill>
                  <a:srgbClr val="0070C0"/>
                </a:solidFill>
              </a:rPr>
              <a:t>c</a:t>
            </a:r>
            <a:r>
              <a:rPr lang="en-US" altLang="zh-CN" sz="2400" b="1" dirty="0">
                <a:solidFill>
                  <a:srgbClr val="0070C0"/>
                </a:solidFill>
              </a:rPr>
              <a:t> = 647.1 K</a:t>
            </a:r>
            <a:endParaRPr lang="en-US" sz="2400" b="1" baseline="-25000" dirty="0">
              <a:solidFill>
                <a:srgbClr val="0070C0"/>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AF4A08B-24E7-4CFF-9C17-8B3C85ECE2CE}"/>
                  </a:ext>
                </a:extLst>
              </p:cNvPr>
              <p:cNvSpPr txBox="1"/>
              <p:nvPr/>
            </p:nvSpPr>
            <p:spPr>
              <a:xfrm>
                <a:off x="1895094" y="1915680"/>
                <a:ext cx="2340705" cy="10425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𝑣</m:t>
                          </m:r>
                        </m:num>
                        <m:den>
                          <m:r>
                            <a:rPr lang="en-US" sz="2400" b="0" i="1" smtClean="0">
                              <a:latin typeface="Cambria Math" panose="02040503050406030204" pitchFamily="18" charset="0"/>
                              <a:ea typeface="Cambria Math" panose="02040503050406030204" pitchFamily="18" charset="0"/>
                            </a:rPr>
                            <m:t>𝑅</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𝑇</m:t>
                                  </m:r>
                                </m:e>
                                <m:sub>
                                  <m:r>
                                    <a:rPr lang="en-US" sz="2400" b="0" i="1" smtClean="0">
                                      <a:latin typeface="Cambria Math" panose="02040503050406030204" pitchFamily="18" charset="0"/>
                                      <a:ea typeface="Cambria Math" panose="02040503050406030204" pitchFamily="18" charset="0"/>
                                    </a:rPr>
                                    <m:t>𝑐</m:t>
                                  </m:r>
                                </m:sub>
                              </m:sSub>
                            </m:num>
                            <m:den>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𝑃</m:t>
                                  </m:r>
                                </m:e>
                                <m:sub>
                                  <m:r>
                                    <a:rPr lang="en-US" sz="2400" b="0" i="1" smtClean="0">
                                      <a:latin typeface="Cambria Math" panose="02040503050406030204" pitchFamily="18" charset="0"/>
                                      <a:ea typeface="Cambria Math" panose="02040503050406030204" pitchFamily="18" charset="0"/>
                                    </a:rPr>
                                    <m:t>𝑐</m:t>
                                  </m:r>
                                </m:sub>
                              </m:sSub>
                            </m:den>
                          </m:f>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acc>
                            <m:accPr>
                              <m:chr m:val="̅"/>
                              <m:ctrlPr>
                                <a:rPr lang="en-US" sz="240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𝑣</m:t>
                              </m:r>
                            </m:e>
                          </m:acc>
                        </m:num>
                        <m:den>
                          <m:acc>
                            <m:accPr>
                              <m:chr m:val="̅"/>
                              <m:ctrlPr>
                                <a:rPr lang="en-US" sz="240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𝑅</m:t>
                              </m:r>
                            </m:e>
                          </m:acc>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𝑇</m:t>
                                  </m:r>
                                </m:e>
                                <m:sub>
                                  <m:r>
                                    <a:rPr lang="en-US" sz="2400" i="1">
                                      <a:latin typeface="Cambria Math" panose="02040503050406030204" pitchFamily="18" charset="0"/>
                                      <a:ea typeface="Cambria Math" panose="02040503050406030204" pitchFamily="18" charset="0"/>
                                    </a:rPr>
                                    <m:t>𝑐</m:t>
                                  </m:r>
                                </m:sub>
                              </m:sSub>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𝑃</m:t>
                                  </m:r>
                                </m:e>
                                <m:sub>
                                  <m:r>
                                    <a:rPr lang="en-US" sz="2400" i="1">
                                      <a:latin typeface="Cambria Math" panose="02040503050406030204" pitchFamily="18" charset="0"/>
                                      <a:ea typeface="Cambria Math" panose="02040503050406030204" pitchFamily="18" charset="0"/>
                                    </a:rPr>
                                    <m:t>𝑐</m:t>
                                  </m:r>
                                </m:sub>
                              </m:sSub>
                            </m:den>
                          </m:f>
                        </m:den>
                      </m:f>
                    </m:oMath>
                  </m:oMathPara>
                </a14:m>
                <a:endParaRPr lang="en-US" sz="2400" dirty="0"/>
              </a:p>
            </p:txBody>
          </p:sp>
        </mc:Choice>
        <mc:Fallback xmlns="">
          <p:sp>
            <p:nvSpPr>
              <p:cNvPr id="2" name="TextBox 1">
                <a:extLst>
                  <a:ext uri="{FF2B5EF4-FFF2-40B4-BE49-F238E27FC236}">
                    <a16:creationId xmlns:a16="http://schemas.microsoft.com/office/drawing/2014/main" id="{EAF4A08B-24E7-4CFF-9C17-8B3C85ECE2CE}"/>
                  </a:ext>
                </a:extLst>
              </p:cNvPr>
              <p:cNvSpPr txBox="1">
                <a:spLocks noRot="1" noChangeAspect="1" noMove="1" noResize="1" noEditPoints="1" noAdjustHandles="1" noChangeArrowheads="1" noChangeShapeType="1" noTextEdit="1"/>
              </p:cNvSpPr>
              <p:nvPr/>
            </p:nvSpPr>
            <p:spPr>
              <a:xfrm>
                <a:off x="1895094" y="1915680"/>
                <a:ext cx="2340705" cy="10425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91A0EE-38F7-4694-8DCA-B98D0F7ADFBF}"/>
                  </a:ext>
                </a:extLst>
              </p:cNvPr>
              <p:cNvSpPr txBox="1"/>
              <p:nvPr/>
            </p:nvSpPr>
            <p:spPr>
              <a:xfrm>
                <a:off x="2704339" y="3293280"/>
                <a:ext cx="949875" cy="751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𝑍</m:t>
                      </m:r>
                      <m:f>
                        <m:fPr>
                          <m:ctrlPr>
                            <a:rPr lang="en-US" sz="2400" b="0" i="1" smtClean="0">
                              <a:latin typeface="Cambria Math" panose="02040503050406030204" pitchFamily="18" charset="0"/>
                              <a:ea typeface="Cambria Math" panose="02040503050406030204" pitchFamily="18" charset="0"/>
                            </a:rPr>
                          </m:ctrlPr>
                        </m:fPr>
                        <m:num>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𝑇</m:t>
                              </m:r>
                            </m:e>
                            <m:sub>
                              <m:r>
                                <a:rPr lang="en-US" sz="2400" b="0" i="1" smtClean="0">
                                  <a:latin typeface="Cambria Math" panose="02040503050406030204" pitchFamily="18" charset="0"/>
                                  <a:ea typeface="Cambria Math" panose="02040503050406030204" pitchFamily="18" charset="0"/>
                                </a:rPr>
                                <m:t>𝑅</m:t>
                              </m:r>
                            </m:sub>
                          </m:sSub>
                        </m:num>
                        <m:den>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𝑃</m:t>
                              </m:r>
                            </m:e>
                            <m:sub>
                              <m:r>
                                <a:rPr lang="en-US" sz="2400" b="0" i="1" smtClean="0">
                                  <a:latin typeface="Cambria Math" panose="02040503050406030204" pitchFamily="18" charset="0"/>
                                  <a:ea typeface="Cambria Math" panose="02040503050406030204" pitchFamily="18" charset="0"/>
                                </a:rPr>
                                <m:t>𝑅</m:t>
                              </m:r>
                            </m:sub>
                          </m:sSub>
                        </m:den>
                      </m:f>
                    </m:oMath>
                  </m:oMathPara>
                </a14:m>
                <a:endParaRPr lang="en-US" sz="2400" dirty="0"/>
              </a:p>
            </p:txBody>
          </p:sp>
        </mc:Choice>
        <mc:Fallback xmlns="">
          <p:sp>
            <p:nvSpPr>
              <p:cNvPr id="13" name="TextBox 12">
                <a:extLst>
                  <a:ext uri="{FF2B5EF4-FFF2-40B4-BE49-F238E27FC236}">
                    <a16:creationId xmlns:a16="http://schemas.microsoft.com/office/drawing/2014/main" id="{8091A0EE-38F7-4694-8DCA-B98D0F7ADFBF}"/>
                  </a:ext>
                </a:extLst>
              </p:cNvPr>
              <p:cNvSpPr txBox="1">
                <a:spLocks noRot="1" noChangeAspect="1" noMove="1" noResize="1" noEditPoints="1" noAdjustHandles="1" noChangeArrowheads="1" noChangeShapeType="1" noTextEdit="1"/>
              </p:cNvSpPr>
              <p:nvPr/>
            </p:nvSpPr>
            <p:spPr>
              <a:xfrm>
                <a:off x="2704339" y="3293280"/>
                <a:ext cx="949875" cy="75187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F969483-1880-489D-B1A9-294A448B1137}"/>
                  </a:ext>
                </a:extLst>
              </p:cNvPr>
              <p:cNvSpPr txBox="1"/>
              <p:nvPr/>
            </p:nvSpPr>
            <p:spPr>
              <a:xfrm>
                <a:off x="5548122" y="2140889"/>
                <a:ext cx="10818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𝑣</m:t>
                          </m:r>
                        </m:e>
                      </m:acc>
                      <m:r>
                        <a:rPr lang="en-US" sz="2400" b="0" i="1" smtClean="0">
                          <a:latin typeface="Cambria Math" panose="02040503050406030204" pitchFamily="18" charset="0"/>
                        </a:rPr>
                        <m:t>=</m:t>
                      </m:r>
                      <m:r>
                        <a:rPr lang="en-US" sz="2400" b="0" i="1" smtClean="0">
                          <a:latin typeface="Cambria Math" panose="02040503050406030204" pitchFamily="18" charset="0"/>
                        </a:rPr>
                        <m:t>𝑀𝑣</m:t>
                      </m:r>
                    </m:oMath>
                  </m:oMathPara>
                </a14:m>
                <a:endParaRPr lang="en-US" sz="2400" dirty="0"/>
              </a:p>
            </p:txBody>
          </p:sp>
        </mc:Choice>
        <mc:Fallback xmlns="">
          <p:sp>
            <p:nvSpPr>
              <p:cNvPr id="4" name="TextBox 3">
                <a:extLst>
                  <a:ext uri="{FF2B5EF4-FFF2-40B4-BE49-F238E27FC236}">
                    <a16:creationId xmlns:a16="http://schemas.microsoft.com/office/drawing/2014/main" id="{CF969483-1880-489D-B1A9-294A448B1137}"/>
                  </a:ext>
                </a:extLst>
              </p:cNvPr>
              <p:cNvSpPr txBox="1">
                <a:spLocks noRot="1" noChangeAspect="1" noMove="1" noResize="1" noEditPoints="1" noAdjustHandles="1" noChangeArrowheads="1" noChangeShapeType="1" noTextEdit="1"/>
              </p:cNvSpPr>
              <p:nvPr/>
            </p:nvSpPr>
            <p:spPr>
              <a:xfrm>
                <a:off x="5548122" y="2140889"/>
                <a:ext cx="1081899" cy="369332"/>
              </a:xfrm>
              <a:prstGeom prst="rect">
                <a:avLst/>
              </a:prstGeom>
              <a:blipFill>
                <a:blip r:embed="rId6"/>
                <a:stretch>
                  <a:fillRect l="-3933" r="-5618"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46A4C34-FF2A-4A39-9007-0D3DE47F9F9B}"/>
                  </a:ext>
                </a:extLst>
              </p:cNvPr>
              <p:cNvSpPr txBox="1"/>
              <p:nvPr/>
            </p:nvSpPr>
            <p:spPr>
              <a:xfrm>
                <a:off x="2264231" y="4430845"/>
                <a:ext cx="1358962" cy="753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𝑅</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𝑅</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𝑇</m:t>
                              </m:r>
                            </m:e>
                            <m:sub>
                              <m:r>
                                <a:rPr lang="en-US" sz="2400" b="0" i="1" smtClean="0">
                                  <a:latin typeface="Cambria Math" panose="02040503050406030204" pitchFamily="18" charset="0"/>
                                  <a:ea typeface="Cambria Math" panose="02040503050406030204" pitchFamily="18" charset="0"/>
                                </a:rPr>
                                <m:t>𝑐</m:t>
                              </m:r>
                            </m:sub>
                          </m:sSub>
                        </m:num>
                        <m:den>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𝑃</m:t>
                              </m:r>
                            </m:e>
                            <m:sub>
                              <m:r>
                                <a:rPr lang="en-US" sz="2400" b="0" i="1" smtClean="0">
                                  <a:latin typeface="Cambria Math" panose="02040503050406030204" pitchFamily="18" charset="0"/>
                                  <a:ea typeface="Cambria Math" panose="02040503050406030204" pitchFamily="18" charset="0"/>
                                </a:rPr>
                                <m:t>𝑐</m:t>
                              </m:r>
                            </m:sub>
                          </m:sSub>
                        </m:den>
                      </m:f>
                    </m:oMath>
                  </m:oMathPara>
                </a14:m>
                <a:endParaRPr lang="en-US" sz="2400" dirty="0"/>
              </a:p>
            </p:txBody>
          </p:sp>
        </mc:Choice>
        <mc:Fallback xmlns="">
          <p:sp>
            <p:nvSpPr>
              <p:cNvPr id="16" name="TextBox 15">
                <a:extLst>
                  <a:ext uri="{FF2B5EF4-FFF2-40B4-BE49-F238E27FC236}">
                    <a16:creationId xmlns:a16="http://schemas.microsoft.com/office/drawing/2014/main" id="{846A4C34-FF2A-4A39-9007-0D3DE47F9F9B}"/>
                  </a:ext>
                </a:extLst>
              </p:cNvPr>
              <p:cNvSpPr txBox="1">
                <a:spLocks noRot="1" noChangeAspect="1" noMove="1" noResize="1" noEditPoints="1" noAdjustHandles="1" noChangeArrowheads="1" noChangeShapeType="1" noTextEdit="1"/>
              </p:cNvSpPr>
              <p:nvPr/>
            </p:nvSpPr>
            <p:spPr>
              <a:xfrm>
                <a:off x="2264231" y="4430845"/>
                <a:ext cx="1358962" cy="753861"/>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0654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4"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Compressibility Factor</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6" name="Picture 2">
            <a:extLst>
              <a:ext uri="{FF2B5EF4-FFF2-40B4-BE49-F238E27FC236}">
                <a16:creationId xmlns:a16="http://schemas.microsoft.com/office/drawing/2014/main" id="{DB3AB2EC-8555-4EFC-B34D-030D13A409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90" y="631795"/>
            <a:ext cx="8694420" cy="5836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77358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7773</TotalTime>
  <Words>1249</Words>
  <Application>Microsoft Macintosh PowerPoint</Application>
  <PresentationFormat>On-screen Show (4:3)</PresentationFormat>
  <Paragraphs>161</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 Math</vt:lpstr>
      <vt:lpstr>Symbol</vt:lpstr>
      <vt:lpstr>Times New Roman</vt:lpstr>
      <vt:lpstr>Office Theme</vt:lpstr>
      <vt:lpstr>ME 200 Thermodynamics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400 Energy Conversion Systems</dc:title>
  <dc:creator>tim</dc:creator>
  <cp:lastModifiedBy>Cui, Jiahuan</cp:lastModifiedBy>
  <cp:revision>791</cp:revision>
  <cp:lastPrinted>2020-12-05T11:29:22Z</cp:lastPrinted>
  <dcterms:created xsi:type="dcterms:W3CDTF">2020-09-13T00:30:36Z</dcterms:created>
  <dcterms:modified xsi:type="dcterms:W3CDTF">2025-03-04T15:54:42Z</dcterms:modified>
</cp:coreProperties>
</file>