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56" r:id="rId2"/>
    <p:sldId id="548" r:id="rId3"/>
    <p:sldId id="565" r:id="rId4"/>
    <p:sldId id="562" r:id="rId5"/>
    <p:sldId id="563" r:id="rId6"/>
    <p:sldId id="572" r:id="rId7"/>
    <p:sldId id="567" r:id="rId8"/>
    <p:sldId id="568" r:id="rId9"/>
    <p:sldId id="569" r:id="rId10"/>
    <p:sldId id="549" r:id="rId11"/>
    <p:sldId id="574" r:id="rId12"/>
    <p:sldId id="581" r:id="rId13"/>
    <p:sldId id="577" r:id="rId14"/>
    <p:sldId id="578" r:id="rId15"/>
    <p:sldId id="57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87" autoAdjust="0"/>
    <p:restoredTop sz="91769" autoAdjust="0"/>
  </p:normalViewPr>
  <p:slideViewPr>
    <p:cSldViewPr snapToGrid="0">
      <p:cViewPr varScale="1">
        <p:scale>
          <a:sx n="112" d="100"/>
          <a:sy n="112" d="100"/>
        </p:scale>
        <p:origin x="1480" y="20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i, Jiahuan" userId="74189dc3-7c4e-4658-a955-b1919aec75a3" providerId="ADAL" clId="{F3406EAF-CF02-8B44-97D1-DF77AF7B3814}"/>
    <pc:docChg chg="custSel delSld modSld">
      <pc:chgData name="Cui, Jiahuan" userId="74189dc3-7c4e-4658-a955-b1919aec75a3" providerId="ADAL" clId="{F3406EAF-CF02-8B44-97D1-DF77AF7B3814}" dt="2025-03-09T15:46:03.374" v="17" actId="2696"/>
      <pc:docMkLst>
        <pc:docMk/>
      </pc:docMkLst>
      <pc:sldChg chg="modSp mod">
        <pc:chgData name="Cui, Jiahuan" userId="74189dc3-7c4e-4658-a955-b1919aec75a3" providerId="ADAL" clId="{F3406EAF-CF02-8B44-97D1-DF77AF7B3814}" dt="2025-03-09T15:37:32.183" v="1" actId="27636"/>
        <pc:sldMkLst>
          <pc:docMk/>
          <pc:sldMk cId="2943049344" sldId="256"/>
        </pc:sldMkLst>
        <pc:spChg chg="mod">
          <ac:chgData name="Cui, Jiahuan" userId="74189dc3-7c4e-4658-a955-b1919aec75a3" providerId="ADAL" clId="{F3406EAF-CF02-8B44-97D1-DF77AF7B3814}" dt="2025-03-09T15:37:32.183" v="1" actId="27636"/>
          <ac:spMkLst>
            <pc:docMk/>
            <pc:sldMk cId="2943049344" sldId="256"/>
            <ac:spMk id="3" creationId="{00000000-0000-0000-0000-000000000000}"/>
          </ac:spMkLst>
        </pc:spChg>
      </pc:sldChg>
      <pc:sldChg chg="del">
        <pc:chgData name="Cui, Jiahuan" userId="74189dc3-7c4e-4658-a955-b1919aec75a3" providerId="ADAL" clId="{F3406EAF-CF02-8B44-97D1-DF77AF7B3814}" dt="2025-03-09T15:37:35.623" v="2" actId="2696"/>
        <pc:sldMkLst>
          <pc:docMk/>
          <pc:sldMk cId="2566521072" sldId="346"/>
        </pc:sldMkLst>
      </pc:sldChg>
      <pc:sldChg chg="del">
        <pc:chgData name="Cui, Jiahuan" userId="74189dc3-7c4e-4658-a955-b1919aec75a3" providerId="ADAL" clId="{F3406EAF-CF02-8B44-97D1-DF77AF7B3814}" dt="2025-03-09T15:38:36.029" v="13" actId="2696"/>
        <pc:sldMkLst>
          <pc:docMk/>
          <pc:sldMk cId="637735868" sldId="527"/>
        </pc:sldMkLst>
      </pc:sldChg>
      <pc:sldChg chg="del">
        <pc:chgData name="Cui, Jiahuan" userId="74189dc3-7c4e-4658-a955-b1919aec75a3" providerId="ADAL" clId="{F3406EAF-CF02-8B44-97D1-DF77AF7B3814}" dt="2025-03-09T15:37:37.414" v="3" actId="2696"/>
        <pc:sldMkLst>
          <pc:docMk/>
          <pc:sldMk cId="3967116771" sldId="531"/>
        </pc:sldMkLst>
      </pc:sldChg>
      <pc:sldChg chg="del">
        <pc:chgData name="Cui, Jiahuan" userId="74189dc3-7c4e-4658-a955-b1919aec75a3" providerId="ADAL" clId="{F3406EAF-CF02-8B44-97D1-DF77AF7B3814}" dt="2025-03-09T15:37:37.772" v="4" actId="2696"/>
        <pc:sldMkLst>
          <pc:docMk/>
          <pc:sldMk cId="1096871693" sldId="545"/>
        </pc:sldMkLst>
      </pc:sldChg>
      <pc:sldChg chg="del">
        <pc:chgData name="Cui, Jiahuan" userId="74189dc3-7c4e-4658-a955-b1919aec75a3" providerId="ADAL" clId="{F3406EAF-CF02-8B44-97D1-DF77AF7B3814}" dt="2025-03-09T15:37:38.460" v="5" actId="2696"/>
        <pc:sldMkLst>
          <pc:docMk/>
          <pc:sldMk cId="3802721976" sldId="546"/>
        </pc:sldMkLst>
      </pc:sldChg>
      <pc:sldChg chg="del">
        <pc:chgData name="Cui, Jiahuan" userId="74189dc3-7c4e-4658-a955-b1919aec75a3" providerId="ADAL" clId="{F3406EAF-CF02-8B44-97D1-DF77AF7B3814}" dt="2025-03-09T15:37:39.156" v="6" actId="2696"/>
        <pc:sldMkLst>
          <pc:docMk/>
          <pc:sldMk cId="458556507" sldId="550"/>
        </pc:sldMkLst>
      </pc:sldChg>
      <pc:sldChg chg="del">
        <pc:chgData name="Cui, Jiahuan" userId="74189dc3-7c4e-4658-a955-b1919aec75a3" providerId="ADAL" clId="{F3406EAF-CF02-8B44-97D1-DF77AF7B3814}" dt="2025-03-09T15:37:39.668" v="7" actId="2696"/>
        <pc:sldMkLst>
          <pc:docMk/>
          <pc:sldMk cId="591423092" sldId="551"/>
        </pc:sldMkLst>
      </pc:sldChg>
      <pc:sldChg chg="del">
        <pc:chgData name="Cui, Jiahuan" userId="74189dc3-7c4e-4658-a955-b1919aec75a3" providerId="ADAL" clId="{F3406EAF-CF02-8B44-97D1-DF77AF7B3814}" dt="2025-03-09T15:37:40.131" v="8" actId="2696"/>
        <pc:sldMkLst>
          <pc:docMk/>
          <pc:sldMk cId="3798435315" sldId="552"/>
        </pc:sldMkLst>
      </pc:sldChg>
      <pc:sldChg chg="del">
        <pc:chgData name="Cui, Jiahuan" userId="74189dc3-7c4e-4658-a955-b1919aec75a3" providerId="ADAL" clId="{F3406EAF-CF02-8B44-97D1-DF77AF7B3814}" dt="2025-03-09T15:37:41.804" v="9" actId="2696"/>
        <pc:sldMkLst>
          <pc:docMk/>
          <pc:sldMk cId="715049471" sldId="553"/>
        </pc:sldMkLst>
      </pc:sldChg>
      <pc:sldChg chg="del">
        <pc:chgData name="Cui, Jiahuan" userId="74189dc3-7c4e-4658-a955-b1919aec75a3" providerId="ADAL" clId="{F3406EAF-CF02-8B44-97D1-DF77AF7B3814}" dt="2025-03-09T15:37:42.383" v="10" actId="2696"/>
        <pc:sldMkLst>
          <pc:docMk/>
          <pc:sldMk cId="3231733161" sldId="554"/>
        </pc:sldMkLst>
      </pc:sldChg>
      <pc:sldChg chg="del">
        <pc:chgData name="Cui, Jiahuan" userId="74189dc3-7c4e-4658-a955-b1919aec75a3" providerId="ADAL" clId="{F3406EAF-CF02-8B44-97D1-DF77AF7B3814}" dt="2025-03-09T15:37:43.051" v="11" actId="2696"/>
        <pc:sldMkLst>
          <pc:docMk/>
          <pc:sldMk cId="2757724989" sldId="555"/>
        </pc:sldMkLst>
      </pc:sldChg>
      <pc:sldChg chg="del">
        <pc:chgData name="Cui, Jiahuan" userId="74189dc3-7c4e-4658-a955-b1919aec75a3" providerId="ADAL" clId="{F3406EAF-CF02-8B44-97D1-DF77AF7B3814}" dt="2025-03-09T15:37:43.538" v="12" actId="2696"/>
        <pc:sldMkLst>
          <pc:docMk/>
          <pc:sldMk cId="71021757" sldId="560"/>
        </pc:sldMkLst>
      </pc:sldChg>
      <pc:sldChg chg="del">
        <pc:chgData name="Cui, Jiahuan" userId="74189dc3-7c4e-4658-a955-b1919aec75a3" providerId="ADAL" clId="{F3406EAF-CF02-8B44-97D1-DF77AF7B3814}" dt="2025-03-09T15:38:37.368" v="14" actId="2696"/>
        <pc:sldMkLst>
          <pc:docMk/>
          <pc:sldMk cId="2069694059" sldId="561"/>
        </pc:sldMkLst>
      </pc:sldChg>
      <pc:sldChg chg="del">
        <pc:chgData name="Cui, Jiahuan" userId="74189dc3-7c4e-4658-a955-b1919aec75a3" providerId="ADAL" clId="{F3406EAF-CF02-8B44-97D1-DF77AF7B3814}" dt="2025-03-09T15:43:39.209" v="15" actId="2696"/>
        <pc:sldMkLst>
          <pc:docMk/>
          <pc:sldMk cId="2606140474" sldId="573"/>
        </pc:sldMkLst>
      </pc:sldChg>
      <pc:sldChg chg="del">
        <pc:chgData name="Cui, Jiahuan" userId="74189dc3-7c4e-4658-a955-b1919aec75a3" providerId="ADAL" clId="{F3406EAF-CF02-8B44-97D1-DF77AF7B3814}" dt="2025-03-09T15:46:02.721" v="16" actId="2696"/>
        <pc:sldMkLst>
          <pc:docMk/>
          <pc:sldMk cId="2277534915" sldId="575"/>
        </pc:sldMkLst>
      </pc:sldChg>
      <pc:sldChg chg="del">
        <pc:chgData name="Cui, Jiahuan" userId="74189dc3-7c4e-4658-a955-b1919aec75a3" providerId="ADAL" clId="{F3406EAF-CF02-8B44-97D1-DF77AF7B3814}" dt="2025-03-09T15:46:03.374" v="17" actId="2696"/>
        <pc:sldMkLst>
          <pc:docMk/>
          <pc:sldMk cId="414405556" sldId="576"/>
        </pc:sldMkLst>
      </pc:sldChg>
    </pc:docChg>
  </pc:docChgLst>
  <pc:docChgLst>
    <pc:chgData name="Cui, Jiahuan" userId="74189dc3-7c4e-4658-a955-b1919aec75a3" providerId="ADAL" clId="{51623A8F-6F80-394D-A9CE-68AB7EB3C856}"/>
    <pc:docChg chg="delSld">
      <pc:chgData name="Cui, Jiahuan" userId="74189dc3-7c4e-4658-a955-b1919aec75a3" providerId="ADAL" clId="{51623A8F-6F80-394D-A9CE-68AB7EB3C856}" dt="2025-03-09T15:50:03.530" v="6" actId="2696"/>
      <pc:docMkLst>
        <pc:docMk/>
      </pc:docMkLst>
      <pc:sldChg chg="del">
        <pc:chgData name="Cui, Jiahuan" userId="74189dc3-7c4e-4658-a955-b1919aec75a3" providerId="ADAL" clId="{51623A8F-6F80-394D-A9CE-68AB7EB3C856}" dt="2025-03-09T15:49:28.877" v="0" actId="2696"/>
        <pc:sldMkLst>
          <pc:docMk/>
          <pc:sldMk cId="1193314333" sldId="564"/>
        </pc:sldMkLst>
      </pc:sldChg>
      <pc:sldChg chg="del">
        <pc:chgData name="Cui, Jiahuan" userId="74189dc3-7c4e-4658-a955-b1919aec75a3" providerId="ADAL" clId="{51623A8F-6F80-394D-A9CE-68AB7EB3C856}" dt="2025-03-09T15:49:41.255" v="1" actId="2696"/>
        <pc:sldMkLst>
          <pc:docMk/>
          <pc:sldMk cId="3133934451" sldId="566"/>
        </pc:sldMkLst>
      </pc:sldChg>
      <pc:sldChg chg="del">
        <pc:chgData name="Cui, Jiahuan" userId="74189dc3-7c4e-4658-a955-b1919aec75a3" providerId="ADAL" clId="{51623A8F-6F80-394D-A9CE-68AB7EB3C856}" dt="2025-03-09T15:49:41.843" v="2" actId="2696"/>
        <pc:sldMkLst>
          <pc:docMk/>
          <pc:sldMk cId="3733291731" sldId="570"/>
        </pc:sldMkLst>
      </pc:sldChg>
      <pc:sldChg chg="del">
        <pc:chgData name="Cui, Jiahuan" userId="74189dc3-7c4e-4658-a955-b1919aec75a3" providerId="ADAL" clId="{51623A8F-6F80-394D-A9CE-68AB7EB3C856}" dt="2025-03-09T15:49:43.702" v="3" actId="2696"/>
        <pc:sldMkLst>
          <pc:docMk/>
          <pc:sldMk cId="3694656791" sldId="571"/>
        </pc:sldMkLst>
      </pc:sldChg>
      <pc:sldChg chg="del">
        <pc:chgData name="Cui, Jiahuan" userId="74189dc3-7c4e-4658-a955-b1919aec75a3" providerId="ADAL" clId="{51623A8F-6F80-394D-A9CE-68AB7EB3C856}" dt="2025-03-09T15:49:57.990" v="4" actId="2696"/>
        <pc:sldMkLst>
          <pc:docMk/>
          <pc:sldMk cId="2781994844" sldId="582"/>
        </pc:sldMkLst>
      </pc:sldChg>
      <pc:sldChg chg="del">
        <pc:chgData name="Cui, Jiahuan" userId="74189dc3-7c4e-4658-a955-b1919aec75a3" providerId="ADAL" clId="{51623A8F-6F80-394D-A9CE-68AB7EB3C856}" dt="2025-03-09T15:50:00.810" v="5" actId="2696"/>
        <pc:sldMkLst>
          <pc:docMk/>
          <pc:sldMk cId="2194041437" sldId="583"/>
        </pc:sldMkLst>
      </pc:sldChg>
      <pc:sldChg chg="del">
        <pc:chgData name="Cui, Jiahuan" userId="74189dc3-7c4e-4658-a955-b1919aec75a3" providerId="ADAL" clId="{51623A8F-6F80-394D-A9CE-68AB7EB3C856}" dt="2025-03-09T15:50:03.530" v="6" actId="2696"/>
        <pc:sldMkLst>
          <pc:docMk/>
          <pc:sldMk cId="82675910" sldId="5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E6E16-4E3A-4AD1-BF8F-40C768BA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389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9A199-9094-412E-AD92-571A1458C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1131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Lecture 05 -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C9A199-9094-412E-AD92-571A1458CB65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DEAD59-3789-4136-9022-85F70FDD1C5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1/20/2021</a:t>
            </a:r>
          </a:p>
        </p:txBody>
      </p:sp>
    </p:spTree>
    <p:extLst>
      <p:ext uri="{BB962C8B-B14F-4D97-AF65-F5344CB8AC3E}">
        <p14:creationId xmlns:p14="http://schemas.microsoft.com/office/powerpoint/2010/main" val="3783599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</a:t>
            </a:r>
          </a:p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61638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 is negligible</a:t>
            </a:r>
          </a:p>
          <a:p>
            <a:r>
              <a:rPr lang="en-US" dirty="0"/>
              <a:t>Temperature change so U is not available so in order to stay in equilibrium, the heat needs to be transferred out</a:t>
            </a:r>
          </a:p>
        </p:txBody>
      </p:sp>
    </p:spTree>
    <p:extLst>
      <p:ext uri="{BB962C8B-B14F-4D97-AF65-F5344CB8AC3E}">
        <p14:creationId xmlns:p14="http://schemas.microsoft.com/office/powerpoint/2010/main" val="3637477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</a:t>
            </a:r>
          </a:p>
        </p:txBody>
      </p:sp>
    </p:spTree>
    <p:extLst>
      <p:ext uri="{BB962C8B-B14F-4D97-AF65-F5344CB8AC3E}">
        <p14:creationId xmlns:p14="http://schemas.microsoft.com/office/powerpoint/2010/main" val="1940864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 to think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193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Significant amount of pressure inside so other stuff is insignificant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671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can calculate Q instead of W to find the same thing</a:t>
            </a:r>
          </a:p>
        </p:txBody>
      </p:sp>
    </p:spTree>
    <p:extLst>
      <p:ext uri="{BB962C8B-B14F-4D97-AF65-F5344CB8AC3E}">
        <p14:creationId xmlns:p14="http://schemas.microsoft.com/office/powerpoint/2010/main" val="3084123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Pv</a:t>
            </a:r>
            <a:r>
              <a:rPr lang="en-US" dirty="0"/>
              <a:t> is the convective heat transfer</a:t>
            </a:r>
          </a:p>
        </p:txBody>
      </p:sp>
    </p:spTree>
    <p:extLst>
      <p:ext uri="{BB962C8B-B14F-4D97-AF65-F5344CB8AC3E}">
        <p14:creationId xmlns:p14="http://schemas.microsoft.com/office/powerpoint/2010/main" val="54514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Pushing in inlet</a:t>
            </a:r>
          </a:p>
        </p:txBody>
      </p:sp>
    </p:spTree>
    <p:extLst>
      <p:ext uri="{BB962C8B-B14F-4D97-AF65-F5344CB8AC3E}">
        <p14:creationId xmlns:p14="http://schemas.microsoft.com/office/powerpoint/2010/main" val="207383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Dump into enthalpy</a:t>
            </a:r>
          </a:p>
        </p:txBody>
      </p:sp>
    </p:spTree>
    <p:extLst>
      <p:ext uri="{BB962C8B-B14F-4D97-AF65-F5344CB8AC3E}">
        <p14:creationId xmlns:p14="http://schemas.microsoft.com/office/powerpoint/2010/main" val="3866561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thermodynamics, we just say how much Q is going in.</a:t>
            </a:r>
          </a:p>
        </p:txBody>
      </p:sp>
    </p:spTree>
    <p:extLst>
      <p:ext uri="{BB962C8B-B14F-4D97-AF65-F5344CB8AC3E}">
        <p14:creationId xmlns:p14="http://schemas.microsoft.com/office/powerpoint/2010/main" val="1499168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Dump into enthalpy</a:t>
            </a:r>
          </a:p>
        </p:txBody>
      </p:sp>
    </p:spTree>
    <p:extLst>
      <p:ext uri="{BB962C8B-B14F-4D97-AF65-F5344CB8AC3E}">
        <p14:creationId xmlns:p14="http://schemas.microsoft.com/office/powerpoint/2010/main" val="192283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</p:spTree>
    <p:extLst>
      <p:ext uri="{BB962C8B-B14F-4D97-AF65-F5344CB8AC3E}">
        <p14:creationId xmlns:p14="http://schemas.microsoft.com/office/powerpoint/2010/main" val="1466160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</p:spTree>
    <p:extLst>
      <p:ext uri="{BB962C8B-B14F-4D97-AF65-F5344CB8AC3E}">
        <p14:creationId xmlns:p14="http://schemas.microsoft.com/office/powerpoint/2010/main" val="2293986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  <a:p>
            <a:r>
              <a:rPr lang="en-US" dirty="0"/>
              <a:t>B. Based on what we thinking…Q is positive, WA is negative, </a:t>
            </a:r>
          </a:p>
          <a:p>
            <a:r>
              <a:rPr lang="en-US" dirty="0"/>
              <a:t>E. Is the same though </a:t>
            </a:r>
            <a:r>
              <a:rPr lang="en-US" dirty="0" err="1"/>
              <a:t>dU</a:t>
            </a:r>
            <a:r>
              <a:rPr lang="en-US" dirty="0"/>
              <a:t>/dt</a:t>
            </a:r>
          </a:p>
          <a:p>
            <a:r>
              <a:rPr lang="en-US" dirty="0"/>
              <a:t>Steady state = left hand side = 0 = no change inside!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90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A85-BA68-4A6E-89EC-89F77F1DBAA3}" type="datetime1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5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1F983-55B3-4486-B781-620F6DBD51A8}" type="datetime1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0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96A44-F112-465B-9F17-6AEA6575836A}" type="datetime1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2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0868-52FB-4F0E-9E4D-CD408078E6C2}" type="datetime1">
              <a:rPr lang="en-US" smtClean="0"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D7E3-7B3F-4FC2-A5AD-80CAB07EB05E}" type="datetime1">
              <a:rPr lang="en-US" smtClean="0"/>
              <a:t>3/9/25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8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B53F-12C9-4728-B471-936897AB026F}" type="datetime1">
              <a:rPr lang="en-US" smtClean="0"/>
              <a:t>3/9/25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25B4-0C05-495D-A3E2-85B0ED0F6FCD}" type="datetime1">
              <a:rPr lang="en-US" smtClean="0"/>
              <a:t>3/9/25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8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0CB2-E014-4BC5-8CDD-632662D6D7CF}" type="datetime1">
              <a:rPr lang="en-US" smtClean="0"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5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DCFA-11BF-42B2-BD96-FC517D0EB8FE}" type="datetime1">
              <a:rPr lang="en-US" smtClean="0"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5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60C0-9620-432C-8D8D-9C06BB5BB575}" type="datetime1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3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E5B-EB16-47B8-B0BB-3B146A954241}" type="datetime1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812EF-7246-4ADC-BC0E-7B12542E4010}" type="datetime1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tiff"/><Relationship Id="rId11" Type="http://schemas.openxmlformats.org/officeDocument/2006/relationships/image" Target="../media/image37.png"/><Relationship Id="rId5" Type="http://schemas.openxmlformats.org/officeDocument/2006/relationships/image" Target="../media/image7.tiff"/><Relationship Id="rId10" Type="http://schemas.openxmlformats.org/officeDocument/2006/relationships/image" Target="../media/image36.png"/><Relationship Id="rId4" Type="http://schemas.openxmlformats.org/officeDocument/2006/relationships/image" Target="../media/image6.tiff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 200</a:t>
            </a:r>
            <a:br>
              <a:rPr lang="en-US" b="1" dirty="0"/>
            </a:br>
            <a:r>
              <a:rPr lang="en-US" sz="5300" b="1" dirty="0"/>
              <a:t>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Lecture 10 – Closed System 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9" y="26081"/>
            <a:ext cx="894522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4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Where does the energy go?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8A4C32-7D70-4628-AC68-83153DA3B69E}"/>
              </a:ext>
            </a:extLst>
          </p:cNvPr>
          <p:cNvSpPr txBox="1"/>
          <p:nvPr/>
        </p:nvSpPr>
        <p:spPr>
          <a:xfrm>
            <a:off x="86446" y="624599"/>
            <a:ext cx="89711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gas is contained in a vertical piston-cylinder assembly by a piston with a face area of 0.02 m</a:t>
            </a:r>
            <a:r>
              <a:rPr lang="en-US" sz="2400" baseline="30000" dirty="0"/>
              <a:t>2</a:t>
            </a:r>
            <a:r>
              <a:rPr lang="en-US" sz="2400" dirty="0"/>
              <a:t> and a mass of 40 kg. The atmosphere exerts a pressure of 1 bar on top of the piston. A paddle wheel does 3 kJ of work on the gas during a process in which the elevation of the piston increases by 0.1 m.  The system stays in thermal equilibrium with the environment throughout the process.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907786-5532-4F1A-9D0B-C216D1BC2767}"/>
              </a:ext>
            </a:extLst>
          </p:cNvPr>
          <p:cNvSpPr txBox="1"/>
          <p:nvPr/>
        </p:nvSpPr>
        <p:spPr>
          <a:xfrm>
            <a:off x="-40476" y="2857758"/>
            <a:ext cx="9303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Where does the energy go if 3 kJ of work was input by the paddle wheel?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07F68-6F4F-4CE9-8E12-3F95D9E1A0E8}"/>
              </a:ext>
            </a:extLst>
          </p:cNvPr>
          <p:cNvSpPr txBox="1"/>
          <p:nvPr/>
        </p:nvSpPr>
        <p:spPr>
          <a:xfrm>
            <a:off x="1867366" y="3538578"/>
            <a:ext cx="50748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Q, U, P.E., K.E.</a:t>
            </a:r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Q, U, P.E. only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Q, U only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 only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None of the above </a:t>
            </a:r>
          </a:p>
        </p:txBody>
      </p:sp>
    </p:spTree>
    <p:extLst>
      <p:ext uri="{BB962C8B-B14F-4D97-AF65-F5344CB8AC3E}">
        <p14:creationId xmlns:p14="http://schemas.microsoft.com/office/powerpoint/2010/main" val="212016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Where does the energy go?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8A4C32-7D70-4628-AC68-83153DA3B69E}"/>
              </a:ext>
            </a:extLst>
          </p:cNvPr>
          <p:cNvSpPr txBox="1"/>
          <p:nvPr/>
        </p:nvSpPr>
        <p:spPr>
          <a:xfrm>
            <a:off x="86446" y="624599"/>
            <a:ext cx="89711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gas is contained in a vertical piston-cylinder assembly by a piston with a face area of 0.02 m</a:t>
            </a:r>
            <a:r>
              <a:rPr lang="en-US" sz="2000" baseline="30000" dirty="0"/>
              <a:t>2</a:t>
            </a:r>
            <a:r>
              <a:rPr lang="en-US" sz="2000" dirty="0"/>
              <a:t> and a mass of 40 kg. The atmosphere exerts a pressure of 1 bar on top of the piston. A paddle wheel does 3 kJ of work on the gas during a process in which the elevation of the piston increases by 0.1 m.  The system stays in thermal equilibrium with the environment throughout the process.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907786-5532-4F1A-9D0B-C216D1BC2767}"/>
              </a:ext>
            </a:extLst>
          </p:cNvPr>
          <p:cNvSpPr txBox="1"/>
          <p:nvPr/>
        </p:nvSpPr>
        <p:spPr>
          <a:xfrm>
            <a:off x="517308" y="2198452"/>
            <a:ext cx="7790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Where does the energy go if 3 kJ of work was input by the paddle wheel?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0AAEF2-1294-4BFD-A9E9-0615F0AF316B}"/>
                  </a:ext>
                </a:extLst>
              </p:cNvPr>
              <p:cNvSpPr/>
              <p:nvPr/>
            </p:nvSpPr>
            <p:spPr>
              <a:xfrm>
                <a:off x="363327" y="2664895"/>
                <a:ext cx="8780673" cy="979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0AAEF2-1294-4BFD-A9E9-0615F0AF3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27" y="2664895"/>
                <a:ext cx="8780673" cy="9797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75D7E4C-39A9-4113-983B-DF309AEC1D84}"/>
              </a:ext>
            </a:extLst>
          </p:cNvPr>
          <p:cNvGrpSpPr/>
          <p:nvPr/>
        </p:nvGrpSpPr>
        <p:grpSpPr>
          <a:xfrm>
            <a:off x="6816756" y="3667211"/>
            <a:ext cx="2161560" cy="2879268"/>
            <a:chOff x="1864612" y="442014"/>
            <a:chExt cx="2161560" cy="28792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1DD6B2-1FD3-40B5-81FC-5CCF54BD7176}"/>
                </a:ext>
              </a:extLst>
            </p:cNvPr>
            <p:cNvSpPr/>
            <p:nvPr/>
          </p:nvSpPr>
          <p:spPr>
            <a:xfrm rot="16200000">
              <a:off x="1646696" y="941806"/>
              <a:ext cx="2597392" cy="2161560"/>
            </a:xfrm>
            <a:prstGeom prst="rect">
              <a:avLst/>
            </a:prstGeom>
            <a:solidFill>
              <a:schemeClr val="tx2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3E98990-DE0A-478F-93FB-5B0DEE5B4243}"/>
                </a:ext>
              </a:extLst>
            </p:cNvPr>
            <p:cNvSpPr/>
            <p:nvPr/>
          </p:nvSpPr>
          <p:spPr>
            <a:xfrm rot="16200000">
              <a:off x="1646696" y="1086905"/>
              <a:ext cx="2597392" cy="130761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332159-4EF3-4FF5-B620-DB851FF96391}"/>
                </a:ext>
              </a:extLst>
            </p:cNvPr>
            <p:cNvCxnSpPr/>
            <p:nvPr/>
          </p:nvCxnSpPr>
          <p:spPr>
            <a:xfrm flipV="1">
              <a:off x="2985419" y="1000644"/>
              <a:ext cx="0" cy="1233184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C2FDB78-A908-49BE-BE9B-53C3537BEBA4}"/>
                </a:ext>
              </a:extLst>
            </p:cNvPr>
            <p:cNvSpPr/>
            <p:nvPr/>
          </p:nvSpPr>
          <p:spPr>
            <a:xfrm rot="16200000">
              <a:off x="2778029" y="1412660"/>
              <a:ext cx="334726" cy="1307610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CF6D5F-9B1F-4E98-8337-8E856FA74DCE}"/>
                </a:ext>
              </a:extLst>
            </p:cNvPr>
            <p:cNvSpPr/>
            <p:nvPr/>
          </p:nvSpPr>
          <p:spPr>
            <a:xfrm rot="16200000">
              <a:off x="2672898" y="1488293"/>
              <a:ext cx="638908" cy="227349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3F79B4A-A6BC-4FAE-9774-AE6945AC142F}"/>
                </a:ext>
              </a:extLst>
            </p:cNvPr>
            <p:cNvSpPr txBox="1"/>
            <p:nvPr/>
          </p:nvSpPr>
          <p:spPr>
            <a:xfrm>
              <a:off x="2532229" y="1883302"/>
              <a:ext cx="1147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piston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737FEA-C88B-428E-B69A-D85D593CA45E}"/>
                </a:ext>
              </a:extLst>
            </p:cNvPr>
            <p:cNvSpPr/>
            <p:nvPr/>
          </p:nvSpPr>
          <p:spPr>
            <a:xfrm>
              <a:off x="2330434" y="2279529"/>
              <a:ext cx="1224074" cy="7146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489BB6-1BAC-4A09-9D1D-795E80DD0E63}"/>
                  </a:ext>
                </a:extLst>
              </p:cNvPr>
              <p:cNvSpPr txBox="1"/>
              <p:nvPr/>
            </p:nvSpPr>
            <p:spPr>
              <a:xfrm>
                <a:off x="363327" y="3949086"/>
                <a:ext cx="57254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𝐾𝐸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𝐾𝐸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489BB6-1BAC-4A09-9D1D-795E80DD0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27" y="3949086"/>
                <a:ext cx="5725477" cy="307777"/>
              </a:xfrm>
              <a:prstGeom prst="rect">
                <a:avLst/>
              </a:prstGeom>
              <a:blipFill>
                <a:blip r:embed="rId5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B510838-F91C-4ADD-AC5D-1E6A0CFBC0A6}"/>
              </a:ext>
            </a:extLst>
          </p:cNvPr>
          <p:cNvCxnSpPr/>
          <p:nvPr/>
        </p:nvCxnSpPr>
        <p:spPr>
          <a:xfrm flipV="1">
            <a:off x="3547872" y="2706624"/>
            <a:ext cx="2532888" cy="84582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036953-5A4B-466F-A73A-37AB449C5322}"/>
              </a:ext>
            </a:extLst>
          </p:cNvPr>
          <p:cNvCxnSpPr/>
          <p:nvPr/>
        </p:nvCxnSpPr>
        <p:spPr>
          <a:xfrm flipV="1">
            <a:off x="6247785" y="2666909"/>
            <a:ext cx="2532888" cy="84582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AF4F28-EB03-4621-B0BC-E1DBC71E2113}"/>
              </a:ext>
            </a:extLst>
          </p:cNvPr>
          <p:cNvCxnSpPr>
            <a:cxnSpLocks/>
          </p:cNvCxnSpPr>
          <p:nvPr/>
        </p:nvCxnSpPr>
        <p:spPr>
          <a:xfrm flipV="1">
            <a:off x="3345056" y="3826292"/>
            <a:ext cx="419100" cy="5527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1416A2-3296-430E-8A3B-02958ECE30EC}"/>
              </a:ext>
            </a:extLst>
          </p:cNvPr>
          <p:cNvCxnSpPr>
            <a:cxnSpLocks/>
          </p:cNvCxnSpPr>
          <p:nvPr/>
        </p:nvCxnSpPr>
        <p:spPr>
          <a:xfrm flipV="1">
            <a:off x="4073008" y="3788672"/>
            <a:ext cx="419100" cy="5527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9135FB-5A1E-43D8-ACD8-58E0BEA5C727}"/>
              </a:ext>
            </a:extLst>
          </p:cNvPr>
          <p:cNvCxnSpPr>
            <a:cxnSpLocks/>
          </p:cNvCxnSpPr>
          <p:nvPr/>
        </p:nvCxnSpPr>
        <p:spPr>
          <a:xfrm flipV="1">
            <a:off x="1837820" y="3855093"/>
            <a:ext cx="419100" cy="5527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CCCF0E-3F22-4B1C-9388-BDB111F41869}"/>
              </a:ext>
            </a:extLst>
          </p:cNvPr>
          <p:cNvCxnSpPr>
            <a:cxnSpLocks/>
          </p:cNvCxnSpPr>
          <p:nvPr/>
        </p:nvCxnSpPr>
        <p:spPr>
          <a:xfrm flipV="1">
            <a:off x="1111991" y="3835166"/>
            <a:ext cx="419100" cy="5527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32C50D1-B011-4DB1-9592-5025C49B635E}"/>
              </a:ext>
            </a:extLst>
          </p:cNvPr>
          <p:cNvCxnSpPr/>
          <p:nvPr/>
        </p:nvCxnSpPr>
        <p:spPr>
          <a:xfrm>
            <a:off x="1044295" y="4293439"/>
            <a:ext cx="55449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745916-713A-4270-B9E3-8E3584AA7265}"/>
              </a:ext>
            </a:extLst>
          </p:cNvPr>
          <p:cNvCxnSpPr>
            <a:cxnSpLocks/>
          </p:cNvCxnSpPr>
          <p:nvPr/>
        </p:nvCxnSpPr>
        <p:spPr>
          <a:xfrm flipV="1">
            <a:off x="449493" y="3798202"/>
            <a:ext cx="419100" cy="5527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36BF802-1AD6-43ED-A687-F082F9730495}"/>
              </a:ext>
            </a:extLst>
          </p:cNvPr>
          <p:cNvCxnSpPr>
            <a:cxnSpLocks/>
          </p:cNvCxnSpPr>
          <p:nvPr/>
        </p:nvCxnSpPr>
        <p:spPr>
          <a:xfrm flipV="1">
            <a:off x="2722507" y="3835166"/>
            <a:ext cx="419100" cy="5527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97DA15-9E23-4CB4-A6AD-7EFF33E92387}"/>
              </a:ext>
            </a:extLst>
          </p:cNvPr>
          <p:cNvCxnSpPr>
            <a:cxnSpLocks/>
          </p:cNvCxnSpPr>
          <p:nvPr/>
        </p:nvCxnSpPr>
        <p:spPr>
          <a:xfrm>
            <a:off x="4941163" y="4341422"/>
            <a:ext cx="109387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79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Saturated Water?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0171A-15B4-4557-A935-8CC4893A4722}"/>
              </a:ext>
            </a:extLst>
          </p:cNvPr>
          <p:cNvSpPr txBox="1"/>
          <p:nvPr/>
        </p:nvSpPr>
        <p:spPr>
          <a:xfrm>
            <a:off x="86446" y="638315"/>
            <a:ext cx="89711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saturated water </a:t>
            </a:r>
            <a:r>
              <a:rPr lang="en-US" sz="2400" dirty="0"/>
              <a:t>is contained in a vertical piston-cylinder assembly by a piston with a face area of 0.02 m</a:t>
            </a:r>
            <a:r>
              <a:rPr lang="en-US" sz="2400" baseline="30000" dirty="0"/>
              <a:t>2</a:t>
            </a:r>
            <a:r>
              <a:rPr lang="en-US" sz="2400" dirty="0"/>
              <a:t> and a mass of 40 kg. The atmosphere exerts a pressure of 1 bar on top of the piston. A paddle wheel does 3 kJ of work on the fluid during a process in which the elevation of the piston increases by 0.1 m.  The system stays in thermal equilibrium with the environment throughout the process.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B4EAA-CA10-456B-B2E8-B0C4CF1991F4}"/>
              </a:ext>
            </a:extLst>
          </p:cNvPr>
          <p:cNvSpPr txBox="1"/>
          <p:nvPr/>
        </p:nvSpPr>
        <p:spPr>
          <a:xfrm>
            <a:off x="0" y="2946639"/>
            <a:ext cx="9303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Where does the energy go if 3 kJ of work was input by the paddle wheel?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87D63-A467-43D5-87A0-4A9F31361ADF}"/>
              </a:ext>
            </a:extLst>
          </p:cNvPr>
          <p:cNvSpPr txBox="1"/>
          <p:nvPr/>
        </p:nvSpPr>
        <p:spPr>
          <a:xfrm>
            <a:off x="1631581" y="3449697"/>
            <a:ext cx="50748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Q, U, P.E., K.E.</a:t>
            </a:r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Q, U, P.E. only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Q, U only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To </a:t>
            </a:r>
            <a:r>
              <a:rPr lang="en-US" sz="2800" i="1" dirty="0"/>
              <a:t>W, Q only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AutoNum type="alphaUcPeriod"/>
            </a:pPr>
            <a:r>
              <a:rPr lang="en-US" sz="2800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86422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Application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639743-262B-4872-A152-C6CCF67F97BD}"/>
              </a:ext>
            </a:extLst>
          </p:cNvPr>
          <p:cNvSpPr txBox="1"/>
          <p:nvPr/>
        </p:nvSpPr>
        <p:spPr>
          <a:xfrm>
            <a:off x="86446" y="638315"/>
            <a:ext cx="8971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Is the net power of typical internal combustion engines affected by the weight of pistons and atmospheric pressure?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5125AE-C520-4C9F-A109-A9FC43E4A846}"/>
              </a:ext>
            </a:extLst>
          </p:cNvPr>
          <p:cNvSpPr txBox="1"/>
          <p:nvPr/>
        </p:nvSpPr>
        <p:spPr>
          <a:xfrm>
            <a:off x="471296" y="1624261"/>
            <a:ext cx="56780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2800" dirty="0"/>
              <a:t>Yes, by the piston weight and atmospheric pressure.</a:t>
            </a:r>
          </a:p>
          <a:p>
            <a:pPr marL="342900" indent="-342900">
              <a:buAutoNum type="alphaUcPeriod"/>
            </a:pP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Yes, but by the piston weight only.</a:t>
            </a:r>
          </a:p>
          <a:p>
            <a:pPr marL="342900" indent="-342900">
              <a:buAutoNum type="alphaUcPeriod"/>
            </a:pP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Yes, but by atmospheric pressure work only.</a:t>
            </a:r>
          </a:p>
          <a:p>
            <a:pPr marL="342900" indent="-342900">
              <a:buAutoNum type="alphaUcPeriod"/>
            </a:pP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Neither.</a:t>
            </a:r>
          </a:p>
          <a:p>
            <a:pPr marL="342900" indent="-342900">
              <a:buAutoNum type="alphaUcPeriod"/>
            </a:pPr>
            <a:endParaRPr lang="en-US" sz="2800" dirty="0"/>
          </a:p>
        </p:txBody>
      </p:sp>
      <p:pic>
        <p:nvPicPr>
          <p:cNvPr id="9" name="Picture 4" descr="diesel">
            <a:extLst>
              <a:ext uri="{FF2B5EF4-FFF2-40B4-BE49-F238E27FC236}">
                <a16:creationId xmlns:a16="http://schemas.microsoft.com/office/drawing/2014/main" id="{F9D6CBC7-DA6A-4852-A51A-47B41D5A61F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304" y="1574131"/>
            <a:ext cx="3132734" cy="4652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322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Application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639743-262B-4872-A152-C6CCF67F97BD}"/>
              </a:ext>
            </a:extLst>
          </p:cNvPr>
          <p:cNvSpPr txBox="1"/>
          <p:nvPr/>
        </p:nvSpPr>
        <p:spPr>
          <a:xfrm>
            <a:off x="86446" y="638315"/>
            <a:ext cx="8971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Is the net power of typical internal combustion engines affected by the weight of pistons and atmospheric pressure?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9CA9004-66D3-4E19-820A-9F1649ABB84D}"/>
              </a:ext>
            </a:extLst>
          </p:cNvPr>
          <p:cNvGrpSpPr/>
          <p:nvPr/>
        </p:nvGrpSpPr>
        <p:grpSpPr>
          <a:xfrm>
            <a:off x="1129280" y="2313453"/>
            <a:ext cx="2466789" cy="2879268"/>
            <a:chOff x="1709270" y="442014"/>
            <a:chExt cx="2466789" cy="28792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CC9F65-3C8B-4FB0-BA7D-5C2C80CF5931}"/>
                </a:ext>
              </a:extLst>
            </p:cNvPr>
            <p:cNvSpPr/>
            <p:nvPr/>
          </p:nvSpPr>
          <p:spPr>
            <a:xfrm rot="16200000">
              <a:off x="1646696" y="941806"/>
              <a:ext cx="2597392" cy="2161560"/>
            </a:xfrm>
            <a:prstGeom prst="rect">
              <a:avLst/>
            </a:prstGeom>
            <a:solidFill>
              <a:schemeClr val="tx2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8A1FA8-0663-495F-8D59-412371359FC1}"/>
                </a:ext>
              </a:extLst>
            </p:cNvPr>
            <p:cNvSpPr/>
            <p:nvPr/>
          </p:nvSpPr>
          <p:spPr>
            <a:xfrm rot="16200000">
              <a:off x="1646696" y="1086905"/>
              <a:ext cx="2597392" cy="130761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A2B2B46-F786-410F-A65B-725A8E838E08}"/>
                </a:ext>
              </a:extLst>
            </p:cNvPr>
            <p:cNvCxnSpPr/>
            <p:nvPr/>
          </p:nvCxnSpPr>
          <p:spPr>
            <a:xfrm flipV="1">
              <a:off x="2985419" y="1000644"/>
              <a:ext cx="0" cy="1233184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E31084-1BFF-4352-B0E9-BB2CC84289E7}"/>
                </a:ext>
              </a:extLst>
            </p:cNvPr>
            <p:cNvSpPr/>
            <p:nvPr/>
          </p:nvSpPr>
          <p:spPr>
            <a:xfrm rot="16200000">
              <a:off x="2778029" y="1412660"/>
              <a:ext cx="334726" cy="1307610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6DCDD9-B63D-4D7B-9A80-EDFB9EBDCDB2}"/>
                </a:ext>
              </a:extLst>
            </p:cNvPr>
            <p:cNvSpPr/>
            <p:nvPr/>
          </p:nvSpPr>
          <p:spPr>
            <a:xfrm rot="16200000">
              <a:off x="2672898" y="1488293"/>
              <a:ext cx="638908" cy="227349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77FD25-DB95-42EB-AFA8-47848425092D}"/>
                </a:ext>
              </a:extLst>
            </p:cNvPr>
            <p:cNvSpPr txBox="1"/>
            <p:nvPr/>
          </p:nvSpPr>
          <p:spPr>
            <a:xfrm>
              <a:off x="2532229" y="1883302"/>
              <a:ext cx="1147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piston</a:t>
              </a:r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21906EC4-FA08-4810-96BC-80E858F8130D}"/>
                </a:ext>
              </a:extLst>
            </p:cNvPr>
            <p:cNvSpPr/>
            <p:nvPr/>
          </p:nvSpPr>
          <p:spPr>
            <a:xfrm>
              <a:off x="1709270" y="708212"/>
              <a:ext cx="2466789" cy="1165412"/>
            </a:xfrm>
            <a:custGeom>
              <a:avLst/>
              <a:gdLst>
                <a:gd name="connsiteX0" fmla="*/ 0 w 2277036"/>
                <a:gd name="connsiteY0" fmla="*/ 0 h 1165412"/>
                <a:gd name="connsiteX1" fmla="*/ 582706 w 2277036"/>
                <a:gd name="connsiteY1" fmla="*/ 0 h 1165412"/>
                <a:gd name="connsiteX2" fmla="*/ 582706 w 2277036"/>
                <a:gd name="connsiteY2" fmla="*/ 1165412 h 1165412"/>
                <a:gd name="connsiteX3" fmla="*/ 1039906 w 2277036"/>
                <a:gd name="connsiteY3" fmla="*/ 1165412 h 1165412"/>
                <a:gd name="connsiteX4" fmla="*/ 1039906 w 2277036"/>
                <a:gd name="connsiteY4" fmla="*/ 555812 h 1165412"/>
                <a:gd name="connsiteX5" fmla="*/ 1326777 w 2277036"/>
                <a:gd name="connsiteY5" fmla="*/ 555812 h 1165412"/>
                <a:gd name="connsiteX6" fmla="*/ 1326777 w 2277036"/>
                <a:gd name="connsiteY6" fmla="*/ 1165412 h 1165412"/>
                <a:gd name="connsiteX7" fmla="*/ 1721224 w 2277036"/>
                <a:gd name="connsiteY7" fmla="*/ 1165412 h 1165412"/>
                <a:gd name="connsiteX8" fmla="*/ 1721224 w 2277036"/>
                <a:gd name="connsiteY8" fmla="*/ 0 h 1165412"/>
                <a:gd name="connsiteX9" fmla="*/ 2277036 w 2277036"/>
                <a:gd name="connsiteY9" fmla="*/ 0 h 1165412"/>
                <a:gd name="connsiteX10" fmla="*/ 2277036 w 2277036"/>
                <a:gd name="connsiteY10" fmla="*/ 0 h 11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7036" h="1165412">
                  <a:moveTo>
                    <a:pt x="0" y="0"/>
                  </a:moveTo>
                  <a:lnTo>
                    <a:pt x="582706" y="0"/>
                  </a:lnTo>
                  <a:lnTo>
                    <a:pt x="582706" y="1165412"/>
                  </a:lnTo>
                  <a:lnTo>
                    <a:pt x="1039906" y="1165412"/>
                  </a:lnTo>
                  <a:lnTo>
                    <a:pt x="1039906" y="555812"/>
                  </a:lnTo>
                  <a:lnTo>
                    <a:pt x="1326777" y="555812"/>
                  </a:lnTo>
                  <a:lnTo>
                    <a:pt x="1326777" y="1165412"/>
                  </a:lnTo>
                  <a:lnTo>
                    <a:pt x="1721224" y="1165412"/>
                  </a:lnTo>
                  <a:lnTo>
                    <a:pt x="1721224" y="0"/>
                  </a:lnTo>
                  <a:lnTo>
                    <a:pt x="2277036" y="0"/>
                  </a:lnTo>
                  <a:lnTo>
                    <a:pt x="2277036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F50F13-BAD0-4957-B905-A92AC80F3F7F}"/>
              </a:ext>
            </a:extLst>
          </p:cNvPr>
          <p:cNvGrpSpPr/>
          <p:nvPr/>
        </p:nvGrpSpPr>
        <p:grpSpPr>
          <a:xfrm>
            <a:off x="5847224" y="2313454"/>
            <a:ext cx="2161560" cy="2879268"/>
            <a:chOff x="1864612" y="442014"/>
            <a:chExt cx="2161560" cy="287926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01A415A-CF9E-42E6-B733-2AA90D2CE430}"/>
                </a:ext>
              </a:extLst>
            </p:cNvPr>
            <p:cNvSpPr/>
            <p:nvPr/>
          </p:nvSpPr>
          <p:spPr>
            <a:xfrm rot="16200000">
              <a:off x="1646696" y="941806"/>
              <a:ext cx="2597392" cy="2161560"/>
            </a:xfrm>
            <a:prstGeom prst="rect">
              <a:avLst/>
            </a:prstGeom>
            <a:solidFill>
              <a:schemeClr val="tx2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F01771D-FFCF-458B-8507-CD79B12AC30A}"/>
                </a:ext>
              </a:extLst>
            </p:cNvPr>
            <p:cNvSpPr/>
            <p:nvPr/>
          </p:nvSpPr>
          <p:spPr>
            <a:xfrm rot="16200000">
              <a:off x="1646696" y="1086905"/>
              <a:ext cx="2597392" cy="130761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E81019C-5137-4CE4-B307-C6CC5FE853F9}"/>
                </a:ext>
              </a:extLst>
            </p:cNvPr>
            <p:cNvCxnSpPr/>
            <p:nvPr/>
          </p:nvCxnSpPr>
          <p:spPr>
            <a:xfrm flipV="1">
              <a:off x="2985419" y="1000644"/>
              <a:ext cx="0" cy="1233184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D1E584-C0EF-4354-B1B5-45F96616D798}"/>
                </a:ext>
              </a:extLst>
            </p:cNvPr>
            <p:cNvSpPr/>
            <p:nvPr/>
          </p:nvSpPr>
          <p:spPr>
            <a:xfrm rot="16200000">
              <a:off x="2778029" y="1412660"/>
              <a:ext cx="334726" cy="1307610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E80BF06-3199-4148-ACB6-6B87F203E752}"/>
                </a:ext>
              </a:extLst>
            </p:cNvPr>
            <p:cNvSpPr/>
            <p:nvPr/>
          </p:nvSpPr>
          <p:spPr>
            <a:xfrm rot="16200000">
              <a:off x="2672898" y="1488293"/>
              <a:ext cx="638908" cy="227349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C3EA55-B31E-4D7B-B080-30D9F8872378}"/>
                </a:ext>
              </a:extLst>
            </p:cNvPr>
            <p:cNvSpPr txBox="1"/>
            <p:nvPr/>
          </p:nvSpPr>
          <p:spPr>
            <a:xfrm>
              <a:off x="2532229" y="1883302"/>
              <a:ext cx="1147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piston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C5E9053-74C6-4939-898E-28D96A4E4102}"/>
                </a:ext>
              </a:extLst>
            </p:cNvPr>
            <p:cNvSpPr/>
            <p:nvPr/>
          </p:nvSpPr>
          <p:spPr>
            <a:xfrm>
              <a:off x="2330434" y="2279529"/>
              <a:ext cx="1224074" cy="7146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467DCE9-41C3-4509-AE30-6DE3FB7324A2}"/>
              </a:ext>
            </a:extLst>
          </p:cNvPr>
          <p:cNvSpPr txBox="1"/>
          <p:nvPr/>
        </p:nvSpPr>
        <p:spPr>
          <a:xfrm>
            <a:off x="1880882" y="4332793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 bar</a:t>
            </a:r>
          </a:p>
        </p:txBody>
      </p:sp>
    </p:spTree>
    <p:extLst>
      <p:ext uri="{BB962C8B-B14F-4D97-AF65-F5344CB8AC3E}">
        <p14:creationId xmlns:p14="http://schemas.microsoft.com/office/powerpoint/2010/main" val="275753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Closed System Operating over a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D396A6-4A55-4AD4-8776-76249182ABD5}"/>
              </a:ext>
            </a:extLst>
          </p:cNvPr>
          <p:cNvSpPr txBox="1"/>
          <p:nvPr/>
        </p:nvSpPr>
        <p:spPr>
          <a:xfrm>
            <a:off x="86446" y="638315"/>
            <a:ext cx="8971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A cycle defines a certain type of process path: one in which the end state and the beginning state are the same.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5DC40-7A9F-4128-8ED3-34290BDB4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11" y="1892164"/>
            <a:ext cx="3896142" cy="33161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9BB71-9F44-492A-807A-AC9CF7DA3A4F}"/>
                  </a:ext>
                </a:extLst>
              </p:cNvPr>
              <p:cNvSpPr txBox="1"/>
              <p:nvPr/>
            </p:nvSpPr>
            <p:spPr>
              <a:xfrm>
                <a:off x="4156953" y="2002536"/>
                <a:ext cx="4533138" cy="13633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𝑖𝑛𝑖𝑡𝑖𝑎𝑙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E9BB71-9F44-492A-807A-AC9CF7DA3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953" y="2002536"/>
                <a:ext cx="4533138" cy="1363322"/>
              </a:xfrm>
              <a:prstGeom prst="rect">
                <a:avLst/>
              </a:prstGeom>
              <a:blipFill>
                <a:blip r:embed="rId5"/>
                <a:stretch>
                  <a:fillRect l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0B37A7-E170-47F7-9C28-3544485160E1}"/>
                  </a:ext>
                </a:extLst>
              </p:cNvPr>
              <p:cNvSpPr txBox="1"/>
              <p:nvPr/>
            </p:nvSpPr>
            <p:spPr>
              <a:xfrm>
                <a:off x="5374386" y="4211353"/>
                <a:ext cx="1919693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0B37A7-E170-47F7-9C28-354448516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386" y="4211353"/>
                <a:ext cx="1919693" cy="9687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59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Modes of Energy Transfer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C149E7-5E95-4568-AA5E-ABB5BFDD14BD}"/>
              </a:ext>
            </a:extLst>
          </p:cNvPr>
          <p:cNvSpPr/>
          <p:nvPr/>
        </p:nvSpPr>
        <p:spPr>
          <a:xfrm>
            <a:off x="1043680" y="1158993"/>
            <a:ext cx="705145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Convective transport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Heat transfer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Work transfer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C9FE57-D57D-48FF-B533-C0113B3338E3}"/>
                  </a:ext>
                </a:extLst>
              </p:cNvPr>
              <p:cNvSpPr/>
              <p:nvPr/>
            </p:nvSpPr>
            <p:spPr>
              <a:xfrm>
                <a:off x="726139" y="3272332"/>
                <a:ext cx="7960658" cy="18847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𝑝𝑒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𝑘𝑒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𝑝𝑣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𝑝𝑒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𝑘𝑒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𝑝𝑣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C9FE57-D57D-48FF-B533-C0113B333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9" y="3272332"/>
                <a:ext cx="7960658" cy="1884747"/>
              </a:xfrm>
              <a:prstGeom prst="rect">
                <a:avLst/>
              </a:prstGeom>
              <a:blipFill>
                <a:blip r:embed="rId4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4559C5-5062-4448-B3F3-A19207066EFC}"/>
                  </a:ext>
                </a:extLst>
              </p:cNvPr>
              <p:cNvSpPr/>
              <p:nvPr/>
            </p:nvSpPr>
            <p:spPr>
              <a:xfrm>
                <a:off x="4565272" y="2736415"/>
                <a:ext cx="26223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𝑈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𝑃𝐸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𝐾𝐸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4559C5-5062-4448-B3F3-A19207066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72" y="2736415"/>
                <a:ext cx="262232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14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Convective Transport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688D5A-00FC-4C38-8DBF-E20189409CA2}"/>
              </a:ext>
            </a:extLst>
          </p:cNvPr>
          <p:cNvSpPr/>
          <p:nvPr/>
        </p:nvSpPr>
        <p:spPr>
          <a:xfrm>
            <a:off x="185663" y="659709"/>
            <a:ext cx="87726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Whenever there is bulk flow of matter across a system boundary, there is also an accompanying energy transport.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FCEB250C-3D6A-4067-9A65-4E69B63AB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715" y="3007222"/>
            <a:ext cx="395287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B34760-0F2E-4FAE-A8D9-21A225886AE5}"/>
                  </a:ext>
                </a:extLst>
              </p:cNvPr>
              <p:cNvSpPr/>
              <p:nvPr/>
            </p:nvSpPr>
            <p:spPr>
              <a:xfrm>
                <a:off x="0" y="2037596"/>
                <a:ext cx="55265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𝑝𝑒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B34760-0F2E-4FAE-A8D9-21A225886A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37596"/>
                <a:ext cx="5526513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090A9C7-7E0B-434B-A846-ECD00321E28B}"/>
              </a:ext>
            </a:extLst>
          </p:cNvPr>
          <p:cNvGrpSpPr/>
          <p:nvPr/>
        </p:nvGrpSpPr>
        <p:grpSpPr>
          <a:xfrm>
            <a:off x="107304" y="2717780"/>
            <a:ext cx="2968131" cy="1578428"/>
            <a:chOff x="598294" y="3198376"/>
            <a:chExt cx="2968131" cy="1578428"/>
          </a:xfrm>
        </p:grpSpPr>
        <p:sp>
          <p:nvSpPr>
            <p:cNvPr id="11" name="Can 9">
              <a:extLst>
                <a:ext uri="{FF2B5EF4-FFF2-40B4-BE49-F238E27FC236}">
                  <a16:creationId xmlns:a16="http://schemas.microsoft.com/office/drawing/2014/main" id="{5FCEFDB9-113F-4B75-A2B0-4C1872BF2A25}"/>
                </a:ext>
              </a:extLst>
            </p:cNvPr>
            <p:cNvSpPr/>
            <p:nvPr/>
          </p:nvSpPr>
          <p:spPr>
            <a:xfrm rot="16200000">
              <a:off x="1464480" y="3212902"/>
              <a:ext cx="1569692" cy="1553814"/>
            </a:xfrm>
            <a:prstGeom prst="can">
              <a:avLst>
                <a:gd name="adj" fmla="val 45111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C18490-61B7-4FE7-937D-32BC1A6DCEA4}"/>
                </a:ext>
              </a:extLst>
            </p:cNvPr>
            <p:cNvSpPr/>
            <p:nvPr/>
          </p:nvSpPr>
          <p:spPr>
            <a:xfrm>
              <a:off x="1472418" y="3198376"/>
              <a:ext cx="696685" cy="157842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2E7E468-F7C5-4C0B-BDE2-86197BDB9C46}"/>
                </a:ext>
              </a:extLst>
            </p:cNvPr>
            <p:cNvCxnSpPr/>
            <p:nvPr/>
          </p:nvCxnSpPr>
          <p:spPr>
            <a:xfrm>
              <a:off x="598294" y="3201483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05A4B0A-6454-4F71-8C64-2E8EA1F5CC04}"/>
                </a:ext>
              </a:extLst>
            </p:cNvPr>
            <p:cNvCxnSpPr/>
            <p:nvPr/>
          </p:nvCxnSpPr>
          <p:spPr>
            <a:xfrm>
              <a:off x="598294" y="3551555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EC7E7C-75B7-4613-BD4D-D871948463C5}"/>
                </a:ext>
              </a:extLst>
            </p:cNvPr>
            <p:cNvCxnSpPr/>
            <p:nvPr/>
          </p:nvCxnSpPr>
          <p:spPr>
            <a:xfrm>
              <a:off x="598294" y="3726591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393F6CB-F955-4565-8881-C54B300FC4BE}"/>
                </a:ext>
              </a:extLst>
            </p:cNvPr>
            <p:cNvCxnSpPr/>
            <p:nvPr/>
          </p:nvCxnSpPr>
          <p:spPr>
            <a:xfrm>
              <a:off x="598294" y="4076663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4040062-80F3-411C-935B-06DC40E53605}"/>
                </a:ext>
              </a:extLst>
            </p:cNvPr>
            <p:cNvCxnSpPr/>
            <p:nvPr/>
          </p:nvCxnSpPr>
          <p:spPr>
            <a:xfrm>
              <a:off x="598294" y="3901627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2E252B6-CEF5-4D84-8DFA-C23D410BD881}"/>
                </a:ext>
              </a:extLst>
            </p:cNvPr>
            <p:cNvCxnSpPr/>
            <p:nvPr/>
          </p:nvCxnSpPr>
          <p:spPr>
            <a:xfrm>
              <a:off x="598294" y="4251699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13CCAE0-2902-4C91-BEBA-393BE409790B}"/>
                </a:ext>
              </a:extLst>
            </p:cNvPr>
            <p:cNvCxnSpPr/>
            <p:nvPr/>
          </p:nvCxnSpPr>
          <p:spPr>
            <a:xfrm>
              <a:off x="598294" y="4426735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BB01C93-4231-47FE-9782-4ECE147E1B28}"/>
                </a:ext>
              </a:extLst>
            </p:cNvPr>
            <p:cNvCxnSpPr/>
            <p:nvPr/>
          </p:nvCxnSpPr>
          <p:spPr>
            <a:xfrm>
              <a:off x="598294" y="4601771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9CF698D-8089-4B1B-97CA-D7C603E3E70B}"/>
                </a:ext>
              </a:extLst>
            </p:cNvPr>
            <p:cNvCxnSpPr/>
            <p:nvPr/>
          </p:nvCxnSpPr>
          <p:spPr>
            <a:xfrm>
              <a:off x="598294" y="4776804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0935761-1704-4254-AC11-81B9EE28DB39}"/>
                </a:ext>
              </a:extLst>
            </p:cNvPr>
            <p:cNvCxnSpPr/>
            <p:nvPr/>
          </p:nvCxnSpPr>
          <p:spPr>
            <a:xfrm>
              <a:off x="598294" y="3376519"/>
              <a:ext cx="71845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107895C-45E8-4AFF-9257-CACE3BB96F17}"/>
                </a:ext>
              </a:extLst>
            </p:cNvPr>
            <p:cNvCxnSpPr/>
            <p:nvPr/>
          </p:nvCxnSpPr>
          <p:spPr>
            <a:xfrm>
              <a:off x="1820760" y="3207112"/>
              <a:ext cx="17456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3C83721-A799-4328-9B08-C1FC550D6A80}"/>
                </a:ext>
              </a:extLst>
            </p:cNvPr>
            <p:cNvCxnSpPr/>
            <p:nvPr/>
          </p:nvCxnSpPr>
          <p:spPr>
            <a:xfrm>
              <a:off x="1820760" y="4776804"/>
              <a:ext cx="17456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75099D-C401-42DD-961C-626ED77AC791}"/>
                </a:ext>
              </a:extLst>
            </p:cNvPr>
            <p:cNvSpPr txBox="1"/>
            <p:nvPr/>
          </p:nvSpPr>
          <p:spPr>
            <a:xfrm>
              <a:off x="1697696" y="371720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3577713-D2F4-4A85-9837-57A3512027DF}"/>
              </a:ext>
            </a:extLst>
          </p:cNvPr>
          <p:cNvSpPr/>
          <p:nvPr/>
        </p:nvSpPr>
        <p:spPr>
          <a:xfrm>
            <a:off x="3188026" y="3359974"/>
            <a:ext cx="1470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Flow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81403B-6A8E-433C-B5C8-88253A430035}"/>
                  </a:ext>
                </a:extLst>
              </p:cNvPr>
              <p:cNvSpPr txBox="1"/>
              <p:nvPr/>
            </p:nvSpPr>
            <p:spPr>
              <a:xfrm>
                <a:off x="981428" y="4410605"/>
                <a:ext cx="6684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81403B-6A8E-433C-B5C8-88253A430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28" y="4410605"/>
                <a:ext cx="668452" cy="276999"/>
              </a:xfrm>
              <a:prstGeom prst="rect">
                <a:avLst/>
              </a:prstGeom>
              <a:blipFill>
                <a:blip r:embed="rId6"/>
                <a:stretch>
                  <a:fillRect l="-8182" r="-272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126A35-4FDD-45A9-89D9-D83E9C025C66}"/>
                  </a:ext>
                </a:extLst>
              </p:cNvPr>
              <p:cNvSpPr txBox="1"/>
              <p:nvPr/>
            </p:nvSpPr>
            <p:spPr>
              <a:xfrm>
                <a:off x="2157956" y="4439120"/>
                <a:ext cx="2044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126A35-4FDD-45A9-89D9-D83E9C025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956" y="4439120"/>
                <a:ext cx="204479" cy="276999"/>
              </a:xfrm>
              <a:prstGeom prst="rect">
                <a:avLst/>
              </a:prstGeom>
              <a:blipFill>
                <a:blip r:embed="rId7"/>
                <a:stretch>
                  <a:fillRect l="-29412" r="-2058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50E162-7DCE-4553-9B9F-68E6DFD8596E}"/>
                  </a:ext>
                </a:extLst>
              </p:cNvPr>
              <p:cNvSpPr txBox="1"/>
              <p:nvPr/>
            </p:nvSpPr>
            <p:spPr>
              <a:xfrm>
                <a:off x="369829" y="4897192"/>
                <a:ext cx="3441262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𝑝𝑑𝑉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50E162-7DCE-4553-9B9F-68E6DFD85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29" y="4897192"/>
                <a:ext cx="3441262" cy="7265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08632EB-04B7-4D8C-9E6F-32CECFE6BBB5}"/>
                  </a:ext>
                </a:extLst>
              </p:cNvPr>
              <p:cNvSpPr txBox="1"/>
              <p:nvPr/>
            </p:nvSpPr>
            <p:spPr>
              <a:xfrm>
                <a:off x="527290" y="5761048"/>
                <a:ext cx="3215689" cy="485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Flow work 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08632EB-04B7-4D8C-9E6F-32CECFE6B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90" y="5761048"/>
                <a:ext cx="3215689" cy="485646"/>
              </a:xfrm>
              <a:prstGeom prst="rect">
                <a:avLst/>
              </a:prstGeom>
              <a:blipFill>
                <a:blip r:embed="rId9"/>
                <a:stretch>
                  <a:fillRect l="-1515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37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  <p:bldP spid="4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Modes of Energy Transfer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64F2EC-113D-4B62-AEE2-D87675AE95A3}"/>
              </a:ext>
            </a:extLst>
          </p:cNvPr>
          <p:cNvSpPr/>
          <p:nvPr/>
        </p:nvSpPr>
        <p:spPr>
          <a:xfrm>
            <a:off x="952240" y="858463"/>
            <a:ext cx="705145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Convective transport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Heat transfer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Work transfer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EA6278B-2D5A-4F31-8BC6-D315BB63702E}"/>
                  </a:ext>
                </a:extLst>
              </p:cNvPr>
              <p:cNvSpPr/>
              <p:nvPr/>
            </p:nvSpPr>
            <p:spPr>
              <a:xfrm>
                <a:off x="213889" y="3414934"/>
                <a:ext cx="8604504" cy="8392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𝑝𝑒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𝑘𝑒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𝑝𝑣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𝑝𝑒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𝑘𝑒</m:t>
                              </m:r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𝑝𝑣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EA6278B-2D5A-4F31-8BC6-D315BB6370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89" y="3414934"/>
                <a:ext cx="8604504" cy="839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64CF0E-0E74-4547-B538-974E7D7CBC2F}"/>
                  </a:ext>
                </a:extLst>
              </p:cNvPr>
              <p:cNvSpPr/>
              <p:nvPr/>
            </p:nvSpPr>
            <p:spPr>
              <a:xfrm>
                <a:off x="5415664" y="1970396"/>
                <a:ext cx="222041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𝐸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𝑈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𝑃𝐸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𝐾𝐸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64CF0E-0E74-4547-B538-974E7D7CB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664" y="1970396"/>
                <a:ext cx="222041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AE9DAB-5A21-4052-B2D2-B482A54C5B8D}"/>
                  </a:ext>
                </a:extLst>
              </p:cNvPr>
              <p:cNvSpPr/>
              <p:nvPr/>
            </p:nvSpPr>
            <p:spPr>
              <a:xfrm>
                <a:off x="314473" y="4424477"/>
                <a:ext cx="7747890" cy="8648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AE9DAB-5A21-4052-B2D2-B482A54C5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73" y="4424477"/>
                <a:ext cx="7747890" cy="8648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65C4631-536F-4D8C-91E9-825614B854CF}"/>
              </a:ext>
            </a:extLst>
          </p:cNvPr>
          <p:cNvSpPr/>
          <p:nvPr/>
        </p:nvSpPr>
        <p:spPr>
          <a:xfrm>
            <a:off x="3995992" y="5599427"/>
            <a:ext cx="4197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Enthalpy = internal energy + flow work</a:t>
            </a:r>
          </a:p>
        </p:txBody>
      </p:sp>
    </p:spTree>
    <p:extLst>
      <p:ext uri="{BB962C8B-B14F-4D97-AF65-F5344CB8AC3E}">
        <p14:creationId xmlns:p14="http://schemas.microsoft.com/office/powerpoint/2010/main" val="557669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Modes of Heat Transfer (ME 320)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C68B79-6D88-441B-B224-F7B65D50DF87}"/>
              </a:ext>
            </a:extLst>
          </p:cNvPr>
          <p:cNvSpPr txBox="1"/>
          <p:nvPr/>
        </p:nvSpPr>
        <p:spPr>
          <a:xfrm>
            <a:off x="326977" y="1819693"/>
            <a:ext cx="1968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Conduction</a:t>
            </a:r>
          </a:p>
          <a:p>
            <a:pPr marL="342900" indent="-342900">
              <a:buFont typeface="Arial" charset="0"/>
              <a:buChar char="•"/>
            </a:pP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BA368-24D1-4D99-B698-71591B596770}"/>
              </a:ext>
            </a:extLst>
          </p:cNvPr>
          <p:cNvSpPr/>
          <p:nvPr/>
        </p:nvSpPr>
        <p:spPr>
          <a:xfrm>
            <a:off x="326976" y="4624636"/>
            <a:ext cx="39854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Convection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12A1F5-D149-4BDC-A8FE-C760B0C6C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492" y="1172007"/>
            <a:ext cx="2751667" cy="2222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37F2A2-B1CB-45D1-B574-E72665DF0CDB}"/>
              </a:ext>
            </a:extLst>
          </p:cNvPr>
          <p:cNvSpPr/>
          <p:nvPr/>
        </p:nvSpPr>
        <p:spPr>
          <a:xfrm>
            <a:off x="6040115" y="2419857"/>
            <a:ext cx="2742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/>
              <a:t>Radiation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06B939-7C12-416C-842A-BB5ABF825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858" y="4743414"/>
            <a:ext cx="2233984" cy="15726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93DFF3-311C-4B62-95EC-00FE977B7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9021" y="3044480"/>
            <a:ext cx="3567017" cy="19328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9E4BD2-1F30-4FC7-9745-19CDE90C0579}"/>
                  </a:ext>
                </a:extLst>
              </p:cNvPr>
              <p:cNvSpPr txBox="1"/>
              <p:nvPr/>
            </p:nvSpPr>
            <p:spPr>
              <a:xfrm>
                <a:off x="546354" y="2514585"/>
                <a:ext cx="1702967" cy="701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𝑘𝐴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9E4BD2-1F30-4FC7-9745-19CDE90C0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54" y="2514585"/>
                <a:ext cx="1702967" cy="7012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672346-0DC7-4403-B1FC-5D8CDE6A73DA}"/>
                  </a:ext>
                </a:extLst>
              </p:cNvPr>
              <p:cNvSpPr txBox="1"/>
              <p:nvPr/>
            </p:nvSpPr>
            <p:spPr>
              <a:xfrm>
                <a:off x="204978" y="5461783"/>
                <a:ext cx="2307106" cy="421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h𝐴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672346-0DC7-4403-B1FC-5D8CDE6A7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78" y="5461783"/>
                <a:ext cx="2307106" cy="4214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D873D7-73EF-4E56-8EDB-78EB5A608D11}"/>
                  </a:ext>
                </a:extLst>
              </p:cNvPr>
              <p:cNvSpPr txBox="1"/>
              <p:nvPr/>
            </p:nvSpPr>
            <p:spPr>
              <a:xfrm>
                <a:off x="3750183" y="5343317"/>
                <a:ext cx="657225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D873D7-73EF-4E56-8EDB-78EB5A608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183" y="5343317"/>
                <a:ext cx="657225" cy="391582"/>
              </a:xfrm>
              <a:prstGeom prst="rect">
                <a:avLst/>
              </a:prstGeom>
              <a:blipFill>
                <a:blip r:embed="rId9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B432BE-E708-4B00-9CD6-F7804DD80E0D}"/>
                  </a:ext>
                </a:extLst>
              </p:cNvPr>
              <p:cNvSpPr txBox="1"/>
              <p:nvPr/>
            </p:nvSpPr>
            <p:spPr>
              <a:xfrm>
                <a:off x="4887522" y="5223397"/>
                <a:ext cx="5246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B432BE-E708-4B00-9CD6-F7804DD80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522" y="5223397"/>
                <a:ext cx="52463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FC5F29-996F-436E-8E13-8F12AF8BA2EF}"/>
                  </a:ext>
                </a:extLst>
              </p:cNvPr>
              <p:cNvSpPr txBox="1"/>
              <p:nvPr/>
            </p:nvSpPr>
            <p:spPr>
              <a:xfrm>
                <a:off x="5892273" y="5314557"/>
                <a:ext cx="2549416" cy="389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𝜀𝜎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FC5F29-996F-436E-8E13-8F12AF8BA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273" y="5314557"/>
                <a:ext cx="2549416" cy="3899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76A765-797D-4C5D-8811-187058D82660}"/>
                  </a:ext>
                </a:extLst>
              </p:cNvPr>
              <p:cNvSpPr txBox="1"/>
              <p:nvPr/>
            </p:nvSpPr>
            <p:spPr>
              <a:xfrm>
                <a:off x="3750183" y="1949408"/>
                <a:ext cx="4244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76A765-797D-4C5D-8811-187058D82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183" y="1949408"/>
                <a:ext cx="424475" cy="369332"/>
              </a:xfrm>
              <a:prstGeom prst="rect">
                <a:avLst/>
              </a:prstGeom>
              <a:blipFill>
                <a:blip r:embed="rId12"/>
                <a:stretch>
                  <a:fillRect l="-15714" r="-857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F15E14-8351-4A6F-AC8F-0274B99B76FF}"/>
                  </a:ext>
                </a:extLst>
              </p:cNvPr>
              <p:cNvSpPr txBox="1"/>
              <p:nvPr/>
            </p:nvSpPr>
            <p:spPr>
              <a:xfrm>
                <a:off x="6852023" y="1316127"/>
                <a:ext cx="629916" cy="383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F15E14-8351-4A6F-AC8F-0274B99B7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023" y="1316127"/>
                <a:ext cx="629916" cy="383310"/>
              </a:xfrm>
              <a:prstGeom prst="rect">
                <a:avLst/>
              </a:prstGeom>
              <a:blipFill>
                <a:blip r:embed="rId13"/>
                <a:stretch>
                  <a:fillRect l="-15534" t="-15873" r="-679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92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5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Modes of Energy Transfer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64F2EC-113D-4B62-AEE2-D87675AE95A3}"/>
              </a:ext>
            </a:extLst>
          </p:cNvPr>
          <p:cNvSpPr/>
          <p:nvPr/>
        </p:nvSpPr>
        <p:spPr>
          <a:xfrm>
            <a:off x="952240" y="858463"/>
            <a:ext cx="705145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Convective transport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Heat transfer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800" dirty="0"/>
              <a:t>Work transfer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EA6278B-2D5A-4F31-8BC6-D315BB63702E}"/>
                  </a:ext>
                </a:extLst>
              </p:cNvPr>
              <p:cNvSpPr/>
              <p:nvPr/>
            </p:nvSpPr>
            <p:spPr>
              <a:xfrm>
                <a:off x="213889" y="3414934"/>
                <a:ext cx="8604504" cy="8392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𝑝𝑒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𝑘𝑒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𝑝𝑣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𝑝𝑒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𝑘𝑒</m:t>
                              </m:r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𝑝𝑣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EA6278B-2D5A-4F31-8BC6-D315BB6370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89" y="3414934"/>
                <a:ext cx="8604504" cy="839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64CF0E-0E74-4547-B538-974E7D7CBC2F}"/>
                  </a:ext>
                </a:extLst>
              </p:cNvPr>
              <p:cNvSpPr/>
              <p:nvPr/>
            </p:nvSpPr>
            <p:spPr>
              <a:xfrm>
                <a:off x="5415664" y="1970396"/>
                <a:ext cx="222041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𝐸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𝑈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𝑃𝐸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𝐾𝐸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64CF0E-0E74-4547-B538-974E7D7CB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664" y="1970396"/>
                <a:ext cx="222041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AE9DAB-5A21-4052-B2D2-B482A54C5B8D}"/>
                  </a:ext>
                </a:extLst>
              </p:cNvPr>
              <p:cNvSpPr/>
              <p:nvPr/>
            </p:nvSpPr>
            <p:spPr>
              <a:xfrm>
                <a:off x="314473" y="4424477"/>
                <a:ext cx="7747890" cy="8648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AE9DAB-5A21-4052-B2D2-B482A54C5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73" y="4424477"/>
                <a:ext cx="7747890" cy="8648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65C4631-536F-4D8C-91E9-825614B854CF}"/>
              </a:ext>
            </a:extLst>
          </p:cNvPr>
          <p:cNvSpPr/>
          <p:nvPr/>
        </p:nvSpPr>
        <p:spPr>
          <a:xfrm>
            <a:off x="3995992" y="5599427"/>
            <a:ext cx="4197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Enthalpy = internal energy + flow work</a:t>
            </a:r>
          </a:p>
        </p:txBody>
      </p:sp>
    </p:spTree>
    <p:extLst>
      <p:ext uri="{BB962C8B-B14F-4D97-AF65-F5344CB8AC3E}">
        <p14:creationId xmlns:p14="http://schemas.microsoft.com/office/powerpoint/2010/main" val="324457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Modes of Energy Equation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EF6B0868-85FD-4C02-91F6-6D9EAF8C23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9888" y="2436334"/>
                <a:ext cx="8668761" cy="34929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 algn="l">
                  <a:spcAft>
                    <a:spcPts val="1200"/>
                  </a:spcAft>
                  <a:buFont typeface="+mj-lt"/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latin typeface="Cambria Math" charset="0"/>
                          </a:rPr>
                          <m:t>𝑑𝐸</m:t>
                        </m:r>
                      </m:num>
                      <m:den>
                        <m:r>
                          <a:rPr lang="en-US" sz="2800" i="1" smtClean="0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i="1" smtClean="0">
                        <a:latin typeface="Cambria Math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smtClean="0">
                            <a:latin typeface="Cambria Math" charset="0"/>
                          </a:rPr>
                          <m:t>𝑄</m:t>
                        </m:r>
                      </m:e>
                    </m:acc>
                    <m:r>
                      <a:rPr lang="en-US" sz="2800" i="1" smtClean="0">
                        <a:latin typeface="Cambria Math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smtClean="0">
                            <a:latin typeface="Cambria Math" charset="0"/>
                          </a:rPr>
                          <m:t>𝑊</m:t>
                        </m:r>
                      </m:e>
                    </m:acc>
                    <m:r>
                      <a:rPr lang="en-US" sz="2800" i="1" smtClean="0">
                        <a:latin typeface="Cambria Math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sz="2800" i="1" smtClean="0">
                            <a:latin typeface="Cambria Math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 smtClean="0">
                                    <a:latin typeface="Cambria Math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is-I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2800" i="1" smtClean="0">
                            <a:latin typeface="Cambria Math" charset="0"/>
                          </a:rPr>
                          <m:t>+</m:t>
                        </m:r>
                        <m:f>
                          <m:fPr>
                            <m:ctrlPr>
                              <a:rPr lang="bg-BG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smtClean="0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  <m:sSubSup>
                          <m:sSub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𝑖𝑛</m:t>
                            </m:r>
                          </m:sub>
                          <m:sup>
                            <m:r>
                              <a:rPr lang="en-US" sz="280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800" i="1" smtClean="0">
                            <a:latin typeface="Cambria Math" charset="0"/>
                          </a:rPr>
                          <m:t>+</m:t>
                        </m:r>
                        <m:r>
                          <a:rPr lang="en-US" sz="2800" i="1" smtClean="0">
                            <a:latin typeface="Cambria Math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sz="2800" i="1" smtClean="0"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 smtClean="0">
                            <a:latin typeface="Cambria Math" charset="0"/>
                          </a:rPr>
                          <m:t>𝑜</m:t>
                        </m:r>
                        <m:r>
                          <a:rPr lang="en-US" sz="2800" i="1" smtClean="0">
                            <a:latin typeface="Cambria Math" charset="0"/>
                          </a:rPr>
                          <m:t>𝑢𝑡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is-I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+</m:t>
                        </m:r>
                        <m:f>
                          <m:fPr>
                            <m:ctrlPr>
                              <a:rPr lang="bg-BG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𝑜𝑢𝑡</m:t>
                            </m:r>
                          </m:sub>
                          <m:sup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800" i="1">
                            <a:latin typeface="Cambria Math" charset="0"/>
                          </a:rPr>
                          <m:t>+</m:t>
                        </m:r>
                        <m:r>
                          <a:rPr lang="en-US" sz="2800" i="1">
                            <a:latin typeface="Cambria Math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514350" indent="-514350" algn="l">
                  <a:spcAft>
                    <a:spcPts val="1200"/>
                  </a:spcAft>
                  <a:buFont typeface="+mj-lt"/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</a:rPr>
                          <m:t>𝑑</m:t>
                        </m:r>
                        <m:r>
                          <a:rPr lang="en-US" sz="2800" i="1" smtClean="0">
                            <a:latin typeface="Cambria Math" charset="0"/>
                          </a:rPr>
                          <m:t>𝑈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latin typeface="Cambria Math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</a:rPr>
                          <m:t>𝑄</m:t>
                        </m:r>
                      </m:e>
                    </m:acc>
                    <m:r>
                      <a:rPr lang="en-US" sz="2800" i="1">
                        <a:latin typeface="Cambria Math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</a:rPr>
                          <m:t>𝑊</m:t>
                        </m:r>
                      </m:e>
                    </m:acc>
                    <m:r>
                      <a:rPr lang="en-US" sz="2800" i="1">
                        <a:latin typeface="Cambria Math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>
                            <a:latin typeface="Cambria Math" charset="0"/>
                          </a:rPr>
                          <m:t>𝑖</m:t>
                        </m:r>
                        <m:r>
                          <a:rPr lang="en-US" sz="2800" i="1">
                            <a:latin typeface="Cambria Math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is-I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>
                            <a:latin typeface="Cambria Math" charset="0"/>
                          </a:rPr>
                          <m:t>𝑜</m:t>
                        </m:r>
                        <m:r>
                          <a:rPr lang="en-US" sz="2800" i="1">
                            <a:latin typeface="Cambria Math" charset="0"/>
                          </a:rPr>
                          <m:t>𝑢𝑡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is-I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pPr marL="514350" indent="-514350" algn="l">
                  <a:spcAft>
                    <a:spcPts val="1200"/>
                  </a:spcAft>
                  <a:buFont typeface="+mj-lt"/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</a:rPr>
                          <m:t>𝑑𝐸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latin typeface="Cambria Math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</a:rPr>
                          <m:t>𝑄</m:t>
                        </m:r>
                      </m:e>
                    </m:acc>
                    <m:r>
                      <a:rPr lang="en-US" sz="2800" i="1">
                        <a:latin typeface="Cambria Math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</a:rPr>
                          <m:t>𝑊</m:t>
                        </m:r>
                      </m:e>
                    </m:acc>
                    <m:r>
                      <a:rPr lang="en-US" sz="2800" i="1">
                        <a:latin typeface="Cambria Math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>
                            <a:latin typeface="Cambria Math" charset="0"/>
                          </a:rPr>
                          <m:t>𝑖</m:t>
                        </m:r>
                        <m:r>
                          <a:rPr lang="en-US" sz="2800" i="1">
                            <a:latin typeface="Cambria Math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is-I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+</m:t>
                        </m:r>
                        <m:r>
                          <a:rPr lang="en-US" sz="2800" i="1">
                            <a:latin typeface="Cambria Math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>
                            <a:latin typeface="Cambria Math" charset="0"/>
                          </a:rPr>
                          <m:t>𝑜</m:t>
                        </m:r>
                        <m:r>
                          <a:rPr lang="en-US" sz="2800" i="1">
                            <a:latin typeface="Cambria Math" charset="0"/>
                          </a:rPr>
                          <m:t>𝑢𝑡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is-I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+</m:t>
                        </m:r>
                        <m:r>
                          <a:rPr lang="en-US" sz="2800" i="1">
                            <a:latin typeface="Cambria Math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514350" indent="-514350" algn="l">
                  <a:buFont typeface="+mj-lt"/>
                  <a:buAutoNum type="alphaUcPeriod"/>
                </a:pPr>
                <a:endParaRPr lang="en-US" sz="2800" dirty="0"/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EF6B0868-85FD-4C02-91F6-6D9EAF8C2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88" y="2436334"/>
                <a:ext cx="8668761" cy="34929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B3566E02-43AD-42EB-91CB-F024E68622D1}"/>
              </a:ext>
            </a:extLst>
          </p:cNvPr>
          <p:cNvSpPr txBox="1">
            <a:spLocks/>
          </p:cNvSpPr>
          <p:nvPr/>
        </p:nvSpPr>
        <p:spPr>
          <a:xfrm>
            <a:off x="237619" y="916986"/>
            <a:ext cx="866876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How would the 1</a:t>
            </a:r>
            <a:r>
              <a:rPr lang="en-US" sz="3200" baseline="30000" dirty="0"/>
              <a:t>st</a:t>
            </a:r>
            <a:r>
              <a:rPr lang="en-US" sz="3200" dirty="0"/>
              <a:t> law look if you were told that you could ignore the kinetic energy of any inlet and outlet streams? </a:t>
            </a:r>
          </a:p>
        </p:txBody>
      </p:sp>
    </p:spTree>
    <p:extLst>
      <p:ext uri="{BB962C8B-B14F-4D97-AF65-F5344CB8AC3E}">
        <p14:creationId xmlns:p14="http://schemas.microsoft.com/office/powerpoint/2010/main" val="1991549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1</a:t>
            </a:r>
            <a:r>
              <a:rPr lang="en-US" sz="3300" baseline="30000" dirty="0"/>
              <a:t>st</a:t>
            </a:r>
            <a:r>
              <a:rPr lang="en-US" sz="3300" dirty="0"/>
              <a:t> Law, Open System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22" name="Down Arrow 3">
            <a:extLst>
              <a:ext uri="{FF2B5EF4-FFF2-40B4-BE49-F238E27FC236}">
                <a16:creationId xmlns:a16="http://schemas.microsoft.com/office/drawing/2014/main" id="{B4776FB7-4F9F-4463-8EA8-8D6C2ED75EC0}"/>
              </a:ext>
            </a:extLst>
          </p:cNvPr>
          <p:cNvSpPr/>
          <p:nvPr/>
        </p:nvSpPr>
        <p:spPr>
          <a:xfrm rot="13387445">
            <a:off x="4887196" y="1013404"/>
            <a:ext cx="352817" cy="905204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2542CD27-50DF-4D19-9F29-D64D1E46B5D2}"/>
              </a:ext>
            </a:extLst>
          </p:cNvPr>
          <p:cNvSpPr/>
          <p:nvPr/>
        </p:nvSpPr>
        <p:spPr>
          <a:xfrm>
            <a:off x="2689056" y="1718719"/>
            <a:ext cx="2546798" cy="1310017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B11C31-F6A8-43D1-BFDE-F254FAC1BA1D}"/>
              </a:ext>
            </a:extLst>
          </p:cNvPr>
          <p:cNvCxnSpPr/>
          <p:nvPr/>
        </p:nvCxnSpPr>
        <p:spPr>
          <a:xfrm flipV="1">
            <a:off x="4935690" y="1907664"/>
            <a:ext cx="910601" cy="47272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D11E96-11B5-4917-94D9-E55154B72851}"/>
              </a:ext>
            </a:extLst>
          </p:cNvPr>
          <p:cNvCxnSpPr/>
          <p:nvPr/>
        </p:nvCxnSpPr>
        <p:spPr>
          <a:xfrm>
            <a:off x="1758530" y="2380383"/>
            <a:ext cx="1321578" cy="9137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76B6B3-BECE-423C-8D59-9BD9D1186626}"/>
              </a:ext>
            </a:extLst>
          </p:cNvPr>
          <p:cNvCxnSpPr/>
          <p:nvPr/>
        </p:nvCxnSpPr>
        <p:spPr>
          <a:xfrm flipV="1">
            <a:off x="2419174" y="2783107"/>
            <a:ext cx="880984" cy="52274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C65DC0-65C6-407F-B7D7-7F4BABA6A6AA}"/>
                  </a:ext>
                </a:extLst>
              </p:cNvPr>
              <p:cNvSpPr txBox="1"/>
              <p:nvPr/>
            </p:nvSpPr>
            <p:spPr>
              <a:xfrm>
                <a:off x="596110" y="3943455"/>
                <a:ext cx="7222939" cy="2328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𝑑𝑈</m:t>
                        </m:r>
                      </m:num>
                      <m:den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𝑑𝑈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𝑑𝑈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𝑑𝑡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>
                            <a:latin typeface="Calibri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𝑑𝑈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𝑑𝑈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C65DC0-65C6-407F-B7D7-7F4BABA6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10" y="3943455"/>
                <a:ext cx="7222939" cy="2328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677754B-8F4B-458D-935F-CB001687BAF1}"/>
                  </a:ext>
                </a:extLst>
              </p:cNvPr>
              <p:cNvSpPr txBox="1"/>
              <p:nvPr/>
            </p:nvSpPr>
            <p:spPr>
              <a:xfrm>
                <a:off x="5734354" y="1497804"/>
                <a:ext cx="675570" cy="473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677754B-8F4B-458D-935F-CB001687B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354" y="1497804"/>
                <a:ext cx="675570" cy="473206"/>
              </a:xfrm>
              <a:prstGeom prst="rect">
                <a:avLst/>
              </a:prstGeom>
              <a:blipFill>
                <a:blip r:embed="rId5"/>
                <a:stretch>
                  <a:fillRect t="-3896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82CAA5C-550E-4D94-AE33-BD5E0F81BDFB}"/>
              </a:ext>
            </a:extLst>
          </p:cNvPr>
          <p:cNvSpPr txBox="1"/>
          <p:nvPr/>
        </p:nvSpPr>
        <p:spPr>
          <a:xfrm>
            <a:off x="6466222" y="2592467"/>
            <a:ext cx="2008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variables are magnitudes.</a:t>
            </a:r>
          </a:p>
        </p:txBody>
      </p:sp>
      <p:sp>
        <p:nvSpPr>
          <p:cNvPr id="30" name="Down Arrow 16">
            <a:extLst>
              <a:ext uri="{FF2B5EF4-FFF2-40B4-BE49-F238E27FC236}">
                <a16:creationId xmlns:a16="http://schemas.microsoft.com/office/drawing/2014/main" id="{3AED1F57-A5A4-454A-8008-DDC9C4ED5C33}"/>
              </a:ext>
            </a:extLst>
          </p:cNvPr>
          <p:cNvSpPr/>
          <p:nvPr/>
        </p:nvSpPr>
        <p:spPr>
          <a:xfrm rot="10800000">
            <a:off x="4599674" y="2781368"/>
            <a:ext cx="348658" cy="828552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6AFA1F-DBF8-4657-ABF6-52CACAF41A82}"/>
              </a:ext>
            </a:extLst>
          </p:cNvPr>
          <p:cNvSpPr txBox="1"/>
          <p:nvPr/>
        </p:nvSpPr>
        <p:spPr>
          <a:xfrm>
            <a:off x="6202580" y="1183935"/>
            <a:ext cx="2515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Ignore all KE &amp; </a:t>
            </a:r>
            <a:r>
              <a:rPr lang="en-US"/>
              <a:t>PE effects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32A506-62E5-4DBF-B4A3-6635870C5652}"/>
              </a:ext>
            </a:extLst>
          </p:cNvPr>
          <p:cNvSpPr txBox="1"/>
          <p:nvPr/>
        </p:nvSpPr>
        <p:spPr>
          <a:xfrm rot="18909134">
            <a:off x="4151341" y="1141810"/>
            <a:ext cx="104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Stream 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9D8EFE-D3B0-440C-B8C0-634B80063438}"/>
              </a:ext>
            </a:extLst>
          </p:cNvPr>
          <p:cNvSpPr txBox="1"/>
          <p:nvPr/>
        </p:nvSpPr>
        <p:spPr>
          <a:xfrm>
            <a:off x="4869876" y="3111975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Stream B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294A9D-07CF-4E46-BF40-03F17C49EE02}"/>
                  </a:ext>
                </a:extLst>
              </p:cNvPr>
              <p:cNvSpPr txBox="1"/>
              <p:nvPr/>
            </p:nvSpPr>
            <p:spPr>
              <a:xfrm>
                <a:off x="1827783" y="3109356"/>
                <a:ext cx="653192" cy="473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294A9D-07CF-4E46-BF40-03F17C49E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783" y="3109356"/>
                <a:ext cx="653192" cy="473206"/>
              </a:xfrm>
              <a:prstGeom prst="rect">
                <a:avLst/>
              </a:prstGeom>
              <a:blipFill>
                <a:blip r:embed="rId6"/>
                <a:stretch>
                  <a:fillRect t="-3846"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09D14EA-C878-43CF-B8A5-59F9B2C4BA8B}"/>
                  </a:ext>
                </a:extLst>
              </p:cNvPr>
              <p:cNvSpPr txBox="1"/>
              <p:nvPr/>
            </p:nvSpPr>
            <p:spPr>
              <a:xfrm>
                <a:off x="1147872" y="2004751"/>
                <a:ext cx="604075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09D14EA-C878-43CF-B8A5-59F9B2C4B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872" y="2004751"/>
                <a:ext cx="604075" cy="475643"/>
              </a:xfrm>
              <a:prstGeom prst="rect">
                <a:avLst/>
              </a:prstGeom>
              <a:blipFill>
                <a:blip r:embed="rId7"/>
                <a:stretch>
                  <a:fillRect l="-1010" t="-2564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972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1</a:t>
            </a:r>
            <a:r>
              <a:rPr lang="en-US" sz="3300" baseline="30000" dirty="0"/>
              <a:t>st</a:t>
            </a:r>
            <a:r>
              <a:rPr lang="en-US" sz="3300" dirty="0"/>
              <a:t> Law, Open System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Down Arrow 3">
            <a:extLst>
              <a:ext uri="{FF2B5EF4-FFF2-40B4-BE49-F238E27FC236}">
                <a16:creationId xmlns:a16="http://schemas.microsoft.com/office/drawing/2014/main" id="{0532F1EB-74D7-4223-955D-243A0C2BFB08}"/>
              </a:ext>
            </a:extLst>
          </p:cNvPr>
          <p:cNvSpPr/>
          <p:nvPr/>
        </p:nvSpPr>
        <p:spPr>
          <a:xfrm rot="13387445">
            <a:off x="4990625" y="980555"/>
            <a:ext cx="352817" cy="905204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254EC3DE-9DC5-4CFC-9973-380E59C05409}"/>
              </a:ext>
            </a:extLst>
          </p:cNvPr>
          <p:cNvSpPr/>
          <p:nvPr/>
        </p:nvSpPr>
        <p:spPr>
          <a:xfrm>
            <a:off x="2792485" y="1685870"/>
            <a:ext cx="2546798" cy="1310017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9DA1781-646D-4D67-A806-760C3C831201}"/>
              </a:ext>
            </a:extLst>
          </p:cNvPr>
          <p:cNvCxnSpPr/>
          <p:nvPr/>
        </p:nvCxnSpPr>
        <p:spPr>
          <a:xfrm flipV="1">
            <a:off x="5039119" y="1874815"/>
            <a:ext cx="910601" cy="47272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DBDBCA-55A2-4586-ACFA-864F2324E15D}"/>
              </a:ext>
            </a:extLst>
          </p:cNvPr>
          <p:cNvCxnSpPr/>
          <p:nvPr/>
        </p:nvCxnSpPr>
        <p:spPr>
          <a:xfrm>
            <a:off x="1861959" y="2347534"/>
            <a:ext cx="1321578" cy="9137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1342A5-73C4-48BF-B713-A97A2A056677}"/>
              </a:ext>
            </a:extLst>
          </p:cNvPr>
          <p:cNvCxnSpPr/>
          <p:nvPr/>
        </p:nvCxnSpPr>
        <p:spPr>
          <a:xfrm flipV="1">
            <a:off x="2522603" y="2750258"/>
            <a:ext cx="880984" cy="52274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FE292C-DF62-4B1B-A839-08B77877A025}"/>
                  </a:ext>
                </a:extLst>
              </p:cNvPr>
              <p:cNvSpPr txBox="1"/>
              <p:nvPr/>
            </p:nvSpPr>
            <p:spPr>
              <a:xfrm>
                <a:off x="143303" y="3910606"/>
                <a:ext cx="8374729" cy="2328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𝑑𝑈</m:t>
                        </m:r>
                      </m:num>
                      <m:den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+ 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0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+ 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0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(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+ </m:t>
                            </m:r>
                            <m:acc>
                              <m:accPr>
                                <m:chr m:val="̇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libri" charset="0"/>
                                    <a:cs typeface="Calibri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charset="0"/>
                                    <a:ea typeface="Calibri" charset="0"/>
                                    <a:cs typeface="Calibri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)(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)</m:t>
                    </m:r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0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𝑑𝑈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𝑊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+ 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𝐶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libri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  <a:ea typeface="Calibri" charset="0"/>
                                <a:cs typeface="Calibri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FE292C-DF62-4B1B-A839-08B77877A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03" y="3910606"/>
                <a:ext cx="8374729" cy="2328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CC8A62-849C-424B-BB88-566BDE2F06BF}"/>
                  </a:ext>
                </a:extLst>
              </p:cNvPr>
              <p:cNvSpPr txBox="1"/>
              <p:nvPr/>
            </p:nvSpPr>
            <p:spPr>
              <a:xfrm>
                <a:off x="5837783" y="1464955"/>
                <a:ext cx="675570" cy="473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CC8A62-849C-424B-BB88-566BDE2F0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783" y="1464955"/>
                <a:ext cx="675570" cy="473206"/>
              </a:xfrm>
              <a:prstGeom prst="rect">
                <a:avLst/>
              </a:prstGeom>
              <a:blipFill>
                <a:blip r:embed="rId5"/>
                <a:stretch>
                  <a:fillRect t="-3846"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F639A7E-1674-4A58-A0D3-240C196A0DC0}"/>
              </a:ext>
            </a:extLst>
          </p:cNvPr>
          <p:cNvSpPr txBox="1"/>
          <p:nvPr/>
        </p:nvSpPr>
        <p:spPr>
          <a:xfrm>
            <a:off x="6569651" y="2559618"/>
            <a:ext cx="2008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variables are magnitudes.</a:t>
            </a:r>
          </a:p>
        </p:txBody>
      </p:sp>
      <p:sp>
        <p:nvSpPr>
          <p:cNvPr id="15" name="Down Arrow 16">
            <a:extLst>
              <a:ext uri="{FF2B5EF4-FFF2-40B4-BE49-F238E27FC236}">
                <a16:creationId xmlns:a16="http://schemas.microsoft.com/office/drawing/2014/main" id="{5EF1C810-2976-4646-A353-FD669692D2D7}"/>
              </a:ext>
            </a:extLst>
          </p:cNvPr>
          <p:cNvSpPr/>
          <p:nvPr/>
        </p:nvSpPr>
        <p:spPr>
          <a:xfrm rot="10800000">
            <a:off x="4703103" y="2748519"/>
            <a:ext cx="348658" cy="828552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7B529F-14B2-4EA9-9B10-006DF4BFF3F6}"/>
              </a:ext>
            </a:extLst>
          </p:cNvPr>
          <p:cNvSpPr txBox="1"/>
          <p:nvPr/>
        </p:nvSpPr>
        <p:spPr>
          <a:xfrm>
            <a:off x="6418532" y="1055228"/>
            <a:ext cx="2725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Ignore all KE &amp; PE effects</a:t>
            </a:r>
          </a:p>
          <a:p>
            <a:pPr algn="r"/>
            <a:r>
              <a:rPr lang="en-US" b="1" dirty="0">
                <a:solidFill>
                  <a:srgbClr val="FF0000"/>
                </a:solidFill>
              </a:rPr>
              <a:t>Steady-state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50FB70-281E-4D0F-9369-777B67447149}"/>
              </a:ext>
            </a:extLst>
          </p:cNvPr>
          <p:cNvSpPr txBox="1"/>
          <p:nvPr/>
        </p:nvSpPr>
        <p:spPr>
          <a:xfrm rot="18909134">
            <a:off x="4254770" y="1108961"/>
            <a:ext cx="104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Stream 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59AC0-845E-4BBB-9828-64F6AA98A957}"/>
              </a:ext>
            </a:extLst>
          </p:cNvPr>
          <p:cNvSpPr txBox="1"/>
          <p:nvPr/>
        </p:nvSpPr>
        <p:spPr>
          <a:xfrm>
            <a:off x="4973305" y="3079126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Stream B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93F908D-27EB-49B6-939B-13A73283EF28}"/>
                  </a:ext>
                </a:extLst>
              </p:cNvPr>
              <p:cNvSpPr txBox="1"/>
              <p:nvPr/>
            </p:nvSpPr>
            <p:spPr>
              <a:xfrm>
                <a:off x="1931212" y="3076507"/>
                <a:ext cx="653192" cy="473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93F908D-27EB-49B6-939B-13A73283E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212" y="3076507"/>
                <a:ext cx="653192" cy="473206"/>
              </a:xfrm>
              <a:prstGeom prst="rect">
                <a:avLst/>
              </a:prstGeom>
              <a:blipFill>
                <a:blip r:embed="rId6"/>
                <a:stretch>
                  <a:fillRect t="-3896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5B2CFC-B95C-45CF-9103-761AA37BB0CE}"/>
                  </a:ext>
                </a:extLst>
              </p:cNvPr>
              <p:cNvSpPr txBox="1"/>
              <p:nvPr/>
            </p:nvSpPr>
            <p:spPr>
              <a:xfrm>
                <a:off x="1251301" y="1971902"/>
                <a:ext cx="604075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5B2CFC-B95C-45CF-9103-761AA37BB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301" y="1971902"/>
                <a:ext cx="604075" cy="475643"/>
              </a:xfrm>
              <a:prstGeom prst="rect">
                <a:avLst/>
              </a:prstGeom>
              <a:blipFill>
                <a:blip r:embed="rId7"/>
                <a:stretch>
                  <a:fillRect l="-1010" t="-2532" b="-12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Down Arrow 18">
            <a:extLst>
              <a:ext uri="{FF2B5EF4-FFF2-40B4-BE49-F238E27FC236}">
                <a16:creationId xmlns:a16="http://schemas.microsoft.com/office/drawing/2014/main" id="{905BE12A-4E5A-4560-B6BB-795AA74967CD}"/>
              </a:ext>
            </a:extLst>
          </p:cNvPr>
          <p:cNvSpPr/>
          <p:nvPr/>
        </p:nvSpPr>
        <p:spPr>
          <a:xfrm rot="17068995">
            <a:off x="2492817" y="1366541"/>
            <a:ext cx="321838" cy="897598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C0766D-8C53-4526-9FA9-C438AE9A46D0}"/>
              </a:ext>
            </a:extLst>
          </p:cNvPr>
          <p:cNvSpPr txBox="1"/>
          <p:nvPr/>
        </p:nvSpPr>
        <p:spPr>
          <a:xfrm>
            <a:off x="1757376" y="1238272"/>
            <a:ext cx="103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C</a:t>
            </a:r>
          </a:p>
        </p:txBody>
      </p:sp>
    </p:spTree>
    <p:extLst>
      <p:ext uri="{BB962C8B-B14F-4D97-AF65-F5344CB8AC3E}">
        <p14:creationId xmlns:p14="http://schemas.microsoft.com/office/powerpoint/2010/main" val="3904974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8301</TotalTime>
  <Words>1144</Words>
  <Application>Microsoft Macintosh PowerPoint</Application>
  <PresentationFormat>On-screen Show (4:3)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ME 200 Thermodynamics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400 Energy Conversion Systems</dc:title>
  <dc:creator>tim</dc:creator>
  <cp:lastModifiedBy>Cui, Jiahuan</cp:lastModifiedBy>
  <cp:revision>939</cp:revision>
  <cp:lastPrinted>2020-12-05T11:29:22Z</cp:lastPrinted>
  <dcterms:created xsi:type="dcterms:W3CDTF">2020-09-13T00:30:36Z</dcterms:created>
  <dcterms:modified xsi:type="dcterms:W3CDTF">2025-03-09T15:50:14Z</dcterms:modified>
</cp:coreProperties>
</file>