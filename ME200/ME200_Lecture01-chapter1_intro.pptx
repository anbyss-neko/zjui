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4"/>
  </p:sldMasterIdLst>
  <p:notesMasterIdLst>
    <p:notesMasterId r:id="rId25"/>
  </p:notesMasterIdLst>
  <p:sldIdLst>
    <p:sldId id="257" r:id="rId5"/>
    <p:sldId id="259" r:id="rId6"/>
    <p:sldId id="260" r:id="rId7"/>
    <p:sldId id="258" r:id="rId8"/>
    <p:sldId id="261" r:id="rId9"/>
    <p:sldId id="262" r:id="rId10"/>
    <p:sldId id="265" r:id="rId11"/>
    <p:sldId id="264" r:id="rId12"/>
    <p:sldId id="263" r:id="rId13"/>
    <p:sldId id="268" r:id="rId14"/>
    <p:sldId id="266" r:id="rId15"/>
    <p:sldId id="267" r:id="rId16"/>
    <p:sldId id="269" r:id="rId17"/>
    <p:sldId id="270" r:id="rId18"/>
    <p:sldId id="272" r:id="rId19"/>
    <p:sldId id="273" r:id="rId20"/>
    <p:sldId id="271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CC"/>
    <a:srgbClr val="FFFFCC"/>
    <a:srgbClr val="CCECFF"/>
    <a:srgbClr val="FF6600"/>
    <a:srgbClr val="EA7500"/>
    <a:srgbClr val="E673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6109D-99F3-4C09-A3D7-106D143D7950}" v="881" dt="2025-09-16T23:02:14.5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71E4C-0339-442E-82BC-BD730E7B9DEB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6A8DA-33D7-44A7-8267-7C89313ABA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26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Today we are not solving </a:t>
            </a:r>
            <a:r>
              <a:rPr lang="en-US" altLang="zh-CN" dirty="0" err="1"/>
              <a:t>problems.We</a:t>
            </a:r>
            <a:r>
              <a:rPr lang="en-US" altLang="zh-CN" dirty="0"/>
              <a:t> are learning how thermodynamics thinks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6A8DA-33D7-44A7-8267-7C89313ABA3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9333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Thermodynamics is not abstract math—it is everywhere.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6A8DA-33D7-44A7-8267-7C89313ABA3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5368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流程图: 过程 36">
            <a:extLst>
              <a:ext uri="{FF2B5EF4-FFF2-40B4-BE49-F238E27FC236}">
                <a16:creationId xmlns:a16="http://schemas.microsoft.com/office/drawing/2014/main" id="{E5E12E34-F2D3-C431-4313-DE3F40636849}"/>
              </a:ext>
            </a:extLst>
          </p:cNvPr>
          <p:cNvSpPr/>
          <p:nvPr userDrawn="1"/>
        </p:nvSpPr>
        <p:spPr>
          <a:xfrm>
            <a:off x="0" y="6527467"/>
            <a:ext cx="12192000" cy="305434"/>
          </a:xfrm>
          <a:prstGeom prst="flowChartProcess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2E09E7F-1276-4E1B-A9C9-15C0E2DA3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7312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442FC7-C0C3-4B93-8FD5-18A9FB858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9496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9F0AB-B8C6-4482-B184-5474C89CE3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8051" y="6541397"/>
            <a:ext cx="2743200" cy="277571"/>
          </a:xfrm>
          <a:noFill/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D1E9B6F5-4510-4161-BF2B-C9DC7BEC1977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46D6F4-2FAC-495F-B199-B5101E8B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6107" y="6119447"/>
            <a:ext cx="4114800" cy="246176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9E073-BA5F-4F2B-B115-EF8CBE6B9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5513" y="6555326"/>
            <a:ext cx="2631831" cy="2497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E4284EA-5FB9-41D5-9D28-140754F6090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0F86FE33-8775-703E-8A95-2C57C5360E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86146"/>
          <a:stretch>
            <a:fillRect/>
          </a:stretch>
        </p:blipFill>
        <p:spPr>
          <a:xfrm>
            <a:off x="0" y="0"/>
            <a:ext cx="1239297" cy="1286054"/>
          </a:xfrm>
          <a:prstGeom prst="rect">
            <a:avLst/>
          </a:prstGeom>
        </p:spPr>
      </p:pic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EC040E65-7DD6-9412-E23C-EB7D122CC6CD}"/>
              </a:ext>
            </a:extLst>
          </p:cNvPr>
          <p:cNvCxnSpPr>
            <a:cxnSpLocks/>
          </p:cNvCxnSpPr>
          <p:nvPr userDrawn="1"/>
        </p:nvCxnSpPr>
        <p:spPr>
          <a:xfrm>
            <a:off x="0" y="6494582"/>
            <a:ext cx="12192000" cy="0"/>
          </a:xfrm>
          <a:prstGeom prst="line">
            <a:avLst/>
          </a:prstGeom>
          <a:ln w="38100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3">
            <a:extLst>
              <a:ext uri="{FF2B5EF4-FFF2-40B4-BE49-F238E27FC236}">
                <a16:creationId xmlns:a16="http://schemas.microsoft.com/office/drawing/2014/main" id="{9D8E9BD0-1F6B-AEBD-28CB-8370ECFD76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9878"/>
          <a:stretch>
            <a:fillRect/>
          </a:stretch>
        </p:blipFill>
        <p:spPr>
          <a:xfrm>
            <a:off x="11286554" y="0"/>
            <a:ext cx="905446" cy="128605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812CFCAD-A738-6B70-DB66-F2E6F37ACAD4}"/>
              </a:ext>
            </a:extLst>
          </p:cNvPr>
          <p:cNvSpPr/>
          <p:nvPr userDrawn="1"/>
        </p:nvSpPr>
        <p:spPr>
          <a:xfrm>
            <a:off x="1239296" y="0"/>
            <a:ext cx="1791955" cy="1286052"/>
          </a:xfrm>
          <a:prstGeom prst="rect">
            <a:avLst/>
          </a:prstGeom>
          <a:solidFill>
            <a:srgbClr val="EA7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500259-C83E-3559-D4D5-5DCD4611C07D}"/>
              </a:ext>
            </a:extLst>
          </p:cNvPr>
          <p:cNvSpPr/>
          <p:nvPr userDrawn="1"/>
        </p:nvSpPr>
        <p:spPr>
          <a:xfrm>
            <a:off x="9160747" y="0"/>
            <a:ext cx="2125807" cy="1286052"/>
          </a:xfrm>
          <a:prstGeom prst="rect">
            <a:avLst/>
          </a:prstGeom>
          <a:solidFill>
            <a:srgbClr val="EA7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C8C6449-2A54-57B0-C39F-E5412AE6118F}"/>
              </a:ext>
            </a:extLst>
          </p:cNvPr>
          <p:cNvGrpSpPr/>
          <p:nvPr userDrawn="1"/>
        </p:nvGrpSpPr>
        <p:grpSpPr>
          <a:xfrm>
            <a:off x="1755112" y="-2"/>
            <a:ext cx="8912888" cy="1286052"/>
            <a:chOff x="1814565" y="2348658"/>
            <a:chExt cx="8912888" cy="1286052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AA8673B-9259-AF37-CD53-E611F1CBDEE7}"/>
                </a:ext>
              </a:extLst>
            </p:cNvPr>
            <p:cNvSpPr/>
            <p:nvPr userDrawn="1"/>
          </p:nvSpPr>
          <p:spPr>
            <a:xfrm>
              <a:off x="1814565" y="2348658"/>
              <a:ext cx="8912888" cy="1286052"/>
            </a:xfrm>
            <a:prstGeom prst="rect">
              <a:avLst/>
            </a:prstGeom>
            <a:solidFill>
              <a:srgbClr val="EA7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6CF59F98-3637-8B1C-2F27-4B473A6432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14565" y="2866925"/>
              <a:ext cx="8912888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6A585E5-5E03-E739-E14F-BFEFA6B79AEB}"/>
                </a:ext>
              </a:extLst>
            </p:cNvPr>
            <p:cNvSpPr txBox="1"/>
            <p:nvPr userDrawn="1"/>
          </p:nvSpPr>
          <p:spPr>
            <a:xfrm>
              <a:off x="3990870" y="2526476"/>
              <a:ext cx="42102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ZJU-UIUC INSTITUTE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B3EB03B-E064-E1AF-5679-990B967967BE}"/>
                </a:ext>
              </a:extLst>
            </p:cNvPr>
            <p:cNvSpPr txBox="1"/>
            <p:nvPr userDrawn="1"/>
          </p:nvSpPr>
          <p:spPr>
            <a:xfrm>
              <a:off x="2384472" y="2962806"/>
              <a:ext cx="777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bg1"/>
                  </a:solidFill>
                </a:rPr>
                <a:t>Zhejiang University - University of Illinois at Urbana-Champaign  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C1332761-F1A8-427B-40B4-483C918C42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9600" y="6527467"/>
            <a:ext cx="510298" cy="305434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6F8EC69B-FF60-0F4A-D733-6FEA385AE7FB}"/>
              </a:ext>
            </a:extLst>
          </p:cNvPr>
          <p:cNvSpPr/>
          <p:nvPr userDrawn="1"/>
        </p:nvSpPr>
        <p:spPr>
          <a:xfrm>
            <a:off x="4929898" y="6527467"/>
            <a:ext cx="2321315" cy="30543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bg1"/>
                </a:solidFill>
              </a:rPr>
              <a:t>Mechanical Science &amp; Engineering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981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0D1D8-5761-48DE-96A7-281901BF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5" y="204069"/>
            <a:ext cx="10515600" cy="3533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625E44-08E4-4CF7-8F2E-B5420F338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755" y="1430849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15" name="流程图: 过程 14">
            <a:extLst>
              <a:ext uri="{FF2B5EF4-FFF2-40B4-BE49-F238E27FC236}">
                <a16:creationId xmlns:a16="http://schemas.microsoft.com/office/drawing/2014/main" id="{A333CDBD-DED0-EC4D-1E2D-E5B66DE15A1C}"/>
              </a:ext>
            </a:extLst>
          </p:cNvPr>
          <p:cNvSpPr/>
          <p:nvPr userDrawn="1"/>
        </p:nvSpPr>
        <p:spPr>
          <a:xfrm>
            <a:off x="0" y="6527467"/>
            <a:ext cx="12192000" cy="305434"/>
          </a:xfrm>
          <a:prstGeom prst="flowChartProcess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02E7B769-E056-A5BB-F5CA-D54AAC2B90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8051" y="6541397"/>
            <a:ext cx="2743200" cy="277571"/>
          </a:xfrm>
          <a:noFill/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D1ECB7FD-F8F2-7301-4AE0-EA2CD3CB1632}"/>
              </a:ext>
            </a:extLst>
          </p:cNvPr>
          <p:cNvCxnSpPr>
            <a:cxnSpLocks/>
          </p:cNvCxnSpPr>
          <p:nvPr userDrawn="1"/>
        </p:nvCxnSpPr>
        <p:spPr>
          <a:xfrm>
            <a:off x="0" y="6494582"/>
            <a:ext cx="12192000" cy="0"/>
          </a:xfrm>
          <a:prstGeom prst="line">
            <a:avLst/>
          </a:prstGeom>
          <a:ln w="38100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7CDDCB28-EE3A-D441-F256-1D3E3B3A7F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19600" y="6527467"/>
            <a:ext cx="510298" cy="305434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EEC951A-2988-5A9E-E139-C4BF5AFE1CC4}"/>
              </a:ext>
            </a:extLst>
          </p:cNvPr>
          <p:cNvSpPr/>
          <p:nvPr userDrawn="1"/>
        </p:nvSpPr>
        <p:spPr>
          <a:xfrm>
            <a:off x="4929898" y="6527467"/>
            <a:ext cx="2321315" cy="30543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bg1"/>
                </a:solidFill>
              </a:rPr>
              <a:t>Mechanical Science &amp; Engineering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BBA530EA-567B-C6A9-3265-CF13DDD6B870}"/>
              </a:ext>
            </a:extLst>
          </p:cNvPr>
          <p:cNvCxnSpPr>
            <a:cxnSpLocks/>
          </p:cNvCxnSpPr>
          <p:nvPr userDrawn="1"/>
        </p:nvCxnSpPr>
        <p:spPr>
          <a:xfrm>
            <a:off x="0" y="718454"/>
            <a:ext cx="12192000" cy="0"/>
          </a:xfrm>
          <a:prstGeom prst="line">
            <a:avLst/>
          </a:prstGeom>
          <a:ln w="38100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灯片编号占位符 5">
            <a:extLst>
              <a:ext uri="{FF2B5EF4-FFF2-40B4-BE49-F238E27FC236}">
                <a16:creationId xmlns:a16="http://schemas.microsoft.com/office/drawing/2014/main" id="{853F83A0-154D-34DC-D851-2042CC4DB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75513" y="6555326"/>
            <a:ext cx="2631831" cy="24971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E4284EA-5FB9-41D5-9D28-140754F6090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167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流程图: 过程 4">
            <a:extLst>
              <a:ext uri="{FF2B5EF4-FFF2-40B4-BE49-F238E27FC236}">
                <a16:creationId xmlns:a16="http://schemas.microsoft.com/office/drawing/2014/main" id="{994B24F5-A4B4-7B84-3C3A-F550A3841CDC}"/>
              </a:ext>
            </a:extLst>
          </p:cNvPr>
          <p:cNvSpPr/>
          <p:nvPr userDrawn="1"/>
        </p:nvSpPr>
        <p:spPr>
          <a:xfrm>
            <a:off x="0" y="6527467"/>
            <a:ext cx="12192000" cy="305434"/>
          </a:xfrm>
          <a:prstGeom prst="flowChartProcess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日期占位符 3">
            <a:extLst>
              <a:ext uri="{FF2B5EF4-FFF2-40B4-BE49-F238E27FC236}">
                <a16:creationId xmlns:a16="http://schemas.microsoft.com/office/drawing/2014/main" id="{506E0CC8-7469-35A9-574B-8F7ED2D19A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8051" y="6541397"/>
            <a:ext cx="2743200" cy="277571"/>
          </a:xfrm>
          <a:noFill/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6E337B2-366C-43EF-A627-5FD8FC061AC9}" type="datetime1">
              <a:rPr lang="en-GB" altLang="zh-CN" smtClean="0"/>
              <a:t>13/01/2026</a:t>
            </a:fld>
            <a:endParaRPr lang="en-GB" dirty="0"/>
          </a:p>
        </p:txBody>
      </p:sp>
      <p:cxnSp>
        <p:nvCxnSpPr>
          <p:cNvPr id="8" name="Straight Connector 13">
            <a:extLst>
              <a:ext uri="{FF2B5EF4-FFF2-40B4-BE49-F238E27FC236}">
                <a16:creationId xmlns:a16="http://schemas.microsoft.com/office/drawing/2014/main" id="{262BBEFA-097A-0F2D-DCC6-1108046E00A7}"/>
              </a:ext>
            </a:extLst>
          </p:cNvPr>
          <p:cNvCxnSpPr>
            <a:cxnSpLocks/>
          </p:cNvCxnSpPr>
          <p:nvPr userDrawn="1"/>
        </p:nvCxnSpPr>
        <p:spPr>
          <a:xfrm>
            <a:off x="0" y="6494582"/>
            <a:ext cx="12192000" cy="0"/>
          </a:xfrm>
          <a:prstGeom prst="line">
            <a:avLst/>
          </a:prstGeom>
          <a:ln w="38100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FAD42800-3C7D-825A-D6ED-0340DD76A7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19600" y="6527467"/>
            <a:ext cx="510298" cy="30543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A5AA792-409B-18AF-B52D-6CA8533ED457}"/>
              </a:ext>
            </a:extLst>
          </p:cNvPr>
          <p:cNvSpPr/>
          <p:nvPr userDrawn="1"/>
        </p:nvSpPr>
        <p:spPr>
          <a:xfrm>
            <a:off x="4929898" y="6527467"/>
            <a:ext cx="2321315" cy="305434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bg1"/>
                </a:solidFill>
              </a:rPr>
              <a:t>Mechanical Science &amp; Engineering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9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3">
            <a:extLst>
              <a:ext uri="{FF2B5EF4-FFF2-40B4-BE49-F238E27FC236}">
                <a16:creationId xmlns:a16="http://schemas.microsoft.com/office/drawing/2014/main" id="{DBC5ABD3-8602-06C0-41B5-08E2839A396A}"/>
              </a:ext>
            </a:extLst>
          </p:cNvPr>
          <p:cNvCxnSpPr>
            <a:cxnSpLocks/>
          </p:cNvCxnSpPr>
          <p:nvPr userDrawn="1"/>
        </p:nvCxnSpPr>
        <p:spPr>
          <a:xfrm>
            <a:off x="0" y="718454"/>
            <a:ext cx="12192000" cy="0"/>
          </a:xfrm>
          <a:prstGeom prst="line">
            <a:avLst/>
          </a:prstGeom>
          <a:ln w="38100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标题 1">
            <a:extLst>
              <a:ext uri="{FF2B5EF4-FFF2-40B4-BE49-F238E27FC236}">
                <a16:creationId xmlns:a16="http://schemas.microsoft.com/office/drawing/2014/main" id="{A166050C-43A5-BCF9-2779-BB616BAE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5" y="204069"/>
            <a:ext cx="10515600" cy="353328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44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F0F2C0-1601-4A71-9314-EDB2397CE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9AB67A-9336-44C7-8AAD-7CE12FB46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GB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E906F0-0153-4189-8CB0-905C9BF19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D62CB-C260-4718-8A4F-AF5195EAD9F2}" type="datetime1">
              <a:rPr lang="en-GB" altLang="zh-CN" smtClean="0"/>
              <a:t>13/01/2026</a:t>
            </a:fld>
            <a:endParaRPr lang="en-GB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96DB40-9D21-452A-8FA2-92231AABD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6D5269-4868-4743-AC72-D2E3FFF0A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284EA-5FB9-41D5-9D28-140754F609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707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808" r:id="rId3"/>
    <p:sldLayoutId id="2147483803" r:id="rId4"/>
    <p:sldLayoutId id="2147483809" r:id="rId5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C766596-BE75-E7E7-8F8C-3597F27937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/>
              <a:t>ME 200</a:t>
            </a:r>
            <a:br>
              <a:rPr lang="en-US" altLang="zh-CN" b="1" dirty="0"/>
            </a:br>
            <a:r>
              <a:rPr lang="en-US" altLang="zh-CN" b="1" dirty="0"/>
              <a:t>Thermodynamics</a:t>
            </a:r>
            <a:endParaRPr lang="zh-CN" altLang="en-US" dirty="0"/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DBFA0181-84EC-8A06-4A74-C6F7D35CCF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Jiahuan</a:t>
            </a:r>
            <a:r>
              <a:rPr lang="zh-CN" altLang="en-US" dirty="0"/>
              <a:t> </a:t>
            </a:r>
            <a:r>
              <a:rPr lang="en-US" altLang="zh-CN" dirty="0"/>
              <a:t>CUI, PhD</a:t>
            </a:r>
          </a:p>
          <a:p>
            <a:r>
              <a:rPr lang="en-US" altLang="zh-CN" dirty="0"/>
              <a:t>Lecture 01 – Introductory Concepts</a:t>
            </a:r>
          </a:p>
          <a:p>
            <a:r>
              <a:rPr lang="en-US" altLang="zh-CN" dirty="0"/>
              <a:t>and Definitions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AF8CC9-546A-83F2-1E97-71C6B002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F61841-7AD5-4F20-62E4-E49ECE14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113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39CB28-0F2E-ECDB-4E9B-5FCAA27B0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DFEFE2-E48D-AC70-A0D5-482EC4B0C2C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559925" y="6554788"/>
            <a:ext cx="2632075" cy="250825"/>
          </a:xfrm>
        </p:spPr>
        <p:txBody>
          <a:bodyPr/>
          <a:lstStyle/>
          <a:p>
            <a:fld id="{FE4284EA-5FB9-41D5-9D28-140754F6090E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787018C3-83D1-859C-BB60-64D67046A6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67" b="57979"/>
          <a:stretch/>
        </p:blipFill>
        <p:spPr>
          <a:xfrm>
            <a:off x="747596" y="259869"/>
            <a:ext cx="10773843" cy="602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AEB5B7F-5078-23BD-1385-0E415355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37B2-366C-43EF-A627-5FD8FC061AC9}" type="datetime1">
              <a:rPr lang="en-GB" altLang="zh-CN" smtClean="0"/>
              <a:t>13/01/2026</a:t>
            </a:fld>
            <a:endParaRPr lang="en-GB" dirty="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74834CBF-3673-65EC-3B5D-81C8F87053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000" r="82"/>
          <a:stretch/>
        </p:blipFill>
        <p:spPr>
          <a:xfrm>
            <a:off x="461559" y="0"/>
            <a:ext cx="9048202" cy="644812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9711914-2B76-3729-242E-B435F8B45ADF}"/>
              </a:ext>
            </a:extLst>
          </p:cNvPr>
          <p:cNvSpPr txBox="1"/>
          <p:nvPr/>
        </p:nvSpPr>
        <p:spPr>
          <a:xfrm>
            <a:off x="9744888" y="1502178"/>
            <a:ext cx="21031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Power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Transportation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Biomedical systems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054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C5336-3D34-661F-4906-9A55CF62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What Is Thermodynamics?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BDCEEE-F5F3-457E-110B-3E39B4554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60079EF-D7F5-3769-6C03-90BB5CAF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3882559-90E0-17F0-ACF1-C692873EF117}"/>
              </a:ext>
            </a:extLst>
          </p:cNvPr>
          <p:cNvGrpSpPr/>
          <p:nvPr/>
        </p:nvGrpSpPr>
        <p:grpSpPr>
          <a:xfrm>
            <a:off x="460133" y="1006330"/>
            <a:ext cx="7625118" cy="2930098"/>
            <a:chOff x="648392" y="1113906"/>
            <a:chExt cx="7625118" cy="293009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13594A-2E01-E862-E48C-66292CEE8BF0}"/>
                </a:ext>
              </a:extLst>
            </p:cNvPr>
            <p:cNvSpPr txBox="1"/>
            <p:nvPr/>
          </p:nvSpPr>
          <p:spPr>
            <a:xfrm>
              <a:off x="648392" y="1113906"/>
              <a:ext cx="346120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200" b="1" dirty="0"/>
                <a:t>Thermo-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A85DB6DE-1AB1-7F7C-5DB1-5E565C21EE8D}"/>
                </a:ext>
              </a:extLst>
            </p:cNvPr>
            <p:cNvSpPr/>
            <p:nvPr/>
          </p:nvSpPr>
          <p:spPr>
            <a:xfrm rot="16200000">
              <a:off x="2039451" y="925547"/>
              <a:ext cx="276965" cy="3059084"/>
            </a:xfrm>
            <a:prstGeom prst="leftBrace">
              <a:avLst>
                <a:gd name="adj1" fmla="val 8333"/>
                <a:gd name="adj2" fmla="val 50000"/>
              </a:avLst>
            </a:prstGeom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12E525-BDAE-69FB-357A-826D3DD1E66F}"/>
                </a:ext>
              </a:extLst>
            </p:cNvPr>
            <p:cNvSpPr txBox="1"/>
            <p:nvPr/>
          </p:nvSpPr>
          <p:spPr>
            <a:xfrm>
              <a:off x="838705" y="2843675"/>
              <a:ext cx="302928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A synonym for ‘energy’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4119A94-E895-D0EE-0691-4B448AFE7BB0}"/>
                </a:ext>
              </a:extLst>
            </p:cNvPr>
            <p:cNvGrpSpPr/>
            <p:nvPr/>
          </p:nvGrpSpPr>
          <p:grpSpPr>
            <a:xfrm>
              <a:off x="4412439" y="1113906"/>
              <a:ext cx="3861071" cy="2400658"/>
              <a:chOff x="4667790" y="3443840"/>
              <a:chExt cx="3861071" cy="2400658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FEBBD6C-9AC4-1133-17D8-6FA92E1669E4}"/>
                  </a:ext>
                </a:extLst>
              </p:cNvPr>
              <p:cNvSpPr/>
              <p:nvPr/>
            </p:nvSpPr>
            <p:spPr>
              <a:xfrm>
                <a:off x="4667790" y="3443840"/>
                <a:ext cx="3801041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7200" b="1" dirty="0"/>
                  <a:t>dynamics</a:t>
                </a:r>
              </a:p>
            </p:txBody>
          </p:sp>
          <p:sp>
            <p:nvSpPr>
              <p:cNvPr id="14" name="Left Brace 14">
                <a:extLst>
                  <a:ext uri="{FF2B5EF4-FFF2-40B4-BE49-F238E27FC236}">
                    <a16:creationId xmlns:a16="http://schemas.microsoft.com/office/drawing/2014/main" id="{F68A1A98-1DE3-5308-190E-C99DA689EC6E}"/>
                  </a:ext>
                </a:extLst>
              </p:cNvPr>
              <p:cNvSpPr/>
              <p:nvPr/>
            </p:nvSpPr>
            <p:spPr>
              <a:xfrm rot="16200000">
                <a:off x="6686713" y="3095612"/>
                <a:ext cx="293590" cy="3390706"/>
              </a:xfrm>
              <a:prstGeom prst="leftBrace">
                <a:avLst>
                  <a:gd name="adj1" fmla="val 8333"/>
                  <a:gd name="adj2" fmla="val 50000"/>
                </a:avLst>
              </a:prstGeom>
              <a:ln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D98C929B-C9E9-219C-D789-32F442BD96CC}"/>
                  </a:ext>
                </a:extLst>
              </p:cNvPr>
              <p:cNvSpPr txBox="1"/>
              <p:nvPr/>
            </p:nvSpPr>
            <p:spPr>
              <a:xfrm>
                <a:off x="5318867" y="5198167"/>
                <a:ext cx="30292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600"/>
                  <a:t>movement</a:t>
                </a:r>
                <a:endParaRPr lang="en-US" sz="3600" dirty="0"/>
              </a:p>
            </p:txBody>
          </p:sp>
        </p:grp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0AACCADC-C2B0-EDE0-21A3-AB87BB3F6F7A}"/>
              </a:ext>
            </a:extLst>
          </p:cNvPr>
          <p:cNvSpPr txBox="1"/>
          <p:nvPr/>
        </p:nvSpPr>
        <p:spPr>
          <a:xfrm>
            <a:off x="650446" y="4261912"/>
            <a:ext cx="64689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Study of energy, work, heat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/>
              <a:t>How systems interact with surroundings</a:t>
            </a:r>
            <a:endParaRPr lang="zh-CN" altLang="en-US" sz="28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6C6AF2-7BDA-4E1A-0A25-C4D88BBBBB14}"/>
              </a:ext>
            </a:extLst>
          </p:cNvPr>
          <p:cNvSpPr txBox="1"/>
          <p:nvPr/>
        </p:nvSpPr>
        <p:spPr>
          <a:xfrm>
            <a:off x="650446" y="5441421"/>
            <a:ext cx="9709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Thermodynamics does not care how fast things happen—only where energy goes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2269351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5EFE3-C52A-3907-44E5-F0F9F8A5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The Concept of a System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C1334-C58A-702B-D5F4-7C981F518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FEFB4E-CA4B-8B22-8B5D-DABE07A00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71E1DA-54D7-F717-036F-D0BEF0D01184}"/>
              </a:ext>
            </a:extLst>
          </p:cNvPr>
          <p:cNvSpPr txBox="1"/>
          <p:nvPr/>
        </p:nvSpPr>
        <p:spPr>
          <a:xfrm>
            <a:off x="929243" y="1068169"/>
            <a:ext cx="69915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SYSTEM = what we choose to study</a:t>
            </a:r>
            <a:endParaRPr lang="zh-CN" altLang="en-US" sz="36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713CA6D-4195-F8B2-8A81-6340CBA86786}"/>
              </a:ext>
            </a:extLst>
          </p:cNvPr>
          <p:cNvSpPr txBox="1"/>
          <p:nvPr/>
        </p:nvSpPr>
        <p:spPr>
          <a:xfrm>
            <a:off x="832755" y="4196607"/>
            <a:ext cx="4105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Can be anything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Choice depends on question</a:t>
            </a:r>
            <a:endParaRPr lang="zh-CN" altLang="en-US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45A4892-BE39-390E-CA29-6F31B5938BE0}"/>
              </a:ext>
            </a:extLst>
          </p:cNvPr>
          <p:cNvSpPr txBox="1"/>
          <p:nvPr/>
        </p:nvSpPr>
        <p:spPr>
          <a:xfrm>
            <a:off x="832755" y="5342251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/>
              <a:t>“The system is NOT given by nature.  You define it.”</a:t>
            </a:r>
            <a:endParaRPr lang="zh-CN" altLang="en-US" i="1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D667756-2B33-3616-9B56-0B4497EDC28E}"/>
              </a:ext>
            </a:extLst>
          </p:cNvPr>
          <p:cNvSpPr txBox="1"/>
          <p:nvPr/>
        </p:nvSpPr>
        <p:spPr>
          <a:xfrm>
            <a:off x="757830" y="1951021"/>
            <a:ext cx="7334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as </a:t>
            </a:r>
            <a:r>
              <a:rPr lang="en-US" altLang="zh-CN" b="1" dirty="0"/>
              <a:t>simple</a:t>
            </a:r>
            <a:r>
              <a:rPr lang="en-US" altLang="zh-CN" dirty="0"/>
              <a:t> as a free body or as </a:t>
            </a:r>
            <a:r>
              <a:rPr lang="en-US" altLang="zh-CN" b="1" dirty="0"/>
              <a:t>complex</a:t>
            </a:r>
            <a:r>
              <a:rPr lang="en-US" altLang="zh-CN" dirty="0"/>
              <a:t> as an entire chemical refinery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The </a:t>
            </a:r>
            <a:r>
              <a:rPr lang="en-US" altLang="zh-CN" b="1" dirty="0"/>
              <a:t>composition</a:t>
            </a:r>
            <a:r>
              <a:rPr lang="en-US" altLang="zh-CN" dirty="0"/>
              <a:t> of the matter inside the system may be fixed or may be changing through chemical or nuclear reactions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/>
              <a:t>The </a:t>
            </a:r>
            <a:r>
              <a:rPr lang="en-US" altLang="zh-CN" b="1" dirty="0"/>
              <a:t>shape or volume </a:t>
            </a:r>
            <a:r>
              <a:rPr lang="en-US" altLang="zh-CN" dirty="0"/>
              <a:t>of the system being analyzed is not necessarily constant, as when a gas in a cylinder is compressed by a piston or a balloon is inflated.</a:t>
            </a:r>
            <a:endParaRPr lang="zh-CN" altLang="en-US" dirty="0"/>
          </a:p>
        </p:txBody>
      </p:sp>
      <p:pic>
        <p:nvPicPr>
          <p:cNvPr id="19" name="图片 18" descr="图示&#10;&#10;AI 生成的内容可能不正确。">
            <a:extLst>
              <a:ext uri="{FF2B5EF4-FFF2-40B4-BE49-F238E27FC236}">
                <a16:creationId xmlns:a16="http://schemas.microsoft.com/office/drawing/2014/main" id="{942E8AF3-0A86-4609-65CB-4BA8E2437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351" y="3547753"/>
            <a:ext cx="5571069" cy="2698668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02C4EE3-9A56-5391-F624-D62316CFF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612" y="1018513"/>
            <a:ext cx="2865912" cy="2291734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5E5CD1D7-7F61-7D92-78F2-4710B2A18A8F}"/>
              </a:ext>
            </a:extLst>
          </p:cNvPr>
          <p:cNvCxnSpPr>
            <a:cxnSpLocks/>
          </p:cNvCxnSpPr>
          <p:nvPr/>
        </p:nvCxnSpPr>
        <p:spPr>
          <a:xfrm flipH="1">
            <a:off x="9065885" y="3016332"/>
            <a:ext cx="1348775" cy="8906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689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5E471-8409-9157-99B5-C5143E3A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System, Boundary, Surroundings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2BF9C7-69B9-AD97-779B-A7DDB833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058A92-1AFE-687A-E21C-5FBF49D4D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BEF650-7B35-96A2-71C3-4D7DE646F319}"/>
              </a:ext>
            </a:extLst>
          </p:cNvPr>
          <p:cNvSpPr txBox="1"/>
          <p:nvPr/>
        </p:nvSpPr>
        <p:spPr>
          <a:xfrm>
            <a:off x="519541" y="985041"/>
            <a:ext cx="108288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SYSTEM           = what we choose to study</a:t>
            </a:r>
          </a:p>
          <a:p>
            <a:r>
              <a:rPr lang="en-US" altLang="zh-CN" sz="3600" dirty="0"/>
              <a:t>Surroundings = Everything external to the system</a:t>
            </a:r>
          </a:p>
          <a:p>
            <a:r>
              <a:rPr lang="en-US" altLang="zh-CN" sz="3600" dirty="0"/>
              <a:t>Boundary        = an interface which distinguishes the</a:t>
            </a:r>
          </a:p>
          <a:p>
            <a:r>
              <a:rPr lang="en-US" altLang="zh-CN" sz="3600" dirty="0"/>
              <a:t>                              system from its surroundings</a:t>
            </a: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99DF0049-654A-CD99-B8FC-890039590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161" y="3174291"/>
            <a:ext cx="5571069" cy="269866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E2C4B87-3A1B-F353-BA2B-66A4B1282A27}"/>
              </a:ext>
            </a:extLst>
          </p:cNvPr>
          <p:cNvSpPr/>
          <p:nvPr/>
        </p:nvSpPr>
        <p:spPr>
          <a:xfrm>
            <a:off x="1923802" y="3564636"/>
            <a:ext cx="1436914" cy="21253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FC5669-A9CB-D3D7-C8C6-CDEB387B142E}"/>
              </a:ext>
            </a:extLst>
          </p:cNvPr>
          <p:cNvSpPr/>
          <p:nvPr/>
        </p:nvSpPr>
        <p:spPr>
          <a:xfrm>
            <a:off x="1690254" y="3460936"/>
            <a:ext cx="4235532" cy="2308324"/>
          </a:xfrm>
          <a:prstGeom prst="rect">
            <a:avLst/>
          </a:prstGeom>
          <a:noFill/>
          <a:ln w="38100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184B32-E139-6C4E-3B23-66DE5E6D9D60}"/>
              </a:ext>
            </a:extLst>
          </p:cNvPr>
          <p:cNvSpPr txBox="1"/>
          <p:nvPr/>
        </p:nvSpPr>
        <p:spPr>
          <a:xfrm>
            <a:off x="7587336" y="5226628"/>
            <a:ext cx="3776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dirty="0"/>
              <a:t>If you draw the </a:t>
            </a:r>
            <a:r>
              <a:rPr lang="en-US" altLang="zh-CN" b="1" i="1" dirty="0"/>
              <a:t>boundary</a:t>
            </a:r>
            <a:r>
              <a:rPr lang="en-US" altLang="zh-CN" i="1" dirty="0"/>
              <a:t> wrong, everything after is wrong</a:t>
            </a:r>
            <a:endParaRPr lang="zh-CN" altLang="en-US" i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9E272B-0D75-23E0-D27B-240888965DEE}"/>
              </a:ext>
            </a:extLst>
          </p:cNvPr>
          <p:cNvSpPr txBox="1"/>
          <p:nvPr/>
        </p:nvSpPr>
        <p:spPr>
          <a:xfrm>
            <a:off x="7485850" y="3405459"/>
            <a:ext cx="36650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Boundary could be real or imagined, fixed or moving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Boundary choice = modeling decision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Depends on what is known &amp; what is asked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7258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93ABE-773E-7F10-3E4F-064B53D3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Closed System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28B1BE-906C-8428-91CB-986AC166E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877" y="1253331"/>
            <a:ext cx="5924305" cy="4351338"/>
          </a:xfrm>
        </p:spPr>
        <p:txBody>
          <a:bodyPr/>
          <a:lstStyle/>
          <a:p>
            <a:r>
              <a:rPr lang="en-US" altLang="zh-CN" dirty="0"/>
              <a:t>Control Mass</a:t>
            </a:r>
          </a:p>
          <a:p>
            <a:r>
              <a:rPr lang="en-US" altLang="zh-CN" dirty="0"/>
              <a:t>It is a particular (unchanging) mass enclosed by a boundary. Heat or work can cross the boundary, but </a:t>
            </a:r>
            <a:r>
              <a:rPr lang="en-US" altLang="zh-CN" b="1" dirty="0"/>
              <a:t>mass cannot. </a:t>
            </a:r>
          </a:p>
          <a:p>
            <a:r>
              <a:rPr lang="en-US" altLang="zh-CN" dirty="0"/>
              <a:t>If Heat or work does not change as well, The system does not interact in any way with its surroundings-an </a:t>
            </a:r>
            <a:r>
              <a:rPr lang="en-US" altLang="zh-CN" b="1" dirty="0"/>
              <a:t>isolated system</a:t>
            </a:r>
          </a:p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2C7E4A-DF56-9C36-E475-1B4E1F07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FFFD9D-DE9B-C8EB-F5DB-89B9A2B0C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79949B36-2892-89B6-346E-DE3A957D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659" y="849906"/>
            <a:ext cx="3407518" cy="472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2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CBDB2-7017-8E9D-4974-E5313EB5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Open System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D1355A-44C7-6DDE-D5A3-C700BB54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433E3ED-C827-EF42-59F3-C6C53328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C2DFA9B-8829-238C-43BE-78231D509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997" y="960529"/>
            <a:ext cx="5924305" cy="3045537"/>
          </a:xfrm>
        </p:spPr>
        <p:txBody>
          <a:bodyPr/>
          <a:lstStyle/>
          <a:p>
            <a:r>
              <a:rPr lang="en-US" altLang="zh-CN" dirty="0"/>
              <a:t>Control volume </a:t>
            </a:r>
          </a:p>
          <a:p>
            <a:r>
              <a:rPr lang="en-US" altLang="zh-CN" dirty="0"/>
              <a:t>It is a particular volume, enclosed by a boundary (dashed line).  Heat, work, and mass can cross the boundary.</a:t>
            </a:r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1C19583E-AF4C-A68F-535C-F8EA162F9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175" y="3173014"/>
            <a:ext cx="7630590" cy="297221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694360F-CA29-976B-B3AE-BC96708873C4}"/>
              </a:ext>
            </a:extLst>
          </p:cNvPr>
          <p:cNvSpPr txBox="1"/>
          <p:nvPr/>
        </p:nvSpPr>
        <p:spPr>
          <a:xfrm>
            <a:off x="7266700" y="1285590"/>
            <a:ext cx="41929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Most real machines are control volumes: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Turbine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Pump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Engine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Human lung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8644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16195-4C32-2753-585A-A458555D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System Types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7656BA-6A1D-38F5-591B-7046BF85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43B079F-3183-08C0-EDE4-CE0DDE50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D8C7BD-C163-340F-3D61-324B93F30A08}"/>
              </a:ext>
            </a:extLst>
          </p:cNvPr>
          <p:cNvSpPr txBox="1"/>
          <p:nvPr/>
        </p:nvSpPr>
        <p:spPr>
          <a:xfrm>
            <a:off x="1113385" y="1394572"/>
            <a:ext cx="383573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Closed System</a:t>
            </a:r>
          </a:p>
          <a:p>
            <a:pPr algn="ctr"/>
            <a:r>
              <a:rPr lang="en-US" altLang="zh-CN" sz="2800" dirty="0"/>
              <a:t>(</a:t>
            </a:r>
            <a:r>
              <a:rPr lang="en-US" altLang="zh-CN" sz="2400" dirty="0"/>
              <a:t>Control Mass)</a:t>
            </a:r>
          </a:p>
          <a:p>
            <a:r>
              <a:rPr lang="en-US" altLang="zh-CN" sz="2000" dirty="0"/>
              <a:t>It is a particular (unchanging) mass enclosed by a boundary. Heat or work can cross the boundary, but mass cannot.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Fixed amount of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No mass crosses</a:t>
            </a:r>
            <a:r>
              <a:rPr lang="en-US" altLang="zh-CN" sz="2400" dirty="0"/>
              <a:t> boundary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36E1C0-D244-40F1-EB1A-C0C8BB0558B9}"/>
              </a:ext>
            </a:extLst>
          </p:cNvPr>
          <p:cNvSpPr txBox="1"/>
          <p:nvPr/>
        </p:nvSpPr>
        <p:spPr>
          <a:xfrm>
            <a:off x="6671951" y="1479352"/>
            <a:ext cx="3835731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Open System</a:t>
            </a:r>
          </a:p>
          <a:p>
            <a:pPr algn="ctr"/>
            <a:r>
              <a:rPr lang="en-US" altLang="zh-CN" sz="2400" dirty="0"/>
              <a:t>(Control volume)</a:t>
            </a:r>
          </a:p>
          <a:p>
            <a:pPr algn="ctr"/>
            <a:r>
              <a:rPr lang="en-US" altLang="zh-CN" sz="2000" dirty="0"/>
              <a:t>It is a particular volume, enclosed by a boundary.  Heat, work, and mass can cross the boundary.</a:t>
            </a:r>
          </a:p>
          <a:p>
            <a:pPr algn="ctr"/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Specific region in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b="1" dirty="0"/>
              <a:t>Mass can cross boundary</a:t>
            </a:r>
            <a:endParaRPr lang="zh-CN" altLang="en-US" sz="2400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093F7A7-8A59-7B32-395E-7BE6092E46AD}"/>
              </a:ext>
            </a:extLst>
          </p:cNvPr>
          <p:cNvCxnSpPr/>
          <p:nvPr/>
        </p:nvCxnSpPr>
        <p:spPr>
          <a:xfrm flipV="1">
            <a:off x="3031247" y="4403229"/>
            <a:ext cx="0" cy="5343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B0B55952-328F-0706-CBF0-43A1F9DF450D}"/>
              </a:ext>
            </a:extLst>
          </p:cNvPr>
          <p:cNvSpPr txBox="1"/>
          <p:nvPr/>
        </p:nvSpPr>
        <p:spPr>
          <a:xfrm>
            <a:off x="1113384" y="5155624"/>
            <a:ext cx="38357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Isolated System</a:t>
            </a:r>
          </a:p>
          <a:p>
            <a:pPr algn="ctr"/>
            <a:r>
              <a:rPr lang="en-US" altLang="zh-CN" sz="2800" b="1" dirty="0"/>
              <a:t>Nothing</a:t>
            </a:r>
            <a:r>
              <a:rPr lang="en-US" altLang="zh-CN" sz="2800" dirty="0"/>
              <a:t>  exchange at all</a:t>
            </a:r>
          </a:p>
        </p:txBody>
      </p:sp>
    </p:spTree>
    <p:extLst>
      <p:ext uri="{BB962C8B-B14F-4D97-AF65-F5344CB8AC3E}">
        <p14:creationId xmlns:p14="http://schemas.microsoft.com/office/powerpoint/2010/main" val="1498595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659CDE-DC2E-3AC6-5023-8D7CC4EF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Conceptual Core - Property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5FD695-B4B8-6B11-2356-9FD512B1B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650855-D92A-3D3E-A459-80C846CD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937BB-412C-EDAD-0731-09A7D05E9236}"/>
              </a:ext>
            </a:extLst>
          </p:cNvPr>
          <p:cNvSpPr txBox="1"/>
          <p:nvPr/>
        </p:nvSpPr>
        <p:spPr>
          <a:xfrm>
            <a:off x="684676" y="917907"/>
            <a:ext cx="82971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lt"/>
              </a:rPr>
              <a:t>Property :  	</a:t>
            </a:r>
            <a:r>
              <a:rPr lang="en-US" altLang="zh-CN" sz="2400" dirty="0">
                <a:latin typeface="+mj-lt"/>
              </a:rPr>
              <a:t>any quantity that describes the </a:t>
            </a:r>
            <a:r>
              <a:rPr lang="en-US" altLang="zh-CN" sz="2400" b="1" dirty="0">
                <a:latin typeface="+mj-lt"/>
              </a:rPr>
              <a:t>state</a:t>
            </a:r>
            <a:r>
              <a:rPr lang="en-US" altLang="zh-CN" sz="2400" dirty="0">
                <a:latin typeface="+mj-lt"/>
              </a:rPr>
              <a:t> of a system  		any quantity whose value depends solely on the 		state of the system under study. </a:t>
            </a:r>
          </a:p>
          <a:p>
            <a:r>
              <a:rPr lang="en-US" altLang="zh-CN" sz="2400" dirty="0">
                <a:latin typeface="+mj-lt"/>
              </a:rPr>
              <a:t>		(totally </a:t>
            </a:r>
            <a:r>
              <a:rPr lang="en-US" altLang="zh-CN" sz="2400" b="1" dirty="0">
                <a:latin typeface="+mj-lt"/>
              </a:rPr>
              <a:t>independent of history or future</a:t>
            </a:r>
            <a:r>
              <a:rPr lang="en-US" altLang="zh-CN" sz="2400" dirty="0">
                <a:latin typeface="+mj-lt"/>
              </a:rPr>
              <a:t>)</a:t>
            </a:r>
          </a:p>
          <a:p>
            <a:r>
              <a:rPr lang="en-US" altLang="zh-CN" sz="2400" dirty="0">
                <a:latin typeface="+mj-lt"/>
              </a:rPr>
              <a:t>                     </a:t>
            </a:r>
          </a:p>
          <a:p>
            <a:r>
              <a:rPr lang="en-US" altLang="zh-CN" sz="2400" b="1" dirty="0">
                <a:latin typeface="+mj-lt"/>
              </a:rPr>
              <a:t>Intensive properties – 	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</a:rPr>
              <a:t>independent</a:t>
            </a:r>
            <a:r>
              <a:rPr lang="en-US" altLang="zh-CN" sz="2400" dirty="0">
                <a:latin typeface="+mj-lt"/>
              </a:rPr>
              <a:t> 	on system mass</a:t>
            </a:r>
          </a:p>
          <a:p>
            <a:endParaRPr lang="en-US" altLang="zh-CN" sz="2400" dirty="0">
              <a:latin typeface="+mj-lt"/>
            </a:endParaRPr>
          </a:p>
          <a:p>
            <a:r>
              <a:rPr lang="en-US" altLang="zh-CN" sz="2400" dirty="0">
                <a:latin typeface="+mj-lt"/>
              </a:rPr>
              <a:t>                                        T, P, density, specific values</a:t>
            </a:r>
          </a:p>
          <a:p>
            <a:endParaRPr lang="en-US" altLang="zh-CN" sz="2400" dirty="0">
              <a:latin typeface="+mj-lt"/>
            </a:endParaRPr>
          </a:p>
          <a:p>
            <a:r>
              <a:rPr lang="en-US" altLang="zh-CN" sz="2400" b="1" dirty="0">
                <a:latin typeface="+mj-lt"/>
              </a:rPr>
              <a:t>Extensive properties – 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</a:rPr>
              <a:t>depends </a:t>
            </a:r>
            <a:r>
              <a:rPr lang="en-US" altLang="zh-CN" sz="2400" b="1" dirty="0">
                <a:latin typeface="+mj-lt"/>
              </a:rPr>
              <a:t>	</a:t>
            </a:r>
            <a:r>
              <a:rPr lang="en-US" altLang="zh-CN" sz="2400" dirty="0">
                <a:latin typeface="+mj-lt"/>
              </a:rPr>
              <a:t>on system mass</a:t>
            </a:r>
          </a:p>
          <a:p>
            <a:endParaRPr lang="en-US" altLang="zh-CN" sz="2400" dirty="0">
              <a:latin typeface="+mj-lt"/>
            </a:endParaRPr>
          </a:p>
          <a:p>
            <a:r>
              <a:rPr lang="en-US" altLang="zh-CN" sz="2400" dirty="0">
                <a:latin typeface="+mj-lt"/>
              </a:rPr>
              <a:t>                                         mass, volume, energy- U, H, S</a:t>
            </a:r>
          </a:p>
          <a:p>
            <a:r>
              <a:rPr lang="en-US" altLang="zh-CN" sz="2400" dirty="0">
                <a:latin typeface="+mj-lt"/>
              </a:rPr>
              <a:t>                                         U: internal energy; H: enthalpy; S: entropy </a:t>
            </a:r>
          </a:p>
          <a:p>
            <a:endParaRPr lang="en-US" altLang="zh-CN" sz="2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BD9123-5EC3-A757-F18D-FD1305D842C1}"/>
              </a:ext>
            </a:extLst>
          </p:cNvPr>
          <p:cNvSpPr txBox="1"/>
          <p:nvPr/>
        </p:nvSpPr>
        <p:spPr>
          <a:xfrm>
            <a:off x="8205849" y="3099460"/>
            <a:ext cx="3142506" cy="15200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DBC19E1-38C0-2EF6-690A-03588B04E219}"/>
              </a:ext>
            </a:extLst>
          </p:cNvPr>
          <p:cNvSpPr/>
          <p:nvPr/>
        </p:nvSpPr>
        <p:spPr>
          <a:xfrm>
            <a:off x="8205848" y="3099460"/>
            <a:ext cx="1353787" cy="15200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4E4B2C-2B21-9D7D-5C64-BFD58564125F}"/>
              </a:ext>
            </a:extLst>
          </p:cNvPr>
          <p:cNvSpPr txBox="1"/>
          <p:nvPr/>
        </p:nvSpPr>
        <p:spPr>
          <a:xfrm>
            <a:off x="8750271" y="3945637"/>
            <a:ext cx="46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B288C-0F9A-6AF7-FB12-4EAD052A3BEF}"/>
              </a:ext>
            </a:extLst>
          </p:cNvPr>
          <p:cNvSpPr txBox="1"/>
          <p:nvPr/>
        </p:nvSpPr>
        <p:spPr>
          <a:xfrm>
            <a:off x="10328290" y="3892796"/>
            <a:ext cx="46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4706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5E273-1138-9A7D-9FDC-C31BC0C9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State, Process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EDC7FB-D222-C9C1-336E-2491FA03A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33F4E52-18DB-387D-8B25-4F7C2E1F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FECDD932-C3EC-055F-78D1-6149519771D6}"/>
              </a:ext>
            </a:extLst>
          </p:cNvPr>
          <p:cNvSpPr txBox="1"/>
          <p:nvPr/>
        </p:nvSpPr>
        <p:spPr>
          <a:xfrm>
            <a:off x="449721" y="1224361"/>
            <a:ext cx="839581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000" b="1" dirty="0">
              <a:latin typeface="+mj-lt"/>
            </a:endParaRPr>
          </a:p>
          <a:p>
            <a:r>
              <a:rPr lang="en-US" altLang="zh-CN" sz="2000" b="1" dirty="0">
                <a:latin typeface="+mj-lt"/>
              </a:rPr>
              <a:t>Usually, with 2 independent intensive properties, we can describe a state</a:t>
            </a:r>
          </a:p>
          <a:p>
            <a:r>
              <a:rPr lang="en-US" altLang="zh-CN" sz="2000" b="1" dirty="0">
                <a:latin typeface="+mj-lt"/>
              </a:rPr>
              <a:t>State:  </a:t>
            </a:r>
            <a:r>
              <a:rPr lang="en-US" altLang="zh-CN" sz="2000" dirty="0">
                <a:latin typeface="+mj-lt"/>
              </a:rPr>
              <a:t>condition of system described by properties</a:t>
            </a:r>
          </a:p>
          <a:p>
            <a:r>
              <a:rPr lang="en-US" altLang="zh-CN" sz="2000" b="1" dirty="0">
                <a:latin typeface="+mj-lt"/>
              </a:rPr>
              <a:t>             </a:t>
            </a:r>
            <a:r>
              <a:rPr lang="en-US" altLang="zh-CN" sz="2000" dirty="0">
                <a:latin typeface="+mj-lt"/>
              </a:rPr>
              <a:t>ex) state 2, steam at p2, v2, T2, u2, h2, s2, </a:t>
            </a:r>
            <a:r>
              <a:rPr lang="en-US" altLang="zh-CN" sz="2000" dirty="0" err="1">
                <a:latin typeface="+mj-lt"/>
              </a:rPr>
              <a:t>etc</a:t>
            </a:r>
            <a:endParaRPr lang="en-US" altLang="zh-CN" sz="2000" dirty="0">
              <a:latin typeface="+mj-lt"/>
            </a:endParaRPr>
          </a:p>
          <a:p>
            <a:endParaRPr lang="en-US" altLang="zh-CN" sz="2000" dirty="0">
              <a:latin typeface="+mj-lt"/>
            </a:endParaRPr>
          </a:p>
          <a:p>
            <a:endParaRPr lang="en-US" altLang="zh-CN" sz="2000" dirty="0">
              <a:latin typeface="+mj-lt"/>
            </a:endParaRPr>
          </a:p>
          <a:p>
            <a:endParaRPr lang="en-US" altLang="zh-CN" sz="2000" dirty="0">
              <a:latin typeface="+mj-lt"/>
            </a:endParaRPr>
          </a:p>
          <a:p>
            <a:endParaRPr lang="en-US" altLang="zh-CN" sz="2000" dirty="0">
              <a:latin typeface="+mj-lt"/>
            </a:endParaRPr>
          </a:p>
          <a:p>
            <a:r>
              <a:rPr lang="en-US" altLang="zh-CN" sz="2000" b="1" dirty="0">
                <a:latin typeface="+mj-lt"/>
              </a:rPr>
              <a:t>Process</a:t>
            </a:r>
            <a:r>
              <a:rPr lang="en-US" altLang="zh-CN" sz="2000" dirty="0">
                <a:latin typeface="+mj-lt"/>
              </a:rPr>
              <a:t>:  transformation between 2 states</a:t>
            </a:r>
          </a:p>
          <a:p>
            <a:r>
              <a:rPr lang="en-US" altLang="zh-CN" sz="2000" dirty="0">
                <a:latin typeface="+mj-lt"/>
              </a:rPr>
              <a:t>                 ex) Steam flow through turbine</a:t>
            </a:r>
          </a:p>
          <a:p>
            <a:r>
              <a:rPr lang="en-US" altLang="zh-CN" sz="2000" dirty="0">
                <a:latin typeface="+mj-lt"/>
              </a:rPr>
              <a:t>                       → a process from state 1 to state 2</a:t>
            </a:r>
          </a:p>
          <a:p>
            <a:r>
              <a:rPr lang="en-US" altLang="zh-CN" sz="2000" dirty="0">
                <a:latin typeface="+mj-lt"/>
              </a:rPr>
              <a:t>                       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3A74950-FF90-990D-C0CB-845F329ACE11}"/>
              </a:ext>
            </a:extLst>
          </p:cNvPr>
          <p:cNvCxnSpPr>
            <a:cxnSpLocks/>
          </p:cNvCxnSpPr>
          <p:nvPr/>
        </p:nvCxnSpPr>
        <p:spPr>
          <a:xfrm>
            <a:off x="9169063" y="2057371"/>
            <a:ext cx="153191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F27EC10A-6248-DB7F-501D-04F523B7D00A}"/>
              </a:ext>
            </a:extLst>
          </p:cNvPr>
          <p:cNvSpPr/>
          <p:nvPr/>
        </p:nvSpPr>
        <p:spPr>
          <a:xfrm>
            <a:off x="8693053" y="1917837"/>
            <a:ext cx="297880" cy="2790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2F0A475-89BB-7C91-5631-E54A1D02C445}"/>
              </a:ext>
            </a:extLst>
          </p:cNvPr>
          <p:cNvSpPr/>
          <p:nvPr/>
        </p:nvSpPr>
        <p:spPr>
          <a:xfrm>
            <a:off x="10863993" y="1917836"/>
            <a:ext cx="297880" cy="2790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6ECAD1-5956-D9CC-AA00-EADF6CC7E2B7}"/>
              </a:ext>
            </a:extLst>
          </p:cNvPr>
          <p:cNvSpPr txBox="1"/>
          <p:nvPr/>
        </p:nvSpPr>
        <p:spPr>
          <a:xfrm>
            <a:off x="10613614" y="1428248"/>
            <a:ext cx="829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+mj-lt"/>
              </a:rPr>
              <a:t>state 2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6ED3ED-C451-348B-F32B-38812E728E99}"/>
              </a:ext>
            </a:extLst>
          </p:cNvPr>
          <p:cNvSpPr txBox="1"/>
          <p:nvPr/>
        </p:nvSpPr>
        <p:spPr>
          <a:xfrm>
            <a:off x="8427328" y="1480715"/>
            <a:ext cx="829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+mj-lt"/>
              </a:rPr>
              <a:t>state 1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C70931-7A01-2BE0-F1DB-2E4998732F4E}"/>
              </a:ext>
            </a:extLst>
          </p:cNvPr>
          <p:cNvSpPr txBox="1"/>
          <p:nvPr/>
        </p:nvSpPr>
        <p:spPr>
          <a:xfrm>
            <a:off x="10581466" y="2324882"/>
            <a:ext cx="1160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+mj-lt"/>
              </a:rPr>
              <a:t>p2, v2, T2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C900CBE-AFA7-99F8-6172-ACE5D5056E90}"/>
              </a:ext>
            </a:extLst>
          </p:cNvPr>
          <p:cNvSpPr txBox="1"/>
          <p:nvPr/>
        </p:nvSpPr>
        <p:spPr>
          <a:xfrm>
            <a:off x="8394463" y="2324882"/>
            <a:ext cx="1160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+mj-lt"/>
              </a:rPr>
              <a:t>p1, v1, T1</a:t>
            </a:r>
            <a:endParaRPr lang="zh-CN" altLang="en-US" dirty="0"/>
          </a:p>
        </p:txBody>
      </p:sp>
      <p:pic>
        <p:nvPicPr>
          <p:cNvPr id="20" name="图片 19" descr="图示&#10;&#10;AI 生成的内容可能不正确。">
            <a:extLst>
              <a:ext uri="{FF2B5EF4-FFF2-40B4-BE49-F238E27FC236}">
                <a16:creationId xmlns:a16="http://schemas.microsoft.com/office/drawing/2014/main" id="{56E2A275-E9FC-1D39-D66B-27DE5DFA4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210" y="3660679"/>
            <a:ext cx="5571069" cy="2698668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6AAB608B-9D45-5062-39CA-B462EBDA41C8}"/>
              </a:ext>
            </a:extLst>
          </p:cNvPr>
          <p:cNvSpPr/>
          <p:nvPr/>
        </p:nvSpPr>
        <p:spPr>
          <a:xfrm>
            <a:off x="6877851" y="4051024"/>
            <a:ext cx="1436914" cy="21253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76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75892-9B24-FAF3-1D27-B33044C0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Equilibrium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A90253-6E37-93FD-82D5-6769DCDB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F21837-7BBC-95D5-9CB8-B6430597B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A17F6-51EC-BE63-DF6F-3AF51E2B2562}"/>
              </a:ext>
            </a:extLst>
          </p:cNvPr>
          <p:cNvSpPr txBox="1"/>
          <p:nvPr/>
        </p:nvSpPr>
        <p:spPr>
          <a:xfrm>
            <a:off x="708424" y="1153480"/>
            <a:ext cx="107750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+mj-lt"/>
              </a:rPr>
              <a:t>Isolate the system from its surroundings and watch for changes in its observable properties. </a:t>
            </a:r>
          </a:p>
          <a:p>
            <a:r>
              <a:rPr lang="en-US" altLang="zh-CN" sz="2400" dirty="0">
                <a:latin typeface="+mj-lt"/>
              </a:rPr>
              <a:t>If there are no changes, we conclude that the system was in </a:t>
            </a:r>
            <a:r>
              <a:rPr lang="en-US" altLang="zh-CN" sz="2400" b="1" dirty="0">
                <a:latin typeface="+mj-lt"/>
              </a:rPr>
              <a:t>equilibrium</a:t>
            </a:r>
            <a:r>
              <a:rPr lang="en-US" altLang="zh-CN" sz="2400" dirty="0">
                <a:latin typeface="+mj-lt"/>
              </a:rPr>
              <a:t> at the moment it was isolated. </a:t>
            </a:r>
          </a:p>
          <a:p>
            <a:r>
              <a:rPr lang="en-US" altLang="zh-CN" sz="2400" dirty="0">
                <a:latin typeface="+mj-lt"/>
              </a:rPr>
              <a:t>The system can be said to be at an </a:t>
            </a:r>
            <a:r>
              <a:rPr lang="en-US" altLang="zh-CN" sz="2400" b="1" dirty="0">
                <a:latin typeface="+mj-lt"/>
              </a:rPr>
              <a:t>equilibrium state.</a:t>
            </a:r>
            <a:endParaRPr lang="en-US" altLang="zh-CN" sz="3200" b="1" dirty="0">
              <a:latin typeface="+mj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5D4124-F11D-0298-5844-381C765A93FA}"/>
              </a:ext>
            </a:extLst>
          </p:cNvPr>
          <p:cNvSpPr txBox="1"/>
          <p:nvPr/>
        </p:nvSpPr>
        <p:spPr>
          <a:xfrm>
            <a:off x="1045028" y="3290500"/>
            <a:ext cx="655518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Types: </a:t>
            </a:r>
          </a:p>
          <a:p>
            <a:r>
              <a:rPr lang="en-US" altLang="zh-CN" dirty="0"/>
              <a:t>Thermal</a:t>
            </a:r>
          </a:p>
          <a:p>
            <a:r>
              <a:rPr lang="en-US" altLang="zh-CN" dirty="0"/>
              <a:t>Mechanical</a:t>
            </a:r>
          </a:p>
          <a:p>
            <a:r>
              <a:rPr lang="en-US" altLang="zh-CN" dirty="0"/>
              <a:t>Chemical</a:t>
            </a:r>
          </a:p>
          <a:p>
            <a:r>
              <a:rPr lang="en-US" altLang="zh-CN" dirty="0"/>
              <a:t>Phase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110DF5A-A0E2-2711-DE34-D7252FBBEF4A}"/>
              </a:ext>
            </a:extLst>
          </p:cNvPr>
          <p:cNvSpPr txBox="1"/>
          <p:nvPr/>
        </p:nvSpPr>
        <p:spPr>
          <a:xfrm>
            <a:off x="832755" y="5181300"/>
            <a:ext cx="76595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If isolated and nothing changes → equilibrium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02479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A1F0A-625B-1589-9E7C-197CB9064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Basic Units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D30B29-F144-A280-A021-08012A39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6569B0-6FEE-67A9-CBAB-943CCE9B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B9198BE-B73A-5FD4-DE0A-7963FE18FD5B}"/>
              </a:ext>
            </a:extLst>
          </p:cNvPr>
          <p:cNvSpPr txBox="1"/>
          <p:nvPr/>
        </p:nvSpPr>
        <p:spPr>
          <a:xfrm>
            <a:off x="711522" y="867732"/>
            <a:ext cx="816681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sz="2000" dirty="0"/>
              <a:t>SI Units – the foundation of our courses although you are expected to be familiar with English units.</a:t>
            </a:r>
          </a:p>
          <a:p>
            <a:endParaRPr lang="en-US" altLang="zh-CN" sz="2000" dirty="0"/>
          </a:p>
          <a:p>
            <a:r>
              <a:rPr lang="en-US" sz="2000" dirty="0"/>
              <a:t>Length – meters</a:t>
            </a:r>
          </a:p>
          <a:p>
            <a:r>
              <a:rPr lang="en-US" sz="2000" dirty="0"/>
              <a:t>Mass – kilograms</a:t>
            </a:r>
          </a:p>
          <a:p>
            <a:r>
              <a:rPr lang="en-US" sz="2000" dirty="0"/>
              <a:t>Time – seconds</a:t>
            </a:r>
          </a:p>
          <a:p>
            <a:r>
              <a:rPr lang="en-US" sz="2000" dirty="0"/>
              <a:t>Temperature - </a:t>
            </a:r>
            <a:r>
              <a:rPr lang="en-US" sz="2000" baseline="30000" dirty="0" err="1"/>
              <a:t>o</a:t>
            </a:r>
            <a:r>
              <a:rPr lang="en-US" sz="2000" dirty="0" err="1"/>
              <a:t>C</a:t>
            </a:r>
            <a:r>
              <a:rPr lang="en-US" sz="2000" dirty="0"/>
              <a:t> (relative) </a:t>
            </a:r>
          </a:p>
          <a:p>
            <a:r>
              <a:rPr lang="en-US" sz="2000" dirty="0"/>
              <a:t>                        - K (absolute) </a:t>
            </a:r>
          </a:p>
          <a:p>
            <a:r>
              <a:rPr lang="en-US" sz="2000" dirty="0"/>
              <a:t>K =</a:t>
            </a:r>
            <a:r>
              <a:rPr lang="en-US" sz="2000" baseline="30000" dirty="0"/>
              <a:t> </a:t>
            </a:r>
            <a:r>
              <a:rPr lang="en-US" sz="2000" baseline="30000" dirty="0" err="1"/>
              <a:t>o</a:t>
            </a:r>
            <a:r>
              <a:rPr lang="en-US" sz="2000" dirty="0" err="1"/>
              <a:t>C</a:t>
            </a:r>
            <a:r>
              <a:rPr lang="en-US" sz="2000" dirty="0"/>
              <a:t> + 273.15</a:t>
            </a:r>
          </a:p>
          <a:p>
            <a:endParaRPr lang="en-US" sz="2000" dirty="0"/>
          </a:p>
          <a:p>
            <a:r>
              <a:rPr lang="en-US" sz="2000" dirty="0"/>
              <a:t>Force – 		</a:t>
            </a:r>
            <a:r>
              <a:rPr lang="en-US" sz="2000" dirty="0">
                <a:solidFill>
                  <a:srgbClr val="FF0000"/>
                </a:solidFill>
              </a:rPr>
              <a:t>1 N = 1 </a:t>
            </a:r>
            <a:r>
              <a:rPr lang="en-US" sz="2000" dirty="0" err="1">
                <a:solidFill>
                  <a:srgbClr val="FF0000"/>
                </a:solidFill>
              </a:rPr>
              <a:t>kg·m</a:t>
            </a:r>
            <a:r>
              <a:rPr lang="en-US" sz="2000" dirty="0">
                <a:solidFill>
                  <a:srgbClr val="FF0000"/>
                </a:solidFill>
              </a:rPr>
              <a:t>/s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     </a:t>
            </a:r>
          </a:p>
          <a:p>
            <a:r>
              <a:rPr lang="en-US" sz="2000" dirty="0"/>
              <a:t>Energy –   	</a:t>
            </a:r>
            <a:r>
              <a:rPr lang="en-US" sz="2000" dirty="0">
                <a:solidFill>
                  <a:srgbClr val="FF0000"/>
                </a:solidFill>
              </a:rPr>
              <a:t>1 J = 1 </a:t>
            </a:r>
            <a:r>
              <a:rPr lang="en-US" sz="2000" dirty="0" err="1">
                <a:solidFill>
                  <a:srgbClr val="FF0000"/>
                </a:solidFill>
              </a:rPr>
              <a:t>N·m</a:t>
            </a:r>
            <a:r>
              <a:rPr lang="en-US" sz="2000" dirty="0">
                <a:solidFill>
                  <a:srgbClr val="FF0000"/>
                </a:solidFill>
              </a:rPr>
              <a:t> = 1 kg·m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/s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Power –  	</a:t>
            </a:r>
            <a:r>
              <a:rPr lang="en-US" sz="2000" dirty="0">
                <a:solidFill>
                  <a:srgbClr val="FF0000"/>
                </a:solidFill>
              </a:rPr>
              <a:t>1 W = 1 J/s</a:t>
            </a:r>
          </a:p>
          <a:p>
            <a:r>
              <a:rPr lang="en-US" sz="2000" dirty="0"/>
              <a:t>Pressure – 	</a:t>
            </a:r>
            <a:r>
              <a:rPr lang="en-US" sz="2000" dirty="0">
                <a:solidFill>
                  <a:srgbClr val="FF0000"/>
                </a:solidFill>
              </a:rPr>
              <a:t>1 Pa = 1 N/m</a:t>
            </a:r>
            <a:r>
              <a:rPr lang="en-US" sz="2000" baseline="30000" dirty="0">
                <a:solidFill>
                  <a:srgbClr val="FF0000"/>
                </a:solidFill>
              </a:rPr>
              <a:t>2   </a:t>
            </a:r>
            <a:r>
              <a:rPr lang="en-US" sz="2000" dirty="0">
                <a:solidFill>
                  <a:srgbClr val="FF0000"/>
                </a:solidFill>
              </a:rPr>
              <a:t>    1 bar =10</a:t>
            </a:r>
            <a:r>
              <a:rPr lang="en-US" sz="2000" baseline="30000" dirty="0">
                <a:solidFill>
                  <a:srgbClr val="FF0000"/>
                </a:solidFill>
              </a:rPr>
              <a:t>5 </a:t>
            </a:r>
            <a:r>
              <a:rPr lang="en-US" sz="2000" dirty="0">
                <a:solidFill>
                  <a:srgbClr val="FF0000"/>
                </a:solidFill>
              </a:rPr>
              <a:t>Pa = 100 kPa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75477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A3539-686A-98DD-D410-14E1CD06C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35FEE6-BAAC-1866-9ED8-B204865A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7D917D3-B0C2-9285-9352-7CF01C8B149F}"/>
              </a:ext>
            </a:extLst>
          </p:cNvPr>
          <p:cNvSpPr txBox="1"/>
          <p:nvPr/>
        </p:nvSpPr>
        <p:spPr>
          <a:xfrm>
            <a:off x="675897" y="659011"/>
            <a:ext cx="816681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sz="2000" dirty="0" err="1"/>
              <a:t>lbm</a:t>
            </a:r>
            <a:r>
              <a:rPr lang="en-US" sz="2000" dirty="0"/>
              <a:t> (or </a:t>
            </a:r>
            <a:r>
              <a:rPr lang="en-US" sz="2000" dirty="0" err="1"/>
              <a:t>lb</a:t>
            </a:r>
            <a:r>
              <a:rPr lang="en-US" sz="2000" dirty="0"/>
              <a:t>), </a:t>
            </a:r>
            <a:r>
              <a:rPr lang="en-US" sz="2000" dirty="0" err="1"/>
              <a:t>ft</a:t>
            </a:r>
            <a:r>
              <a:rPr lang="en-US" sz="2000" dirty="0"/>
              <a:t>, s, </a:t>
            </a:r>
            <a:r>
              <a:rPr lang="en-US" sz="2000" dirty="0" err="1"/>
              <a:t>lbf</a:t>
            </a:r>
            <a:r>
              <a:rPr lang="en-US" sz="2000" dirty="0"/>
              <a:t>, </a:t>
            </a:r>
            <a:r>
              <a:rPr lang="en-US" sz="2000" baseline="30000" dirty="0" err="1"/>
              <a:t>o</a:t>
            </a:r>
            <a:r>
              <a:rPr lang="en-US" sz="2000" dirty="0" err="1"/>
              <a:t>F</a:t>
            </a:r>
            <a:r>
              <a:rPr lang="en-US" sz="2000" dirty="0"/>
              <a:t>, </a:t>
            </a:r>
            <a:r>
              <a:rPr lang="en-US" sz="2000" baseline="30000" dirty="0" err="1"/>
              <a:t>o</a:t>
            </a:r>
            <a:r>
              <a:rPr lang="en-US" sz="2000" dirty="0" err="1"/>
              <a:t>R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1 </a:t>
            </a:r>
            <a:r>
              <a:rPr lang="en-US" sz="2000" dirty="0" err="1"/>
              <a:t>lbm</a:t>
            </a:r>
            <a:r>
              <a:rPr lang="en-US" sz="2000" dirty="0"/>
              <a:t> weight 1 </a:t>
            </a:r>
            <a:r>
              <a:rPr lang="en-US" sz="2000" dirty="0" err="1"/>
              <a:t>lbf</a:t>
            </a:r>
            <a:r>
              <a:rPr lang="en-US" sz="2000" dirty="0"/>
              <a:t> with  g = 32.2 </a:t>
            </a:r>
            <a:r>
              <a:rPr lang="en-US" sz="2000" dirty="0" err="1"/>
              <a:t>ft</a:t>
            </a:r>
            <a:r>
              <a:rPr lang="en-US" sz="2000" dirty="0"/>
              <a:t>/s</a:t>
            </a:r>
            <a:r>
              <a:rPr lang="en-US" sz="2000" baseline="30000" dirty="0"/>
              <a:t>2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→ 1 </a:t>
            </a:r>
            <a:r>
              <a:rPr lang="en-US" sz="2000" dirty="0" err="1"/>
              <a:t>lbf</a:t>
            </a:r>
            <a:r>
              <a:rPr lang="en-US" sz="2000" dirty="0"/>
              <a:t> = 32.2 </a:t>
            </a:r>
            <a:r>
              <a:rPr lang="en-US" sz="2000" dirty="0" err="1"/>
              <a:t>lbm-ft</a:t>
            </a:r>
            <a:r>
              <a:rPr lang="en-US" sz="2000" dirty="0"/>
              <a:t>/s</a:t>
            </a:r>
            <a:r>
              <a:rPr lang="en-US" sz="2000" baseline="30000" dirty="0"/>
              <a:t>2</a:t>
            </a:r>
            <a:endParaRPr lang="en-US" sz="2000" dirty="0"/>
          </a:p>
          <a:p>
            <a:r>
              <a:rPr lang="en-US" sz="2000" dirty="0"/>
              <a:t>or 1 </a:t>
            </a:r>
            <a:r>
              <a:rPr lang="en-US" sz="2000" dirty="0" err="1"/>
              <a:t>lbm</a:t>
            </a:r>
            <a:r>
              <a:rPr lang="en-US" sz="2000" dirty="0"/>
              <a:t> = 1/32.2 lbf·s</a:t>
            </a:r>
            <a:r>
              <a:rPr lang="en-US" sz="2000" baseline="30000" dirty="0"/>
              <a:t>2</a:t>
            </a:r>
            <a:r>
              <a:rPr lang="en-US" sz="2000" dirty="0"/>
              <a:t>/</a:t>
            </a:r>
            <a:r>
              <a:rPr lang="en-US" sz="2000" dirty="0" err="1"/>
              <a:t>ft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Energy –  </a:t>
            </a:r>
            <a:r>
              <a:rPr lang="en-US" sz="2000" dirty="0" err="1"/>
              <a:t>ft-lbf</a:t>
            </a:r>
            <a:endParaRPr lang="en-US" sz="2000" dirty="0"/>
          </a:p>
          <a:p>
            <a:r>
              <a:rPr lang="en-US" sz="2000" dirty="0"/>
              <a:t>Power –  </a:t>
            </a:r>
            <a:r>
              <a:rPr lang="en-US" sz="2000" dirty="0" err="1"/>
              <a:t>ft-lbf</a:t>
            </a:r>
            <a:r>
              <a:rPr lang="en-US" sz="2000" dirty="0"/>
              <a:t>/s</a:t>
            </a:r>
          </a:p>
          <a:p>
            <a:r>
              <a:rPr lang="en-US" sz="2000" dirty="0"/>
              <a:t>Energy/mass  -  </a:t>
            </a:r>
          </a:p>
          <a:p>
            <a:r>
              <a:rPr lang="en-US" sz="2000" dirty="0"/>
              <a:t>    1 </a:t>
            </a:r>
            <a:r>
              <a:rPr lang="en-US" sz="2000" dirty="0" err="1"/>
              <a:t>ft·lbf</a:t>
            </a:r>
            <a:r>
              <a:rPr lang="en-US" sz="2000" dirty="0"/>
              <a:t>/</a:t>
            </a:r>
            <a:r>
              <a:rPr lang="en-US" sz="2000" dirty="0" err="1"/>
              <a:t>lbm</a:t>
            </a:r>
            <a:r>
              <a:rPr lang="en-US" sz="2000" dirty="0"/>
              <a:t> = 32.2 ft</a:t>
            </a:r>
            <a:r>
              <a:rPr lang="en-US" sz="2000" baseline="30000" dirty="0"/>
              <a:t>2</a:t>
            </a:r>
            <a:r>
              <a:rPr lang="en-US" sz="2000" dirty="0"/>
              <a:t>/s</a:t>
            </a:r>
            <a:r>
              <a:rPr lang="en-US" sz="2000" baseline="30000" dirty="0"/>
              <a:t>2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err="1"/>
              <a:t>lbmol</a:t>
            </a:r>
            <a:r>
              <a:rPr lang="en-US" sz="2000" dirty="0"/>
              <a:t> = pound mole</a:t>
            </a:r>
          </a:p>
          <a:p>
            <a:r>
              <a:rPr lang="en-US" sz="2000" dirty="0"/>
              <a:t>1 </a:t>
            </a:r>
            <a:r>
              <a:rPr lang="en-US" sz="2000" dirty="0" err="1"/>
              <a:t>lbmol</a:t>
            </a:r>
            <a:r>
              <a:rPr lang="en-US" sz="2000" dirty="0"/>
              <a:t> = M </a:t>
            </a:r>
            <a:r>
              <a:rPr lang="en-US" sz="2000" dirty="0" err="1"/>
              <a:t>lbm</a:t>
            </a:r>
            <a:endParaRPr lang="en-US" sz="2000" dirty="0"/>
          </a:p>
          <a:p>
            <a:r>
              <a:rPr lang="en-US" sz="2000" dirty="0"/>
              <a:t>1 Btu = 778.17 </a:t>
            </a:r>
            <a:r>
              <a:rPr lang="en-US" sz="2000" dirty="0" err="1"/>
              <a:t>ft-lbf</a:t>
            </a:r>
            <a:endParaRPr lang="en-US" sz="2000" dirty="0"/>
          </a:p>
          <a:p>
            <a:r>
              <a:rPr lang="en-US" sz="2000" dirty="0"/>
              <a:t>1 </a:t>
            </a:r>
            <a:r>
              <a:rPr lang="en-US" sz="2000" dirty="0" err="1"/>
              <a:t>hp</a:t>
            </a:r>
            <a:r>
              <a:rPr lang="en-US" sz="2000" dirty="0"/>
              <a:t> = 550 </a:t>
            </a:r>
            <a:r>
              <a:rPr lang="en-US" sz="2000" dirty="0" err="1"/>
              <a:t>ft-lbf</a:t>
            </a:r>
            <a:r>
              <a:rPr lang="en-US" sz="2000" dirty="0"/>
              <a:t>/s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BF3A27E-C467-6DAF-9CCF-5B5286010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5" y="204069"/>
            <a:ext cx="10515600" cy="353328"/>
          </a:xfrm>
        </p:spPr>
        <p:txBody>
          <a:bodyPr/>
          <a:lstStyle/>
          <a:p>
            <a:r>
              <a:rPr lang="en-US" altLang="zh-CN" b="1" dirty="0"/>
              <a:t>English Units</a:t>
            </a:r>
          </a:p>
        </p:txBody>
      </p:sp>
      <p:pic>
        <p:nvPicPr>
          <p:cNvPr id="9" name="图片 8" descr="表格&#10;&#10;AI 生成的内容可能不正确。">
            <a:extLst>
              <a:ext uri="{FF2B5EF4-FFF2-40B4-BE49-F238E27FC236}">
                <a16:creationId xmlns:a16="http://schemas.microsoft.com/office/drawing/2014/main" id="{B82CB61D-A267-45DC-415B-D27B8D7A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76" y="2810452"/>
            <a:ext cx="8174368" cy="2390298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C893B337-BA40-6792-F3C6-289E48474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084" y="1032605"/>
            <a:ext cx="2324100" cy="355600"/>
          </a:xfrm>
          <a:prstGeom prst="rect">
            <a:avLst/>
          </a:prstGeom>
        </p:spPr>
      </p:pic>
      <p:pic>
        <p:nvPicPr>
          <p:cNvPr id="11" name="Picture 7">
            <a:extLst>
              <a:ext uri="{FF2B5EF4-FFF2-40B4-BE49-F238E27FC236}">
                <a16:creationId xmlns:a16="http://schemas.microsoft.com/office/drawing/2014/main" id="{45E106D9-86B0-FC2E-F2C4-D1A559E6C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084" y="1624044"/>
            <a:ext cx="17907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526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B337D-F6F1-1B1E-993D-F334D7A43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Example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2CC0D-78E5-FE06-D0B6-28C993977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CA1AF2-979E-08D3-F61A-94AE55D4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15</a:t>
            </a:fld>
            <a:endParaRPr lang="en-GB" dirty="0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404B20D-DECF-5864-5C8B-AA2D126D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55" y="1170926"/>
            <a:ext cx="9767482" cy="451614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FA71768-14FD-7830-92D6-5B731192AF89}"/>
              </a:ext>
            </a:extLst>
          </p:cNvPr>
          <p:cNvSpPr/>
          <p:nvPr/>
        </p:nvSpPr>
        <p:spPr>
          <a:xfrm>
            <a:off x="2790701" y="3218213"/>
            <a:ext cx="5795159" cy="843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23C2EF-397B-0464-C520-4C20AFD57BB3}"/>
              </a:ext>
            </a:extLst>
          </p:cNvPr>
          <p:cNvSpPr/>
          <p:nvPr/>
        </p:nvSpPr>
        <p:spPr>
          <a:xfrm>
            <a:off x="2183080" y="4920125"/>
            <a:ext cx="6937169" cy="843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974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04CEF-CB60-75D7-26D1-44E2E698B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2B299-7B62-E72E-DC23-C3A7B04E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Example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4F58AD-ACCA-B5A5-43CB-476875EE0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1F3DC8-888E-BC36-E6A7-D9A02823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569BEA8-4F21-D77C-BCB5-6E59DD08A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55" y="1079758"/>
            <a:ext cx="9767482" cy="451614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3F37AD-C6E1-6148-93C7-DB037FF50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637" y="5595905"/>
            <a:ext cx="6112126" cy="73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418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37980-DE53-C93D-0875-CE0B02C10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Specific Quantities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CC3DAC-95C7-9429-D4ED-F098BAF0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990A92-1B56-D754-3A5D-DDAE99399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B810138-E0BB-C078-0019-1130AE56CC1A}"/>
              </a:ext>
            </a:extLst>
          </p:cNvPr>
          <p:cNvSpPr txBox="1"/>
          <p:nvPr/>
        </p:nvSpPr>
        <p:spPr>
          <a:xfrm>
            <a:off x="557143" y="787770"/>
            <a:ext cx="816681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sz="2000" dirty="0"/>
              <a:t>Specific volume – </a:t>
            </a:r>
            <a:r>
              <a:rPr lang="en-US" sz="2000" dirty="0"/>
              <a:t>v = m</a:t>
            </a:r>
            <a:r>
              <a:rPr lang="en-US" sz="2000" baseline="30000" dirty="0"/>
              <a:t>3</a:t>
            </a:r>
            <a:r>
              <a:rPr lang="en-US" sz="2000" dirty="0"/>
              <a:t>/kg    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1 m</a:t>
            </a:r>
            <a:r>
              <a:rPr lang="en-US" sz="2000" baseline="30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/kg = (10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 cm)</a:t>
            </a:r>
            <a:r>
              <a:rPr lang="en-US" sz="2000" baseline="30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 / (10</a:t>
            </a:r>
            <a:r>
              <a:rPr lang="en-US" sz="2000" baseline="30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 g) =10</a:t>
            </a:r>
            <a:r>
              <a:rPr lang="en-US" sz="2000" baseline="30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 cm</a:t>
            </a:r>
            <a:r>
              <a:rPr lang="en-US" sz="2000" baseline="30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/g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→ 1 cm</a:t>
            </a:r>
            <a:r>
              <a:rPr lang="en-US" sz="2000" baseline="30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/g = 10</a:t>
            </a:r>
            <a:r>
              <a:rPr lang="en-US" sz="2000" baseline="30000" dirty="0">
                <a:solidFill>
                  <a:srgbClr val="FF0000"/>
                </a:solidFill>
              </a:rPr>
              <a:t>-3</a:t>
            </a:r>
            <a:r>
              <a:rPr lang="en-US" sz="2000" dirty="0">
                <a:solidFill>
                  <a:srgbClr val="FF0000"/>
                </a:solidFill>
              </a:rPr>
              <a:t> m</a:t>
            </a:r>
            <a:r>
              <a:rPr lang="en-US" sz="2000" baseline="30000" dirty="0">
                <a:solidFill>
                  <a:srgbClr val="FF0000"/>
                </a:solidFill>
              </a:rPr>
              <a:t>3</a:t>
            </a:r>
            <a:r>
              <a:rPr lang="en-US" sz="2000" dirty="0">
                <a:solidFill>
                  <a:srgbClr val="FF0000"/>
                </a:solidFill>
              </a:rPr>
              <a:t>/kg</a:t>
            </a:r>
          </a:p>
          <a:p>
            <a:endParaRPr lang="en-US" sz="2000" dirty="0"/>
          </a:p>
          <a:p>
            <a:r>
              <a:rPr lang="en-US" altLang="zh-CN" sz="2000" dirty="0"/>
              <a:t>Specific energy – </a:t>
            </a:r>
            <a:r>
              <a:rPr lang="en-US" sz="2000" dirty="0"/>
              <a:t>energy / mass (e.g. u or h) = J/kg </a:t>
            </a:r>
            <a:r>
              <a:rPr lang="en-US" sz="2000" dirty="0">
                <a:solidFill>
                  <a:srgbClr val="FF0000"/>
                </a:solidFill>
              </a:rPr>
              <a:t>= m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r>
              <a:rPr lang="en-US" sz="2000" dirty="0">
                <a:solidFill>
                  <a:srgbClr val="FF0000"/>
                </a:solidFill>
              </a:rPr>
              <a:t>/s</a:t>
            </a:r>
            <a:r>
              <a:rPr lang="en-US" sz="2000" baseline="30000" dirty="0">
                <a:solidFill>
                  <a:srgbClr val="FF0000"/>
                </a:solidFill>
              </a:rPr>
              <a:t>2</a:t>
            </a:r>
            <a:endParaRPr lang="en-US" sz="2000" dirty="0">
              <a:solidFill>
                <a:srgbClr val="FF0000"/>
              </a:solidFill>
            </a:endParaRP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For example: </a:t>
            </a:r>
          </a:p>
          <a:p>
            <a:pPr lvl="1"/>
            <a:r>
              <a:rPr lang="en-US" sz="2000" dirty="0"/>
              <a:t>M = </a:t>
            </a:r>
            <a:r>
              <a:rPr lang="en-US" sz="2000" dirty="0">
                <a:solidFill>
                  <a:srgbClr val="FF0000"/>
                </a:solidFill>
              </a:rPr>
              <a:t>32</a:t>
            </a:r>
            <a:r>
              <a:rPr lang="en-US" sz="2000" dirty="0"/>
              <a:t>        	for O</a:t>
            </a:r>
            <a:r>
              <a:rPr lang="en-US" sz="2000" baseline="-25000" dirty="0"/>
              <a:t>2</a:t>
            </a:r>
            <a:endParaRPr lang="en-US" sz="2000" dirty="0"/>
          </a:p>
          <a:p>
            <a:pPr lvl="1"/>
            <a:r>
              <a:rPr lang="en-US" sz="2000" dirty="0"/>
              <a:t>M = </a:t>
            </a:r>
            <a:r>
              <a:rPr lang="en-US" sz="2000" dirty="0">
                <a:solidFill>
                  <a:srgbClr val="FF0000"/>
                </a:solidFill>
              </a:rPr>
              <a:t>28.97</a:t>
            </a:r>
            <a:r>
              <a:rPr lang="en-US" sz="2000" dirty="0"/>
              <a:t>   	for air</a:t>
            </a:r>
          </a:p>
          <a:p>
            <a:pPr lvl="1"/>
            <a:r>
              <a:rPr lang="en-US" sz="2000" dirty="0"/>
              <a:t>M = </a:t>
            </a:r>
            <a:r>
              <a:rPr lang="en-US" sz="2000" dirty="0">
                <a:solidFill>
                  <a:srgbClr val="FF0000"/>
                </a:solidFill>
              </a:rPr>
              <a:t>18.02</a:t>
            </a:r>
            <a:r>
              <a:rPr lang="en-US" sz="2000" dirty="0"/>
              <a:t>   	for water</a:t>
            </a:r>
          </a:p>
          <a:p>
            <a:endParaRPr lang="en-US" altLang="zh-CN" dirty="0"/>
          </a:p>
        </p:txBody>
      </p:sp>
      <p:pic>
        <p:nvPicPr>
          <p:cNvPr id="8" name="图片 7" descr="图形用户界面&#10;&#10;AI 生成的内容可能不正确。">
            <a:extLst>
              <a:ext uri="{FF2B5EF4-FFF2-40B4-BE49-F238E27FC236}">
                <a16:creationId xmlns:a16="http://schemas.microsoft.com/office/drawing/2014/main" id="{CEEF1364-EE26-C6A1-961D-061C1B396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43" y="3429000"/>
            <a:ext cx="1247949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00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B4E04-60DD-E678-11F3-41C2DF47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Pressure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3A78D5-F833-9B7A-17F9-568839C6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4C1C97-50A2-DD75-533C-83D78441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481141BF-9438-E4FE-F0CF-5B07FAA26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689" y="919851"/>
            <a:ext cx="2573916" cy="699433"/>
          </a:xfrm>
          <a:prstGeom prst="rect">
            <a:avLst/>
          </a:prstGeom>
        </p:spPr>
      </p:pic>
      <p:pic>
        <p:nvPicPr>
          <p:cNvPr id="9" name="图片 8" descr="文本, Word&#10;&#10;AI 生成的内容可能不正确。">
            <a:extLst>
              <a:ext uri="{FF2B5EF4-FFF2-40B4-BE49-F238E27FC236}">
                <a16:creationId xmlns:a16="http://schemas.microsoft.com/office/drawing/2014/main" id="{98549BB1-5603-B5BA-2574-235CAF2F8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02" y="1619284"/>
            <a:ext cx="6635277" cy="906282"/>
          </a:xfrm>
          <a:prstGeom prst="rect">
            <a:avLst/>
          </a:prstGeom>
        </p:spPr>
      </p:pic>
      <p:pic>
        <p:nvPicPr>
          <p:cNvPr id="11" name="图片 10" descr="图表, 箱线图&#10;&#10;AI 生成的内容可能不正确。">
            <a:extLst>
              <a:ext uri="{FF2B5EF4-FFF2-40B4-BE49-F238E27FC236}">
                <a16:creationId xmlns:a16="http://schemas.microsoft.com/office/drawing/2014/main" id="{B00663EE-258A-E36C-FD24-393C864BE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602" y="2618588"/>
            <a:ext cx="7317018" cy="1212821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29F13B45-B8B2-DB19-8EBC-765656C0A4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830" y="4329272"/>
            <a:ext cx="5097838" cy="906282"/>
          </a:xfrm>
          <a:prstGeom prst="rect">
            <a:avLst/>
          </a:prstGeom>
        </p:spPr>
      </p:pic>
      <p:pic>
        <p:nvPicPr>
          <p:cNvPr id="15" name="图片 14" descr="文本&#10;&#10;AI 生成的内容可能不正确。">
            <a:extLst>
              <a:ext uri="{FF2B5EF4-FFF2-40B4-BE49-F238E27FC236}">
                <a16:creationId xmlns:a16="http://schemas.microsoft.com/office/drawing/2014/main" id="{DF09FD2F-FCEB-6330-6D7B-2D8C8BD9BB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3744" y="5137252"/>
            <a:ext cx="5207721" cy="109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46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27EFA7-92C7-D507-1E0A-AC7E36D90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9F69C5-1C24-66F9-CD9F-33910EE4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38AD2F-71DD-5455-A8E5-114E73D76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68" y="1344843"/>
            <a:ext cx="8262371" cy="604564"/>
          </a:xfrm>
          <a:prstGeom prst="rect">
            <a:avLst/>
          </a:prstGeom>
        </p:spPr>
      </p:pic>
      <p:pic>
        <p:nvPicPr>
          <p:cNvPr id="9" name="图片 8" descr="徽标&#10;&#10;AI 生成的内容可能不正确。">
            <a:extLst>
              <a:ext uri="{FF2B5EF4-FFF2-40B4-BE49-F238E27FC236}">
                <a16:creationId xmlns:a16="http://schemas.microsoft.com/office/drawing/2014/main" id="{08361A81-5444-3200-5A1A-BE174978B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6127" y="2164894"/>
            <a:ext cx="4943454" cy="71928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6077440-7203-BCAE-5BE0-A1D3A6E90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450" y="3058730"/>
            <a:ext cx="8188789" cy="719285"/>
          </a:xfrm>
          <a:prstGeom prst="rect">
            <a:avLst/>
          </a:prstGeom>
        </p:spPr>
      </p:pic>
      <p:pic>
        <p:nvPicPr>
          <p:cNvPr id="13" name="图片 12" descr="徽标&#10;&#10;AI 生成的内容可能不正确。">
            <a:extLst>
              <a:ext uri="{FF2B5EF4-FFF2-40B4-BE49-F238E27FC236}">
                <a16:creationId xmlns:a16="http://schemas.microsoft.com/office/drawing/2014/main" id="{998C4150-5E9E-D38F-A869-5ADC92F32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836" y="4214763"/>
            <a:ext cx="5096051" cy="672575"/>
          </a:xfrm>
          <a:prstGeom prst="rect">
            <a:avLst/>
          </a:prstGeom>
        </p:spPr>
      </p:pic>
      <p:sp>
        <p:nvSpPr>
          <p:cNvPr id="16" name="标题 1">
            <a:extLst>
              <a:ext uri="{FF2B5EF4-FFF2-40B4-BE49-F238E27FC236}">
                <a16:creationId xmlns:a16="http://schemas.microsoft.com/office/drawing/2014/main" id="{5FFDDA9B-46EA-3BD5-F21F-F947DF09A68C}"/>
              </a:ext>
            </a:extLst>
          </p:cNvPr>
          <p:cNvSpPr txBox="1">
            <a:spLocks/>
          </p:cNvSpPr>
          <p:nvPr/>
        </p:nvSpPr>
        <p:spPr>
          <a:xfrm>
            <a:off x="985155" y="356469"/>
            <a:ext cx="10515600" cy="3533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Pressure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105085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3FF06-1760-D824-F3AF-76FA5324D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Temperature</a:t>
            </a:r>
            <a:endParaRPr lang="zh-CN" altLang="en-US" b="1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E26BAA-C44D-65AF-E2CE-B5E895D94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8FA42-4415-4E61-9C24-C053C15D0BA6}" type="datetime1">
              <a:rPr lang="en-GB" altLang="zh-CN" smtClean="0"/>
              <a:t>13/01/2026</a:t>
            </a:fld>
            <a:endParaRPr lang="en-GB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D64DB-E4EB-D25C-7908-04C7E64C1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284EA-5FB9-41D5-9D28-140754F6090E}" type="slidenum">
              <a:rPr lang="en-GB" smtClean="0"/>
              <a:pPr/>
              <a:t>20</a:t>
            </a:fld>
            <a:endParaRPr lang="en-GB" dirty="0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81DA8165-ABAB-90A1-7274-6EE5669FD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86" y="1817872"/>
            <a:ext cx="2400635" cy="609685"/>
          </a:xfrm>
          <a:prstGeom prst="rect">
            <a:avLst/>
          </a:prstGeom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5A2FA669-5C4E-DE81-D976-836063390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86" y="2656387"/>
            <a:ext cx="2486372" cy="523948"/>
          </a:xfrm>
          <a:prstGeom prst="rect">
            <a:avLst/>
          </a:prstGeom>
        </p:spPr>
      </p:pic>
      <p:pic>
        <p:nvPicPr>
          <p:cNvPr id="13" name="图片 12" descr="图片包含 文本&#10;&#10;AI 生成的内容可能不正确。">
            <a:extLst>
              <a:ext uri="{FF2B5EF4-FFF2-40B4-BE49-F238E27FC236}">
                <a16:creationId xmlns:a16="http://schemas.microsoft.com/office/drawing/2014/main" id="{B88A227E-5CF0-6B89-12D7-963C4C6D84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586" y="3436079"/>
            <a:ext cx="2324424" cy="51442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D0876BA-AFD9-99DF-D8B9-9094BDFB7BE9}"/>
              </a:ext>
            </a:extLst>
          </p:cNvPr>
          <p:cNvSpPr txBox="1"/>
          <p:nvPr/>
        </p:nvSpPr>
        <p:spPr>
          <a:xfrm>
            <a:off x="1187532" y="890649"/>
            <a:ext cx="8467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Celsius, Fahrenheit, Rankine scale, Kelvin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4665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13D7AC19187C7243B5416B9FE253E9CE" ma:contentTypeVersion="13" ma:contentTypeDescription="新建文档。" ma:contentTypeScope="" ma:versionID="f2daac05face9e0e9fe6b46f3b9d8b32">
  <xsd:schema xmlns:xsd="http://www.w3.org/2001/XMLSchema" xmlns:xs="http://www.w3.org/2001/XMLSchema" xmlns:p="http://schemas.microsoft.com/office/2006/metadata/properties" xmlns:ns3="31c19ff9-e1d1-4112-888d-b58c2e85cb4f" xmlns:ns4="d1615e21-6e30-4a24-bcd9-a898e753af65" targetNamespace="http://schemas.microsoft.com/office/2006/metadata/properties" ma:root="true" ma:fieldsID="a9e1a3477656f7564948faf03eaac60b" ns3:_="" ns4:_="">
    <xsd:import namespace="31c19ff9-e1d1-4112-888d-b58c2e85cb4f"/>
    <xsd:import namespace="d1615e21-6e30-4a24-bcd9-a898e753af6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c19ff9-e1d1-4112-888d-b58c2e85cb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615e21-6e30-4a24-bcd9-a898e753af6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共享提示哈希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D0B1E8-D250-43CA-8A1C-E185F73C469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250408-8E05-4422-8DFD-6C19AC4623B5}">
  <ds:schemaRefs>
    <ds:schemaRef ds:uri="http://schemas.microsoft.com/office/2006/metadata/properties"/>
    <ds:schemaRef ds:uri="d1615e21-6e30-4a24-bcd9-a898e753af65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31c19ff9-e1d1-4112-888d-b58c2e85cb4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1A99BC9-999E-4D05-AF1F-2FE1980FDE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c19ff9-e1d1-4112-888d-b58c2e85cb4f"/>
    <ds:schemaRef ds:uri="d1615e21-6e30-4a24-bcd9-a898e753af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1350</TotalTime>
  <Words>1000</Words>
  <Application>Microsoft Office PowerPoint</Application>
  <PresentationFormat>宽屏</PresentationFormat>
  <Paragraphs>201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Wingdings</vt:lpstr>
      <vt:lpstr>Office 主题​​</vt:lpstr>
      <vt:lpstr>ME 200 Thermodynamics</vt:lpstr>
      <vt:lpstr>PowerPoint 演示文稿</vt:lpstr>
      <vt:lpstr>PowerPoint 演示文稿</vt:lpstr>
      <vt:lpstr>What Is Thermodynamics?</vt:lpstr>
      <vt:lpstr>The Concept of a System</vt:lpstr>
      <vt:lpstr>System, Boundary, Surroundings</vt:lpstr>
      <vt:lpstr>Closed System</vt:lpstr>
      <vt:lpstr>Open System</vt:lpstr>
      <vt:lpstr>System Types</vt:lpstr>
      <vt:lpstr>Conceptual Core - Property</vt:lpstr>
      <vt:lpstr>State, Process</vt:lpstr>
      <vt:lpstr>Equilibrium</vt:lpstr>
      <vt:lpstr>Basic Units</vt:lpstr>
      <vt:lpstr>English Units</vt:lpstr>
      <vt:lpstr>Example</vt:lpstr>
      <vt:lpstr>Example</vt:lpstr>
      <vt:lpstr>Specific Quantities</vt:lpstr>
      <vt:lpstr>Pressure</vt:lpstr>
      <vt:lpstr>PowerPoint 演示文稿</vt:lpstr>
      <vt:lpstr>Temperature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CFD</dc:title>
  <dc:creator>Cui, Jiahuan</dc:creator>
  <cp:lastModifiedBy>Liu, Yang</cp:lastModifiedBy>
  <cp:revision>26</cp:revision>
  <cp:lastPrinted>2020-09-14T01:05:13Z</cp:lastPrinted>
  <dcterms:created xsi:type="dcterms:W3CDTF">2020-07-18T12:52:32Z</dcterms:created>
  <dcterms:modified xsi:type="dcterms:W3CDTF">2026-01-13T06:51:11Z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0x01010013D7AC19187C7243B5416B9FE253E9CE</vt:lpwstr>
  </property>
</Properties>
</file>