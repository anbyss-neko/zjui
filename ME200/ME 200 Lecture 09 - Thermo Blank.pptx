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3"/>
  </p:notesMasterIdLst>
  <p:handoutMasterIdLst>
    <p:handoutMasterId r:id="rId24"/>
  </p:handoutMasterIdLst>
  <p:sldIdLst>
    <p:sldId id="256" r:id="rId2"/>
    <p:sldId id="529" r:id="rId3"/>
    <p:sldId id="530" r:id="rId4"/>
    <p:sldId id="531" r:id="rId5"/>
    <p:sldId id="535" r:id="rId6"/>
    <p:sldId id="536" r:id="rId7"/>
    <p:sldId id="537" r:id="rId8"/>
    <p:sldId id="532" r:id="rId9"/>
    <p:sldId id="543" r:id="rId10"/>
    <p:sldId id="545" r:id="rId11"/>
    <p:sldId id="546" r:id="rId12"/>
    <p:sldId id="550" r:id="rId13"/>
    <p:sldId id="539" r:id="rId14"/>
    <p:sldId id="540" r:id="rId15"/>
    <p:sldId id="551" r:id="rId16"/>
    <p:sldId id="552" r:id="rId17"/>
    <p:sldId id="541" r:id="rId18"/>
    <p:sldId id="557" r:id="rId19"/>
    <p:sldId id="553" r:id="rId20"/>
    <p:sldId id="554" r:id="rId21"/>
    <p:sldId id="55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8710E5-70FE-3B4F-87B0-B6F024EB57E4}" v="3" dt="2025-03-05T15:36:52.715"/>
    <p1510:client id="{EECAD976-9A4B-6044-8382-C48ABD0028A3}" v="27" dt="2025-03-05T15:14:37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7" autoAdjust="0"/>
    <p:restoredTop sz="92449" autoAdjust="0"/>
  </p:normalViewPr>
  <p:slideViewPr>
    <p:cSldViewPr snapToGrid="0">
      <p:cViewPr varScale="1">
        <p:scale>
          <a:sx n="89" d="100"/>
          <a:sy n="89" d="100"/>
        </p:scale>
        <p:origin x="1176" y="9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i, Jiahuan" userId="74189dc3-7c4e-4658-a955-b1919aec75a3" providerId="ADAL" clId="{EECAD976-9A4B-6044-8382-C48ABD0028A3}"/>
    <pc:docChg chg="undo custSel delSld modSld">
      <pc:chgData name="Cui, Jiahuan" userId="74189dc3-7c4e-4658-a955-b1919aec75a3" providerId="ADAL" clId="{EECAD976-9A4B-6044-8382-C48ABD0028A3}" dt="2025-03-05T15:16:00.827" v="67" actId="2696"/>
      <pc:docMkLst>
        <pc:docMk/>
      </pc:docMkLst>
      <pc:sldChg chg="modSp mod">
        <pc:chgData name="Cui, Jiahuan" userId="74189dc3-7c4e-4658-a955-b1919aec75a3" providerId="ADAL" clId="{EECAD976-9A4B-6044-8382-C48ABD0028A3}" dt="2025-03-05T15:01:25.702" v="2" actId="20577"/>
        <pc:sldMkLst>
          <pc:docMk/>
          <pc:sldMk cId="2943049344" sldId="256"/>
        </pc:sldMkLst>
        <pc:spChg chg="mod">
          <ac:chgData name="Cui, Jiahuan" userId="74189dc3-7c4e-4658-a955-b1919aec75a3" providerId="ADAL" clId="{EECAD976-9A4B-6044-8382-C48ABD0028A3}" dt="2025-03-05T15:01:25.702" v="2" actId="20577"/>
          <ac:spMkLst>
            <pc:docMk/>
            <pc:sldMk cId="2943049344" sldId="256"/>
            <ac:spMk id="3" creationId="{00000000-0000-0000-0000-000000000000}"/>
          </ac:spMkLst>
        </pc:spChg>
      </pc:sldChg>
      <pc:sldChg chg="del">
        <pc:chgData name="Cui, Jiahuan" userId="74189dc3-7c4e-4658-a955-b1919aec75a3" providerId="ADAL" clId="{EECAD976-9A4B-6044-8382-C48ABD0028A3}" dt="2025-03-05T15:03:01.573" v="12" actId="2696"/>
        <pc:sldMkLst>
          <pc:docMk/>
          <pc:sldMk cId="142594837" sldId="294"/>
        </pc:sldMkLst>
      </pc:sldChg>
      <pc:sldChg chg="del">
        <pc:chgData name="Cui, Jiahuan" userId="74189dc3-7c4e-4658-a955-b1919aec75a3" providerId="ADAL" clId="{EECAD976-9A4B-6044-8382-C48ABD0028A3}" dt="2025-03-05T15:03:02.050" v="13" actId="2696"/>
        <pc:sldMkLst>
          <pc:docMk/>
          <pc:sldMk cId="2891395568" sldId="295"/>
        </pc:sldMkLst>
      </pc:sldChg>
      <pc:sldChg chg="del">
        <pc:chgData name="Cui, Jiahuan" userId="74189dc3-7c4e-4658-a955-b1919aec75a3" providerId="ADAL" clId="{EECAD976-9A4B-6044-8382-C48ABD0028A3}" dt="2025-03-05T15:03:02.975" v="15" actId="2696"/>
        <pc:sldMkLst>
          <pc:docMk/>
          <pc:sldMk cId="3776276160" sldId="296"/>
        </pc:sldMkLst>
      </pc:sldChg>
      <pc:sldChg chg="del">
        <pc:chgData name="Cui, Jiahuan" userId="74189dc3-7c4e-4658-a955-b1919aec75a3" providerId="ADAL" clId="{EECAD976-9A4B-6044-8382-C48ABD0028A3}" dt="2025-03-05T15:03:03.460" v="16" actId="2696"/>
        <pc:sldMkLst>
          <pc:docMk/>
          <pc:sldMk cId="2255904525" sldId="297"/>
        </pc:sldMkLst>
      </pc:sldChg>
      <pc:sldChg chg="del">
        <pc:chgData name="Cui, Jiahuan" userId="74189dc3-7c4e-4658-a955-b1919aec75a3" providerId="ADAL" clId="{EECAD976-9A4B-6044-8382-C48ABD0028A3}" dt="2025-03-05T15:03:04.445" v="18" actId="2696"/>
        <pc:sldMkLst>
          <pc:docMk/>
          <pc:sldMk cId="3127888922" sldId="298"/>
        </pc:sldMkLst>
      </pc:sldChg>
      <pc:sldChg chg="del">
        <pc:chgData name="Cui, Jiahuan" userId="74189dc3-7c4e-4658-a955-b1919aec75a3" providerId="ADAL" clId="{EECAD976-9A4B-6044-8382-C48ABD0028A3}" dt="2025-03-05T15:03:04.978" v="19" actId="2696"/>
        <pc:sldMkLst>
          <pc:docMk/>
          <pc:sldMk cId="1920468780" sldId="299"/>
        </pc:sldMkLst>
      </pc:sldChg>
      <pc:sldChg chg="del">
        <pc:chgData name="Cui, Jiahuan" userId="74189dc3-7c4e-4658-a955-b1919aec75a3" providerId="ADAL" clId="{EECAD976-9A4B-6044-8382-C48ABD0028A3}" dt="2025-03-05T15:03:05.457" v="20" actId="2696"/>
        <pc:sldMkLst>
          <pc:docMk/>
          <pc:sldMk cId="3455975868" sldId="300"/>
        </pc:sldMkLst>
      </pc:sldChg>
      <pc:sldChg chg="del">
        <pc:chgData name="Cui, Jiahuan" userId="74189dc3-7c4e-4658-a955-b1919aec75a3" providerId="ADAL" clId="{EECAD976-9A4B-6044-8382-C48ABD0028A3}" dt="2025-03-05T15:03:00.673" v="11" actId="2696"/>
        <pc:sldMkLst>
          <pc:docMk/>
          <pc:sldMk cId="2484439376" sldId="321"/>
        </pc:sldMkLst>
      </pc:sldChg>
      <pc:sldChg chg="del">
        <pc:chgData name="Cui, Jiahuan" userId="74189dc3-7c4e-4658-a955-b1919aec75a3" providerId="ADAL" clId="{EECAD976-9A4B-6044-8382-C48ABD0028A3}" dt="2025-03-05T15:03:02.568" v="14" actId="2696"/>
        <pc:sldMkLst>
          <pc:docMk/>
          <pc:sldMk cId="3148280121" sldId="322"/>
        </pc:sldMkLst>
      </pc:sldChg>
      <pc:sldChg chg="del">
        <pc:chgData name="Cui, Jiahuan" userId="74189dc3-7c4e-4658-a955-b1919aec75a3" providerId="ADAL" clId="{EECAD976-9A4B-6044-8382-C48ABD0028A3}" dt="2025-03-05T15:03:03.950" v="17" actId="2696"/>
        <pc:sldMkLst>
          <pc:docMk/>
          <pc:sldMk cId="218507122" sldId="323"/>
        </pc:sldMkLst>
      </pc:sldChg>
      <pc:sldChg chg="del">
        <pc:chgData name="Cui, Jiahuan" userId="74189dc3-7c4e-4658-a955-b1919aec75a3" providerId="ADAL" clId="{EECAD976-9A4B-6044-8382-C48ABD0028A3}" dt="2025-03-05T15:01:29.996" v="3" actId="2696"/>
        <pc:sldMkLst>
          <pc:docMk/>
          <pc:sldMk cId="2566521072" sldId="346"/>
        </pc:sldMkLst>
      </pc:sldChg>
      <pc:sldChg chg="del">
        <pc:chgData name="Cui, Jiahuan" userId="74189dc3-7c4e-4658-a955-b1919aec75a3" providerId="ADAL" clId="{EECAD976-9A4B-6044-8382-C48ABD0028A3}" dt="2025-03-05T15:01:32.364" v="5" actId="2696"/>
        <pc:sldMkLst>
          <pc:docMk/>
          <pc:sldMk cId="2049044971" sldId="510"/>
        </pc:sldMkLst>
      </pc:sldChg>
      <pc:sldChg chg="del">
        <pc:chgData name="Cui, Jiahuan" userId="74189dc3-7c4e-4658-a955-b1919aec75a3" providerId="ADAL" clId="{EECAD976-9A4B-6044-8382-C48ABD0028A3}" dt="2025-03-05T15:01:33.209" v="6" actId="2696"/>
        <pc:sldMkLst>
          <pc:docMk/>
          <pc:sldMk cId="3239804739" sldId="518"/>
        </pc:sldMkLst>
      </pc:sldChg>
      <pc:sldChg chg="del">
        <pc:chgData name="Cui, Jiahuan" userId="74189dc3-7c4e-4658-a955-b1919aec75a3" providerId="ADAL" clId="{EECAD976-9A4B-6044-8382-C48ABD0028A3}" dt="2025-03-05T15:01:34.758" v="7" actId="2696"/>
        <pc:sldMkLst>
          <pc:docMk/>
          <pc:sldMk cId="3320475446" sldId="520"/>
        </pc:sldMkLst>
      </pc:sldChg>
      <pc:sldChg chg="del">
        <pc:chgData name="Cui, Jiahuan" userId="74189dc3-7c4e-4658-a955-b1919aec75a3" providerId="ADAL" clId="{EECAD976-9A4B-6044-8382-C48ABD0028A3}" dt="2025-03-05T15:01:41.256" v="10" actId="2696"/>
        <pc:sldMkLst>
          <pc:docMk/>
          <pc:sldMk cId="948247629" sldId="523"/>
        </pc:sldMkLst>
      </pc:sldChg>
      <pc:sldChg chg="del">
        <pc:chgData name="Cui, Jiahuan" userId="74189dc3-7c4e-4658-a955-b1919aec75a3" providerId="ADAL" clId="{EECAD976-9A4B-6044-8382-C48ABD0028A3}" dt="2025-03-05T15:01:39.839" v="8" actId="2696"/>
        <pc:sldMkLst>
          <pc:docMk/>
          <pc:sldMk cId="637735868" sldId="527"/>
        </pc:sldMkLst>
      </pc:sldChg>
      <pc:sldChg chg="del">
        <pc:chgData name="Cui, Jiahuan" userId="74189dc3-7c4e-4658-a955-b1919aec75a3" providerId="ADAL" clId="{EECAD976-9A4B-6044-8382-C48ABD0028A3}" dt="2025-03-05T15:01:40.818" v="9" actId="2696"/>
        <pc:sldMkLst>
          <pc:docMk/>
          <pc:sldMk cId="3843400398" sldId="528"/>
        </pc:sldMkLst>
      </pc:sldChg>
      <pc:sldChg chg="addSp delSp modSp mod addAnim delAnim">
        <pc:chgData name="Cui, Jiahuan" userId="74189dc3-7c4e-4658-a955-b1919aec75a3" providerId="ADAL" clId="{EECAD976-9A4B-6044-8382-C48ABD0028A3}" dt="2025-03-05T15:13:33.384" v="52" actId="20577"/>
        <pc:sldMkLst>
          <pc:docMk/>
          <pc:sldMk cId="3967116771" sldId="531"/>
        </pc:sldMkLst>
        <pc:spChg chg="add mod">
          <ac:chgData name="Cui, Jiahuan" userId="74189dc3-7c4e-4658-a955-b1919aec75a3" providerId="ADAL" clId="{EECAD976-9A4B-6044-8382-C48ABD0028A3}" dt="2025-03-05T15:13:33.384" v="52" actId="20577"/>
          <ac:spMkLst>
            <pc:docMk/>
            <pc:sldMk cId="3967116771" sldId="531"/>
            <ac:spMk id="4" creationId="{B59B4942-B1E9-51E8-9B58-12C1539FA65F}"/>
          </ac:spMkLst>
        </pc:spChg>
        <pc:spChg chg="add del">
          <ac:chgData name="Cui, Jiahuan" userId="74189dc3-7c4e-4658-a955-b1919aec75a3" providerId="ADAL" clId="{EECAD976-9A4B-6044-8382-C48ABD0028A3}" dt="2025-03-05T15:12:42.015" v="23" actId="478"/>
          <ac:spMkLst>
            <pc:docMk/>
            <pc:sldMk cId="3967116771" sldId="531"/>
            <ac:spMk id="13" creationId="{BA1D5A17-F5B5-49F2-B203-A282DE659F58}"/>
          </ac:spMkLst>
        </pc:spChg>
        <pc:spChg chg="add del">
          <ac:chgData name="Cui, Jiahuan" userId="74189dc3-7c4e-4658-a955-b1919aec75a3" providerId="ADAL" clId="{EECAD976-9A4B-6044-8382-C48ABD0028A3}" dt="2025-03-05T15:12:50.222" v="25" actId="478"/>
          <ac:spMkLst>
            <pc:docMk/>
            <pc:sldMk cId="3967116771" sldId="531"/>
            <ac:spMk id="15" creationId="{76172241-33E8-4D04-9925-6E9E1E922625}"/>
          </ac:spMkLst>
        </pc:spChg>
      </pc:sldChg>
      <pc:sldChg chg="delSp modSp del mod delAnim">
        <pc:chgData name="Cui, Jiahuan" userId="74189dc3-7c4e-4658-a955-b1919aec75a3" providerId="ADAL" clId="{EECAD976-9A4B-6044-8382-C48ABD0028A3}" dt="2025-03-05T15:16:00.827" v="67" actId="2696"/>
        <pc:sldMkLst>
          <pc:docMk/>
          <pc:sldMk cId="958629534" sldId="534"/>
        </pc:sldMkLst>
        <pc:spChg chg="del">
          <ac:chgData name="Cui, Jiahuan" userId="74189dc3-7c4e-4658-a955-b1919aec75a3" providerId="ADAL" clId="{EECAD976-9A4B-6044-8382-C48ABD0028A3}" dt="2025-03-05T15:14:09.963" v="53" actId="478"/>
          <ac:spMkLst>
            <pc:docMk/>
            <pc:sldMk cId="958629534" sldId="534"/>
            <ac:spMk id="2" creationId="{8C5467CB-E073-4DCF-A502-AC3763F81327}"/>
          </ac:spMkLst>
        </pc:spChg>
        <pc:spChg chg="mod">
          <ac:chgData name="Cui, Jiahuan" userId="74189dc3-7c4e-4658-a955-b1919aec75a3" providerId="ADAL" clId="{EECAD976-9A4B-6044-8382-C48ABD0028A3}" dt="2025-03-05T15:15:17.059" v="66" actId="20577"/>
          <ac:spMkLst>
            <pc:docMk/>
            <pc:sldMk cId="958629534" sldId="534"/>
            <ac:spMk id="3" creationId="{00000000-0000-0000-0000-000000000000}"/>
          </ac:spMkLst>
        </pc:spChg>
        <pc:spChg chg="mod">
          <ac:chgData name="Cui, Jiahuan" userId="74189dc3-7c4e-4658-a955-b1919aec75a3" providerId="ADAL" clId="{EECAD976-9A4B-6044-8382-C48ABD0028A3}" dt="2025-03-05T15:15:09.925" v="64" actId="6549"/>
          <ac:spMkLst>
            <pc:docMk/>
            <pc:sldMk cId="958629534" sldId="534"/>
            <ac:spMk id="6" creationId="{412E9269-ABB0-499F-BDB1-3A07BAA5FB69}"/>
          </ac:spMkLst>
        </pc:spChg>
        <pc:spChg chg="del">
          <ac:chgData name="Cui, Jiahuan" userId="74189dc3-7c4e-4658-a955-b1919aec75a3" providerId="ADAL" clId="{EECAD976-9A4B-6044-8382-C48ABD0028A3}" dt="2025-03-05T15:15:04.774" v="61" actId="478"/>
          <ac:spMkLst>
            <pc:docMk/>
            <pc:sldMk cId="958629534" sldId="534"/>
            <ac:spMk id="7" creationId="{7B72F297-1835-4E51-8B92-C6DE90F17776}"/>
          </ac:spMkLst>
        </pc:spChg>
        <pc:spChg chg="del mod">
          <ac:chgData name="Cui, Jiahuan" userId="74189dc3-7c4e-4658-a955-b1919aec75a3" providerId="ADAL" clId="{EECAD976-9A4B-6044-8382-C48ABD0028A3}" dt="2025-03-05T15:15:04.774" v="61" actId="478"/>
          <ac:spMkLst>
            <pc:docMk/>
            <pc:sldMk cId="958629534" sldId="534"/>
            <ac:spMk id="8" creationId="{A4D70B77-D1CE-4609-88C7-AF12C3337A10}"/>
          </ac:spMkLst>
        </pc:spChg>
        <pc:spChg chg="mod">
          <ac:chgData name="Cui, Jiahuan" userId="74189dc3-7c4e-4658-a955-b1919aec75a3" providerId="ADAL" clId="{EECAD976-9A4B-6044-8382-C48ABD0028A3}" dt="2025-03-05T15:15:15.355" v="65" actId="1076"/>
          <ac:spMkLst>
            <pc:docMk/>
            <pc:sldMk cId="958629534" sldId="534"/>
            <ac:spMk id="9" creationId="{A8FE5861-01E6-41CD-9279-13C85526FF4A}"/>
          </ac:spMkLst>
        </pc:spChg>
        <pc:spChg chg="mod">
          <ac:chgData name="Cui, Jiahuan" userId="74189dc3-7c4e-4658-a955-b1919aec75a3" providerId="ADAL" clId="{EECAD976-9A4B-6044-8382-C48ABD0028A3}" dt="2025-03-05T15:15:15.355" v="65" actId="1076"/>
          <ac:spMkLst>
            <pc:docMk/>
            <pc:sldMk cId="958629534" sldId="534"/>
            <ac:spMk id="10" creationId="{6984D318-B7CD-4ED1-A033-C2CC9C77B04D}"/>
          </ac:spMkLst>
        </pc:spChg>
        <pc:spChg chg="del">
          <ac:chgData name="Cui, Jiahuan" userId="74189dc3-7c4e-4658-a955-b1919aec75a3" providerId="ADAL" clId="{EECAD976-9A4B-6044-8382-C48ABD0028A3}" dt="2025-03-05T15:14:11.518" v="54" actId="478"/>
          <ac:spMkLst>
            <pc:docMk/>
            <pc:sldMk cId="958629534" sldId="534"/>
            <ac:spMk id="11" creationId="{98CE6353-3729-4672-9E69-8B090654FAD2}"/>
          </ac:spMkLst>
        </pc:spChg>
      </pc:sldChg>
      <pc:sldChg chg="del">
        <pc:chgData name="Cui, Jiahuan" userId="74189dc3-7c4e-4658-a955-b1919aec75a3" providerId="ADAL" clId="{EECAD976-9A4B-6044-8382-C48ABD0028A3}" dt="2025-03-05T15:01:30.709" v="4" actId="2696"/>
        <pc:sldMkLst>
          <pc:docMk/>
          <pc:sldMk cId="1325056498" sldId="561"/>
        </pc:sldMkLst>
      </pc:sldChg>
    </pc:docChg>
  </pc:docChgLst>
  <pc:docChgLst>
    <pc:chgData name="Cui, Jiahuan" userId="74189dc3-7c4e-4658-a955-b1919aec75a3" providerId="ADAL" clId="{B48710E5-70FE-3B4F-87B0-B6F024EB57E4}"/>
    <pc:docChg chg="custSel addSld delSld modSld">
      <pc:chgData name="Cui, Jiahuan" userId="74189dc3-7c4e-4658-a955-b1919aec75a3" providerId="ADAL" clId="{B48710E5-70FE-3B4F-87B0-B6F024EB57E4}" dt="2025-03-05T15:41:44.653" v="19" actId="2696"/>
      <pc:docMkLst>
        <pc:docMk/>
      </pc:docMkLst>
      <pc:sldChg chg="delSp mod delAnim">
        <pc:chgData name="Cui, Jiahuan" userId="74189dc3-7c4e-4658-a955-b1919aec75a3" providerId="ADAL" clId="{B48710E5-70FE-3B4F-87B0-B6F024EB57E4}" dt="2025-03-05T15:34:38.421" v="0" actId="478"/>
        <pc:sldMkLst>
          <pc:docMk/>
          <pc:sldMk cId="2179843417" sldId="535"/>
        </pc:sldMkLst>
        <pc:spChg chg="del">
          <ac:chgData name="Cui, Jiahuan" userId="74189dc3-7c4e-4658-a955-b1919aec75a3" providerId="ADAL" clId="{B48710E5-70FE-3B4F-87B0-B6F024EB57E4}" dt="2025-03-05T15:34:38.421" v="0" actId="478"/>
          <ac:spMkLst>
            <pc:docMk/>
            <pc:sldMk cId="2179843417" sldId="535"/>
            <ac:spMk id="10" creationId="{D4A2C1E7-E5C9-470E-8725-9C8C13C0C0A8}"/>
          </ac:spMkLst>
        </pc:spChg>
        <pc:spChg chg="del">
          <ac:chgData name="Cui, Jiahuan" userId="74189dc3-7c4e-4658-a955-b1919aec75a3" providerId="ADAL" clId="{B48710E5-70FE-3B4F-87B0-B6F024EB57E4}" dt="2025-03-05T15:34:38.421" v="0" actId="478"/>
          <ac:spMkLst>
            <pc:docMk/>
            <pc:sldMk cId="2179843417" sldId="535"/>
            <ac:spMk id="11" creationId="{4C0DE811-E3BB-47F0-92DF-A4FD04126970}"/>
          </ac:spMkLst>
        </pc:spChg>
        <pc:spChg chg="del">
          <ac:chgData name="Cui, Jiahuan" userId="74189dc3-7c4e-4658-a955-b1919aec75a3" providerId="ADAL" clId="{B48710E5-70FE-3B4F-87B0-B6F024EB57E4}" dt="2025-03-05T15:34:38.421" v="0" actId="478"/>
          <ac:spMkLst>
            <pc:docMk/>
            <pc:sldMk cId="2179843417" sldId="535"/>
            <ac:spMk id="12" creationId="{2CA89AE6-2087-4522-8887-D3426352AE99}"/>
          </ac:spMkLst>
        </pc:spChg>
        <pc:spChg chg="del">
          <ac:chgData name="Cui, Jiahuan" userId="74189dc3-7c4e-4658-a955-b1919aec75a3" providerId="ADAL" clId="{B48710E5-70FE-3B4F-87B0-B6F024EB57E4}" dt="2025-03-05T15:34:38.421" v="0" actId="478"/>
          <ac:spMkLst>
            <pc:docMk/>
            <pc:sldMk cId="2179843417" sldId="535"/>
            <ac:spMk id="15" creationId="{0B392BAC-FB1D-4B43-8FBD-63018CBF81AC}"/>
          </ac:spMkLst>
        </pc:spChg>
        <pc:spChg chg="del">
          <ac:chgData name="Cui, Jiahuan" userId="74189dc3-7c4e-4658-a955-b1919aec75a3" providerId="ADAL" clId="{B48710E5-70FE-3B4F-87B0-B6F024EB57E4}" dt="2025-03-05T15:34:38.421" v="0" actId="478"/>
          <ac:spMkLst>
            <pc:docMk/>
            <pc:sldMk cId="2179843417" sldId="535"/>
            <ac:spMk id="17" creationId="{D1247DF8-116D-4461-8FEE-9FB0C4B06D98}"/>
          </ac:spMkLst>
        </pc:spChg>
        <pc:spChg chg="del">
          <ac:chgData name="Cui, Jiahuan" userId="74189dc3-7c4e-4658-a955-b1919aec75a3" providerId="ADAL" clId="{B48710E5-70FE-3B4F-87B0-B6F024EB57E4}" dt="2025-03-05T15:34:38.421" v="0" actId="478"/>
          <ac:spMkLst>
            <pc:docMk/>
            <pc:sldMk cId="2179843417" sldId="535"/>
            <ac:spMk id="18" creationId="{A8E30547-9828-4133-8AD3-DF4AD207B862}"/>
          </ac:spMkLst>
        </pc:spChg>
        <pc:picChg chg="del">
          <ac:chgData name="Cui, Jiahuan" userId="74189dc3-7c4e-4658-a955-b1919aec75a3" providerId="ADAL" clId="{B48710E5-70FE-3B4F-87B0-B6F024EB57E4}" dt="2025-03-05T15:34:38.421" v="0" actId="478"/>
          <ac:picMkLst>
            <pc:docMk/>
            <pc:sldMk cId="2179843417" sldId="535"/>
            <ac:picMk id="5" creationId="{00000000-0000-0000-0000-000000000000}"/>
          </ac:picMkLst>
        </pc:picChg>
      </pc:sldChg>
      <pc:sldChg chg="delSp mod">
        <pc:chgData name="Cui, Jiahuan" userId="74189dc3-7c4e-4658-a955-b1919aec75a3" providerId="ADAL" clId="{B48710E5-70FE-3B4F-87B0-B6F024EB57E4}" dt="2025-03-05T15:34:59.689" v="5" actId="478"/>
        <pc:sldMkLst>
          <pc:docMk/>
          <pc:sldMk cId="3419887140" sldId="536"/>
        </pc:sldMkLst>
        <pc:spChg chg="del">
          <ac:chgData name="Cui, Jiahuan" userId="74189dc3-7c4e-4658-a955-b1919aec75a3" providerId="ADAL" clId="{B48710E5-70FE-3B4F-87B0-B6F024EB57E4}" dt="2025-03-05T15:34:53.298" v="2" actId="478"/>
          <ac:spMkLst>
            <pc:docMk/>
            <pc:sldMk cId="3419887140" sldId="536"/>
            <ac:spMk id="4" creationId="{94BA755C-DA0F-4785-92F6-D5107E0EA0E0}"/>
          </ac:spMkLst>
        </pc:spChg>
        <pc:spChg chg="del">
          <ac:chgData name="Cui, Jiahuan" userId="74189dc3-7c4e-4658-a955-b1919aec75a3" providerId="ADAL" clId="{B48710E5-70FE-3B4F-87B0-B6F024EB57E4}" dt="2025-03-05T15:34:49.536" v="1" actId="478"/>
          <ac:spMkLst>
            <pc:docMk/>
            <pc:sldMk cId="3419887140" sldId="536"/>
            <ac:spMk id="12" creationId="{6453D2BF-91B7-4DBE-9CA6-11CE8B4BF108}"/>
          </ac:spMkLst>
        </pc:spChg>
        <pc:spChg chg="del">
          <ac:chgData name="Cui, Jiahuan" userId="74189dc3-7c4e-4658-a955-b1919aec75a3" providerId="ADAL" clId="{B48710E5-70FE-3B4F-87B0-B6F024EB57E4}" dt="2025-03-05T15:34:55.896" v="3" actId="478"/>
          <ac:spMkLst>
            <pc:docMk/>
            <pc:sldMk cId="3419887140" sldId="536"/>
            <ac:spMk id="13" creationId="{AFE7842E-8F7C-407D-84B7-55C93AE2EFAE}"/>
          </ac:spMkLst>
        </pc:spChg>
        <pc:spChg chg="del">
          <ac:chgData name="Cui, Jiahuan" userId="74189dc3-7c4e-4658-a955-b1919aec75a3" providerId="ADAL" clId="{B48710E5-70FE-3B4F-87B0-B6F024EB57E4}" dt="2025-03-05T15:34:57.421" v="4" actId="478"/>
          <ac:spMkLst>
            <pc:docMk/>
            <pc:sldMk cId="3419887140" sldId="536"/>
            <ac:spMk id="15" creationId="{ED7D148A-BDDF-4255-B002-CE50317B7824}"/>
          </ac:spMkLst>
        </pc:spChg>
        <pc:spChg chg="del">
          <ac:chgData name="Cui, Jiahuan" userId="74189dc3-7c4e-4658-a955-b1919aec75a3" providerId="ADAL" clId="{B48710E5-70FE-3B4F-87B0-B6F024EB57E4}" dt="2025-03-05T15:34:59.689" v="5" actId="478"/>
          <ac:spMkLst>
            <pc:docMk/>
            <pc:sldMk cId="3419887140" sldId="536"/>
            <ac:spMk id="16" creationId="{FED637EE-6AC8-4D72-BC8C-D3B78B80C46D}"/>
          </ac:spMkLst>
        </pc:spChg>
      </pc:sldChg>
      <pc:sldChg chg="addSp delSp modSp mod">
        <pc:chgData name="Cui, Jiahuan" userId="74189dc3-7c4e-4658-a955-b1919aec75a3" providerId="ADAL" clId="{B48710E5-70FE-3B4F-87B0-B6F024EB57E4}" dt="2025-03-05T15:35:18.217" v="8" actId="478"/>
        <pc:sldMkLst>
          <pc:docMk/>
          <pc:sldMk cId="4109807915" sldId="537"/>
        </pc:sldMkLst>
        <pc:spChg chg="add del mod">
          <ac:chgData name="Cui, Jiahuan" userId="74189dc3-7c4e-4658-a955-b1919aec75a3" providerId="ADAL" clId="{B48710E5-70FE-3B4F-87B0-B6F024EB57E4}" dt="2025-03-05T15:35:15.444" v="7" actId="478"/>
          <ac:spMkLst>
            <pc:docMk/>
            <pc:sldMk cId="4109807915" sldId="537"/>
            <ac:spMk id="2" creationId="{39F4BCEF-17C5-CA0F-876A-C86286DF44A5}"/>
          </ac:spMkLst>
        </pc:spChg>
        <pc:spChg chg="del">
          <ac:chgData name="Cui, Jiahuan" userId="74189dc3-7c4e-4658-a955-b1919aec75a3" providerId="ADAL" clId="{B48710E5-70FE-3B4F-87B0-B6F024EB57E4}" dt="2025-03-05T15:35:18.217" v="8" actId="478"/>
          <ac:spMkLst>
            <pc:docMk/>
            <pc:sldMk cId="4109807915" sldId="537"/>
            <ac:spMk id="9" creationId="{AE41E0F9-A006-4A97-A100-088EA9FEC0EA}"/>
          </ac:spMkLst>
        </pc:spChg>
        <pc:picChg chg="del">
          <ac:chgData name="Cui, Jiahuan" userId="74189dc3-7c4e-4658-a955-b1919aec75a3" providerId="ADAL" clId="{B48710E5-70FE-3B4F-87B0-B6F024EB57E4}" dt="2025-03-05T15:35:18.217" v="8" actId="478"/>
          <ac:picMkLst>
            <pc:docMk/>
            <pc:sldMk cId="4109807915" sldId="537"/>
            <ac:picMk id="8" creationId="{7567D126-6A9C-4D0A-91C6-3DBEDD2C8BED}"/>
          </ac:picMkLst>
        </pc:picChg>
        <pc:cxnChg chg="del">
          <ac:chgData name="Cui, Jiahuan" userId="74189dc3-7c4e-4658-a955-b1919aec75a3" providerId="ADAL" clId="{B48710E5-70FE-3B4F-87B0-B6F024EB57E4}" dt="2025-03-05T15:35:18.217" v="8" actId="478"/>
          <ac:cxnSpMkLst>
            <pc:docMk/>
            <pc:sldMk cId="4109807915" sldId="537"/>
            <ac:cxnSpMk id="14" creationId="{00000000-0000-0000-0000-000000000000}"/>
          </ac:cxnSpMkLst>
        </pc:cxnChg>
      </pc:sldChg>
      <pc:sldChg chg="del">
        <pc:chgData name="Cui, Jiahuan" userId="74189dc3-7c4e-4658-a955-b1919aec75a3" providerId="ADAL" clId="{B48710E5-70FE-3B4F-87B0-B6F024EB57E4}" dt="2025-03-05T15:35:27.818" v="9" actId="2696"/>
        <pc:sldMkLst>
          <pc:docMk/>
          <pc:sldMk cId="1006023121" sldId="542"/>
        </pc:sldMkLst>
      </pc:sldChg>
      <pc:sldChg chg="del">
        <pc:chgData name="Cui, Jiahuan" userId="74189dc3-7c4e-4658-a955-b1919aec75a3" providerId="ADAL" clId="{B48710E5-70FE-3B4F-87B0-B6F024EB57E4}" dt="2025-03-05T15:35:30.298" v="10" actId="2696"/>
        <pc:sldMkLst>
          <pc:docMk/>
          <pc:sldMk cId="2681549899" sldId="544"/>
        </pc:sldMkLst>
      </pc:sldChg>
      <pc:sldChg chg="del">
        <pc:chgData name="Cui, Jiahuan" userId="74189dc3-7c4e-4658-a955-b1919aec75a3" providerId="ADAL" clId="{B48710E5-70FE-3B4F-87B0-B6F024EB57E4}" dt="2025-03-05T15:36:50.545" v="14" actId="2696"/>
        <pc:sldMkLst>
          <pc:docMk/>
          <pc:sldMk cId="3201676280" sldId="547"/>
        </pc:sldMkLst>
      </pc:sldChg>
      <pc:sldChg chg="del">
        <pc:chgData name="Cui, Jiahuan" userId="74189dc3-7c4e-4658-a955-b1919aec75a3" providerId="ADAL" clId="{B48710E5-70FE-3B4F-87B0-B6F024EB57E4}" dt="2025-03-05T15:36:24.234" v="11" actId="2696"/>
        <pc:sldMkLst>
          <pc:docMk/>
          <pc:sldMk cId="2684543662" sldId="548"/>
        </pc:sldMkLst>
      </pc:sldChg>
      <pc:sldChg chg="del">
        <pc:chgData name="Cui, Jiahuan" userId="74189dc3-7c4e-4658-a955-b1919aec75a3" providerId="ADAL" clId="{B48710E5-70FE-3B4F-87B0-B6F024EB57E4}" dt="2025-03-05T15:36:26.409" v="12" actId="2696"/>
        <pc:sldMkLst>
          <pc:docMk/>
          <pc:sldMk cId="3328409501" sldId="549"/>
        </pc:sldMkLst>
      </pc:sldChg>
      <pc:sldChg chg="del">
        <pc:chgData name="Cui, Jiahuan" userId="74189dc3-7c4e-4658-a955-b1919aec75a3" providerId="ADAL" clId="{B48710E5-70FE-3B4F-87B0-B6F024EB57E4}" dt="2025-03-05T15:36:47.079" v="13" actId="2696"/>
        <pc:sldMkLst>
          <pc:docMk/>
          <pc:sldMk cId="458556507" sldId="550"/>
        </pc:sldMkLst>
      </pc:sldChg>
      <pc:sldChg chg="add">
        <pc:chgData name="Cui, Jiahuan" userId="74189dc3-7c4e-4658-a955-b1919aec75a3" providerId="ADAL" clId="{B48710E5-70FE-3B4F-87B0-B6F024EB57E4}" dt="2025-03-05T15:36:52.714" v="15"/>
        <pc:sldMkLst>
          <pc:docMk/>
          <pc:sldMk cId="3847928482" sldId="550"/>
        </pc:sldMkLst>
      </pc:sldChg>
      <pc:sldChg chg="del">
        <pc:chgData name="Cui, Jiahuan" userId="74189dc3-7c4e-4658-a955-b1919aec75a3" providerId="ADAL" clId="{B48710E5-70FE-3B4F-87B0-B6F024EB57E4}" dt="2025-03-05T15:41:19.747" v="16" actId="2696"/>
        <pc:sldMkLst>
          <pc:docMk/>
          <pc:sldMk cId="969428854" sldId="556"/>
        </pc:sldMkLst>
      </pc:sldChg>
      <pc:sldChg chg="del">
        <pc:chgData name="Cui, Jiahuan" userId="74189dc3-7c4e-4658-a955-b1919aec75a3" providerId="ADAL" clId="{B48710E5-70FE-3B4F-87B0-B6F024EB57E4}" dt="2025-03-05T15:41:23.201" v="17" actId="2696"/>
        <pc:sldMkLst>
          <pc:docMk/>
          <pc:sldMk cId="2374528926" sldId="558"/>
        </pc:sldMkLst>
      </pc:sldChg>
      <pc:sldChg chg="del">
        <pc:chgData name="Cui, Jiahuan" userId="74189dc3-7c4e-4658-a955-b1919aec75a3" providerId="ADAL" clId="{B48710E5-70FE-3B4F-87B0-B6F024EB57E4}" dt="2025-03-05T15:41:31.983" v="18" actId="2696"/>
        <pc:sldMkLst>
          <pc:docMk/>
          <pc:sldMk cId="3178784761" sldId="559"/>
        </pc:sldMkLst>
      </pc:sldChg>
      <pc:sldChg chg="del">
        <pc:chgData name="Cui, Jiahuan" userId="74189dc3-7c4e-4658-a955-b1919aec75a3" providerId="ADAL" clId="{B48710E5-70FE-3B4F-87B0-B6F024EB57E4}" dt="2025-03-05T15:41:44.653" v="19" actId="2696"/>
        <pc:sldMkLst>
          <pc:docMk/>
          <pc:sldMk cId="71021757" sldId="5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Lecture 05 - Quality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1/20/2021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E6E16-4E3A-4AD1-BF8F-40C768BA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3898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Lecture 05 - Quality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1/20/2021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9A199-9094-412E-AD92-571A1458C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11318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</a:t>
            </a:r>
            <a:r>
              <a:rPr lang="en-US"/>
              <a:t>5 – specific volume of R12 -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Lecture 05 -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C9A199-9094-412E-AD92-571A1458CB65}" type="slidenum">
              <a:rPr lang="en-US" smtClean="0"/>
              <a:t>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DDEAD59-3789-4136-9022-85F70FDD1C5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1/20/2021</a:t>
            </a:r>
          </a:p>
        </p:txBody>
      </p:sp>
    </p:spTree>
    <p:extLst>
      <p:ext uri="{BB962C8B-B14F-4D97-AF65-F5344CB8AC3E}">
        <p14:creationId xmlns:p14="http://schemas.microsoft.com/office/powerpoint/2010/main" val="3783599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Dashed line is reduced volume values</a:t>
            </a:r>
          </a:p>
        </p:txBody>
      </p:sp>
    </p:spTree>
    <p:extLst>
      <p:ext uri="{BB962C8B-B14F-4D97-AF65-F5344CB8AC3E}">
        <p14:creationId xmlns:p14="http://schemas.microsoft.com/office/powerpoint/2010/main" val="3688033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583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Differential form can be integrated into the mass in and mass out</a:t>
            </a:r>
          </a:p>
          <a:p>
            <a:r>
              <a:rPr lang="en-US" dirty="0"/>
              <a:t>Control volume is VERY IMPORTANT</a:t>
            </a:r>
          </a:p>
        </p:txBody>
      </p:sp>
    </p:spTree>
    <p:extLst>
      <p:ext uri="{BB962C8B-B14F-4D97-AF65-F5344CB8AC3E}">
        <p14:creationId xmlns:p14="http://schemas.microsoft.com/office/powerpoint/2010/main" val="2812253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92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 product guarantee the cross section</a:t>
            </a:r>
          </a:p>
        </p:txBody>
      </p:sp>
    </p:spTree>
    <p:extLst>
      <p:ext uri="{BB962C8B-B14F-4D97-AF65-F5344CB8AC3E}">
        <p14:creationId xmlns:p14="http://schemas.microsoft.com/office/powerpoint/2010/main" val="2261253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in, work out, net rate of change of energy</a:t>
            </a:r>
          </a:p>
        </p:txBody>
      </p:sp>
    </p:spTree>
    <p:extLst>
      <p:ext uri="{BB962C8B-B14F-4D97-AF65-F5344CB8AC3E}">
        <p14:creationId xmlns:p14="http://schemas.microsoft.com/office/powerpoint/2010/main" val="1709737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</p:spTree>
    <p:extLst>
      <p:ext uri="{BB962C8B-B14F-4D97-AF65-F5344CB8AC3E}">
        <p14:creationId xmlns:p14="http://schemas.microsoft.com/office/powerpoint/2010/main" val="2008985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</a:t>
            </a:r>
          </a:p>
        </p:txBody>
      </p:sp>
    </p:spTree>
    <p:extLst>
      <p:ext uri="{BB962C8B-B14F-4D97-AF65-F5344CB8AC3E}">
        <p14:creationId xmlns:p14="http://schemas.microsoft.com/office/powerpoint/2010/main" val="2340923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in, work out, net rate of change of energy</a:t>
            </a:r>
          </a:p>
          <a:p>
            <a:r>
              <a:rPr lang="en-US" dirty="0" err="1"/>
              <a:t>Peve</a:t>
            </a:r>
            <a:r>
              <a:rPr lang="en-US" dirty="0"/>
              <a:t> flow work to the system, </a:t>
            </a:r>
            <a:r>
              <a:rPr lang="en-US" dirty="0" err="1"/>
              <a:t>pivi</a:t>
            </a:r>
            <a:r>
              <a:rPr lang="en-US" dirty="0"/>
              <a:t> flow work done ON the system</a:t>
            </a:r>
          </a:p>
        </p:txBody>
      </p:sp>
    </p:spTree>
    <p:extLst>
      <p:ext uri="{BB962C8B-B14F-4D97-AF65-F5344CB8AC3E}">
        <p14:creationId xmlns:p14="http://schemas.microsoft.com/office/powerpoint/2010/main" val="2586168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Notes Placeholder 1">
                <a:extLst>
                  <a:ext uri="{FF2B5EF4-FFF2-40B4-BE49-F238E27FC236}">
                    <a16:creationId xmlns:a16="http://schemas.microsoft.com/office/drawing/2014/main" id="{978FB304-8DC4-4016-B678-46A84FF9AE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altLang="zh-CN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Notes Placeholder 1">
                <a:extLst>
                  <a:ext uri="{FF2B5EF4-FFF2-40B4-BE49-F238E27FC236}">
                    <a16:creationId xmlns:a16="http://schemas.microsoft.com/office/drawing/2014/main" id="{978FB304-8DC4-4016-B678-46A84FF9AE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199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Notes Placeholder 1">
                <a:extLst>
                  <a:ext uri="{FF2B5EF4-FFF2-40B4-BE49-F238E27FC236}">
                    <a16:creationId xmlns:a16="http://schemas.microsoft.com/office/drawing/2014/main" id="{978FB304-8DC4-4016-B678-46A84FF9AE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altLang="zh-CN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Notes Placeholder 1">
                <a:extLst>
                  <a:ext uri="{FF2B5EF4-FFF2-40B4-BE49-F238E27FC236}">
                    <a16:creationId xmlns:a16="http://schemas.microsoft.com/office/drawing/2014/main" id="{978FB304-8DC4-4016-B678-46A84FF9AE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755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876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</a:t>
            </a:r>
          </a:p>
        </p:txBody>
      </p:sp>
    </p:spTree>
    <p:extLst>
      <p:ext uri="{BB962C8B-B14F-4D97-AF65-F5344CB8AC3E}">
        <p14:creationId xmlns:p14="http://schemas.microsoft.com/office/powerpoint/2010/main" val="3223052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061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Notes Placeholder 1">
                <a:extLst>
                  <a:ext uri="{FF2B5EF4-FFF2-40B4-BE49-F238E27FC236}">
                    <a16:creationId xmlns:a16="http://schemas.microsoft.com/office/drawing/2014/main" id="{978FB304-8DC4-4016-B678-46A84FF9AE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altLang="zh-CN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Notes Placeholder 1">
                <a:extLst>
                  <a:ext uri="{FF2B5EF4-FFF2-40B4-BE49-F238E27FC236}">
                    <a16:creationId xmlns:a16="http://schemas.microsoft.com/office/drawing/2014/main" id="{978FB304-8DC4-4016-B678-46A84FF9AE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8561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281892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92765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</p:spTree>
    <p:extLst>
      <p:ext uri="{BB962C8B-B14F-4D97-AF65-F5344CB8AC3E}">
        <p14:creationId xmlns:p14="http://schemas.microsoft.com/office/powerpoint/2010/main" val="1228383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0494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Potential energy change </a:t>
            </a:r>
          </a:p>
        </p:txBody>
      </p:sp>
    </p:spTree>
    <p:extLst>
      <p:ext uri="{BB962C8B-B14F-4D97-AF65-F5344CB8AC3E}">
        <p14:creationId xmlns:p14="http://schemas.microsoft.com/office/powerpoint/2010/main" val="2991543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A85-BA68-4A6E-89EC-89F77F1DBAA3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5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1F983-55B3-4486-B781-620F6DBD51A8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0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96A44-F112-465B-9F17-6AEA6575836A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2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0868-52FB-4F0E-9E4D-CD408078E6C2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D7E3-7B3F-4FC2-A5AD-80CAB07EB05E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8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B53F-12C9-4728-B471-936897AB026F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25B4-0C05-495D-A3E2-85B0ED0F6FCD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8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0CB2-E014-4BC5-8CDD-632662D6D7CF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5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DCFA-11BF-42B2-BD96-FC517D0EB8FE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5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60C0-9620-432C-8D8D-9C06BB5BB575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3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E5B-EB16-47B8-B0BB-3B146A954241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812EF-7246-4ADC-BC0E-7B12542E401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4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10.png"/><Relationship Id="rId4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2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2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2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85.png"/><Relationship Id="rId9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2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 200</a:t>
            </a:r>
            <a:br>
              <a:rPr lang="en-US" b="1" dirty="0"/>
            </a:br>
            <a:r>
              <a:rPr lang="en-US" sz="5300" b="1" dirty="0"/>
              <a:t>Thermodynamics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Lecture 09 – 1</a:t>
            </a:r>
            <a:r>
              <a:rPr lang="en-US" baseline="30000" dirty="0"/>
              <a:t>st</a:t>
            </a:r>
            <a:r>
              <a:rPr lang="en-US" dirty="0"/>
              <a:t> Law of Thermodynamics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9" y="26081"/>
            <a:ext cx="8945223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4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Conservation Principles of Thermal/Fluid Science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8294B48-4520-4FD9-9638-326ECF632747}"/>
              </a:ext>
            </a:extLst>
          </p:cNvPr>
          <p:cNvSpPr txBox="1">
            <a:spLocks/>
          </p:cNvSpPr>
          <p:nvPr/>
        </p:nvSpPr>
        <p:spPr>
          <a:xfrm>
            <a:off x="303232" y="1146529"/>
            <a:ext cx="8658127" cy="52059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US" altLang="zh-CN" dirty="0">
                <a:solidFill>
                  <a:srgbClr val="0070C0"/>
                </a:solidFill>
                <a:cs typeface="Arial" panose="020B0604020202020204" pitchFamily="34" charset="0"/>
              </a:rPr>
              <a:t>Mass</a:t>
            </a:r>
            <a:r>
              <a:rPr lang="en-US" altLang="zh-CN" dirty="0">
                <a:cs typeface="Arial" panose="020B0604020202020204" pitchFamily="34" charset="0"/>
              </a:rPr>
              <a:t> (</a:t>
            </a:r>
            <a:r>
              <a:rPr lang="en-US" altLang="zh-CN" dirty="0" err="1">
                <a:cs typeface="Arial" panose="020B0604020202020204" pitchFamily="34" charset="0"/>
              </a:rPr>
              <a:t>Thermo</a:t>
            </a:r>
            <a:r>
              <a:rPr lang="en-US" altLang="zh-CN" dirty="0">
                <a:cs typeface="Arial" panose="020B0604020202020204" pitchFamily="34" charset="0"/>
              </a:rPr>
              <a:t>, Fluid Mechanics)</a:t>
            </a:r>
          </a:p>
          <a:p>
            <a:pPr algn="l">
              <a:spcBef>
                <a:spcPts val="600"/>
              </a:spcBef>
            </a:pPr>
            <a:r>
              <a:rPr lang="en-US" altLang="zh-CN" dirty="0">
                <a:cs typeface="Arial" panose="020B0604020202020204" pitchFamily="34" charset="0"/>
              </a:rPr>
              <a:t>Momentum (Fluid Mechanics)</a:t>
            </a:r>
          </a:p>
          <a:p>
            <a:pPr algn="l"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Energy</a:t>
            </a:r>
            <a:r>
              <a:rPr lang="en-US" altLang="zh-CN" dirty="0">
                <a:cs typeface="Arial" panose="020B0604020202020204" pitchFamily="34" charset="0"/>
              </a:rPr>
              <a:t> (</a:t>
            </a:r>
            <a:r>
              <a:rPr lang="en-US" altLang="zh-CN" dirty="0" err="1">
                <a:cs typeface="Arial" panose="020B0604020202020204" pitchFamily="34" charset="0"/>
              </a:rPr>
              <a:t>Thermo</a:t>
            </a:r>
            <a:r>
              <a:rPr lang="en-US" altLang="zh-CN" dirty="0">
                <a:cs typeface="Arial" panose="020B0604020202020204" pitchFamily="34" charset="0"/>
              </a:rPr>
              <a:t>, Heat Transfer, Compressible Fluid Mechanics)</a:t>
            </a:r>
          </a:p>
          <a:p>
            <a:pPr algn="l">
              <a:spcBef>
                <a:spcPts val="600"/>
              </a:spcBef>
            </a:pPr>
            <a:r>
              <a:rPr lang="en-US" altLang="zh-CN" dirty="0">
                <a:solidFill>
                  <a:srgbClr val="00B050"/>
                </a:solidFill>
                <a:cs typeface="Arial" panose="020B0604020202020204" pitchFamily="34" charset="0"/>
              </a:rPr>
              <a:t>Entropy</a:t>
            </a:r>
            <a:r>
              <a:rPr lang="en-US" altLang="zh-CN" dirty="0">
                <a:cs typeface="Arial" panose="020B0604020202020204" pitchFamily="34" charset="0"/>
              </a:rPr>
              <a:t> (</a:t>
            </a:r>
            <a:r>
              <a:rPr lang="en-US" altLang="zh-CN" dirty="0" err="1">
                <a:cs typeface="Arial" panose="020B0604020202020204" pitchFamily="34" charset="0"/>
              </a:rPr>
              <a:t>Thermo</a:t>
            </a:r>
            <a:r>
              <a:rPr lang="en-US" altLang="zh-CN" dirty="0">
                <a:cs typeface="Arial" panose="020B0604020202020204" pitchFamily="34" charset="0"/>
              </a:rPr>
              <a:t>)</a:t>
            </a:r>
          </a:p>
          <a:p>
            <a:pPr algn="l">
              <a:spcBef>
                <a:spcPts val="600"/>
              </a:spcBef>
            </a:pPr>
            <a:endParaRPr lang="en-US" altLang="zh-CN" dirty="0">
              <a:cs typeface="Arial" panose="020B0604020202020204" pitchFamily="34" charset="0"/>
            </a:endParaRPr>
          </a:p>
          <a:p>
            <a:pPr algn="l">
              <a:spcBef>
                <a:spcPts val="600"/>
              </a:spcBef>
            </a:pPr>
            <a:r>
              <a:rPr lang="en-US" altLang="zh-CN" u="sng" dirty="0">
                <a:cs typeface="Arial" panose="020B0604020202020204" pitchFamily="34" charset="0"/>
              </a:rPr>
              <a:t>Thermodynamics</a:t>
            </a:r>
            <a:r>
              <a:rPr lang="en-US" altLang="zh-CN" dirty="0">
                <a:cs typeface="Arial" panose="020B0604020202020204" pitchFamily="34" charset="0"/>
              </a:rPr>
              <a:t>: considers macroscopic </a:t>
            </a:r>
            <a:r>
              <a:rPr lang="en-US" altLang="zh-CN" b="1" dirty="0">
                <a:cs typeface="Arial" panose="020B0604020202020204" pitchFamily="34" charset="0"/>
              </a:rPr>
              <a:t>control volume</a:t>
            </a:r>
            <a:r>
              <a:rPr lang="en-US" altLang="zh-CN" dirty="0">
                <a:cs typeface="Arial" panose="020B0604020202020204" pitchFamily="34" charset="0"/>
              </a:rPr>
              <a:t>; (V): </a:t>
            </a:r>
            <a:r>
              <a:rPr lang="en-US" altLang="zh-CN" dirty="0">
                <a:solidFill>
                  <a:srgbClr val="0070C0"/>
                </a:solidFill>
                <a:cs typeface="Arial" panose="020B0604020202020204" pitchFamily="34" charset="0"/>
              </a:rPr>
              <a:t>mass</a:t>
            </a:r>
            <a:r>
              <a:rPr lang="en-US" altLang="zh-CN" dirty="0">
                <a:cs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energy</a:t>
            </a:r>
            <a:r>
              <a:rPr lang="en-US" altLang="zh-CN" dirty="0">
                <a:cs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00B050"/>
                </a:solidFill>
                <a:cs typeface="Arial" panose="020B0604020202020204" pitchFamily="34" charset="0"/>
              </a:rPr>
              <a:t>entropy</a:t>
            </a:r>
          </a:p>
          <a:p>
            <a:pPr algn="l">
              <a:spcBef>
                <a:spcPts val="600"/>
              </a:spcBef>
            </a:pPr>
            <a:r>
              <a:rPr lang="en-US" altLang="zh-CN" u="sng" dirty="0">
                <a:cs typeface="Arial" panose="020B0604020202020204" pitchFamily="34" charset="0"/>
              </a:rPr>
              <a:t>Fluid Mechanics</a:t>
            </a:r>
            <a:r>
              <a:rPr lang="en-US" altLang="zh-CN" dirty="0">
                <a:cs typeface="Arial" panose="020B0604020202020204" pitchFamily="34" charset="0"/>
              </a:rPr>
              <a:t>: adds differential cv &amp; momentum; (</a:t>
            </a:r>
            <a:r>
              <a:rPr lang="en-US" altLang="zh-CN" dirty="0" err="1">
                <a:cs typeface="Arial" panose="020B0604020202020204" pitchFamily="34" charset="0"/>
              </a:rPr>
              <a:t>dV</a:t>
            </a:r>
            <a:r>
              <a:rPr lang="en-US" altLang="zh-CN" dirty="0">
                <a:cs typeface="Arial" panose="020B0604020202020204" pitchFamily="34" charset="0"/>
              </a:rPr>
              <a:t>)+(V): </a:t>
            </a:r>
            <a:r>
              <a:rPr lang="en-US" altLang="zh-CN" dirty="0">
                <a:solidFill>
                  <a:srgbClr val="0070C0"/>
                </a:solidFill>
                <a:cs typeface="Arial" panose="020B0604020202020204" pitchFamily="34" charset="0"/>
              </a:rPr>
              <a:t>mass</a:t>
            </a:r>
            <a:r>
              <a:rPr lang="en-US" altLang="zh-CN" dirty="0">
                <a:cs typeface="Arial" panose="020B0604020202020204" pitchFamily="34" charset="0"/>
              </a:rPr>
              <a:t>, momentum</a:t>
            </a:r>
          </a:p>
          <a:p>
            <a:pPr algn="l">
              <a:spcBef>
                <a:spcPts val="600"/>
              </a:spcBef>
            </a:pPr>
            <a:r>
              <a:rPr lang="en-US" altLang="zh-CN" u="sng" dirty="0">
                <a:cs typeface="Arial" panose="020B0604020202020204" pitchFamily="34" charset="0"/>
              </a:rPr>
              <a:t>Heat Transfer</a:t>
            </a:r>
            <a:r>
              <a:rPr lang="en-US" altLang="zh-CN" dirty="0">
                <a:cs typeface="Arial" panose="020B0604020202020204" pitchFamily="34" charset="0"/>
              </a:rPr>
              <a:t>: adds/emphasizes energy (heat); (</a:t>
            </a:r>
            <a:r>
              <a:rPr lang="en-US" altLang="zh-CN" dirty="0" err="1">
                <a:cs typeface="Arial" panose="020B0604020202020204" pitchFamily="34" charset="0"/>
              </a:rPr>
              <a:t>dV</a:t>
            </a:r>
            <a:r>
              <a:rPr lang="en-US" altLang="zh-CN" dirty="0">
                <a:cs typeface="Arial" panose="020B0604020202020204" pitchFamily="34" charset="0"/>
              </a:rPr>
              <a:t>)+(V): </a:t>
            </a:r>
            <a:r>
              <a:rPr lang="en-US" altLang="zh-CN" dirty="0">
                <a:solidFill>
                  <a:srgbClr val="0070C0"/>
                </a:solidFill>
                <a:cs typeface="Arial" panose="020B0604020202020204" pitchFamily="34" charset="0"/>
              </a:rPr>
              <a:t>mass</a:t>
            </a:r>
            <a:r>
              <a:rPr lang="en-US" altLang="zh-CN" dirty="0">
                <a:cs typeface="Arial" panose="020B0604020202020204" pitchFamily="34" charset="0"/>
              </a:rPr>
              <a:t>, momentum, </a:t>
            </a: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energy</a:t>
            </a:r>
          </a:p>
          <a:p>
            <a:pPr algn="l">
              <a:spcBef>
                <a:spcPts val="600"/>
              </a:spcBef>
            </a:pPr>
            <a:r>
              <a:rPr lang="en-US" altLang="zh-CN" u="sng" dirty="0">
                <a:cs typeface="Arial" panose="020B0604020202020204" pitchFamily="34" charset="0"/>
              </a:rPr>
              <a:t>Gas Dynamics</a:t>
            </a:r>
            <a:r>
              <a:rPr lang="en-US" altLang="zh-CN" dirty="0">
                <a:cs typeface="Arial" panose="020B0604020202020204" pitchFamily="34" charset="0"/>
              </a:rPr>
              <a:t>: (</a:t>
            </a:r>
            <a:r>
              <a:rPr lang="en-US" altLang="zh-CN" dirty="0" err="1">
                <a:cs typeface="Arial" panose="020B0604020202020204" pitchFamily="34" charset="0"/>
              </a:rPr>
              <a:t>dV</a:t>
            </a:r>
            <a:r>
              <a:rPr lang="en-US" altLang="zh-CN" dirty="0">
                <a:cs typeface="Arial" panose="020B0604020202020204" pitchFamily="34" charset="0"/>
              </a:rPr>
              <a:t>)+(V): </a:t>
            </a:r>
            <a:r>
              <a:rPr lang="en-US" altLang="zh-CN" dirty="0">
                <a:solidFill>
                  <a:srgbClr val="0070C0"/>
                </a:solidFill>
                <a:cs typeface="Arial" panose="020B0604020202020204" pitchFamily="34" charset="0"/>
              </a:rPr>
              <a:t>mass</a:t>
            </a:r>
            <a:r>
              <a:rPr lang="en-US" altLang="zh-CN" dirty="0">
                <a:cs typeface="Arial" panose="020B0604020202020204" pitchFamily="34" charset="0"/>
              </a:rPr>
              <a:t>, momentum, </a:t>
            </a: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energy</a:t>
            </a:r>
            <a:r>
              <a:rPr lang="en-US" altLang="zh-CN" dirty="0">
                <a:cs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00B050"/>
                </a:solidFill>
                <a:cs typeface="Arial" panose="020B0604020202020204" pitchFamily="34" charset="0"/>
              </a:rPr>
              <a:t>entropy</a:t>
            </a:r>
            <a:endParaRPr lang="zh-CN" altLang="en-US" dirty="0">
              <a:solidFill>
                <a:srgbClr val="00B05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16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Mass: An Energy Carrier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DB9822-0108-4CE8-A74A-7CF5777E959B}"/>
              </a:ext>
            </a:extLst>
          </p:cNvPr>
          <p:cNvSpPr txBox="1"/>
          <p:nvPr/>
        </p:nvSpPr>
        <p:spPr>
          <a:xfrm>
            <a:off x="149182" y="775410"/>
            <a:ext cx="8915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Law of Conservation of Mass: 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For any system </a:t>
            </a:r>
            <a:r>
              <a:rPr lang="en-US" sz="2400" b="1" u="sng" dirty="0"/>
              <a:t>closed</a:t>
            </a:r>
            <a:r>
              <a:rPr lang="en-US" sz="2400" dirty="0"/>
              <a:t> to all transfers of matter and energy, the mass of the system must remain constant over time.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Corollary - Mass cannot be created or destroyed. Therefore, when mass transfers into a system, an equal amount must transfer out of the system if the system is to remain in </a:t>
            </a:r>
            <a:r>
              <a:rPr lang="en-US" sz="2400" b="1" u="sng" dirty="0"/>
              <a:t>steady-state</a:t>
            </a:r>
            <a:r>
              <a:rPr lang="en-US" sz="2400" dirty="0"/>
              <a:t>.  This is a special case for </a:t>
            </a:r>
            <a:r>
              <a:rPr lang="en-US" sz="2400" b="1" u="sng" dirty="0"/>
              <a:t>open</a:t>
            </a:r>
            <a:r>
              <a:rPr lang="en-US" sz="2400" dirty="0"/>
              <a:t> system.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444A0A-88DB-47D1-AE0C-9E7CBB4F279E}"/>
              </a:ext>
            </a:extLst>
          </p:cNvPr>
          <p:cNvGrpSpPr/>
          <p:nvPr/>
        </p:nvGrpSpPr>
        <p:grpSpPr>
          <a:xfrm>
            <a:off x="69987" y="4133973"/>
            <a:ext cx="6550138" cy="1544334"/>
            <a:chOff x="457200" y="4962136"/>
            <a:chExt cx="6046281" cy="15443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0AF4A5B-B916-44F7-978E-7F70DEFAECAC}"/>
                    </a:ext>
                  </a:extLst>
                </p:cNvPr>
                <p:cNvSpPr txBox="1"/>
                <p:nvPr/>
              </p:nvSpPr>
              <p:spPr>
                <a:xfrm>
                  <a:off x="2239355" y="5162191"/>
                  <a:ext cx="4264126" cy="13442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charset="0"/>
                          </a:rPr>
                          <m:t>0=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3600" b="0" i="1" smtClean="0">
                                <a:latin typeface="Cambria Math" charset="0"/>
                              </a:rPr>
                              <m:t>𝑖</m:t>
                            </m:r>
                            <m:r>
                              <a:rPr lang="en-US" sz="3600" b="0" i="1" smtClean="0">
                                <a:latin typeface="Cambria Math" charset="0"/>
                              </a:rPr>
                              <m:t>𝑛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b="0" i="1" smtClean="0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3600" b="0" i="1" smtClean="0">
                                    <a:latin typeface="Cambria Math" charset="0"/>
                                  </a:rPr>
                                  <m:t>𝑖𝑛</m:t>
                                </m:r>
                              </m:sub>
                            </m:sSub>
                          </m:e>
                        </m:nary>
                        <m:r>
                          <a:rPr lang="en-US" sz="3600" b="0" i="1" smtClean="0">
                            <a:latin typeface="Cambria Math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600" b="0" i="1" smtClean="0">
                                <a:latin typeface="Cambria Math" charset="0"/>
                              </a:rPr>
                              <m:t>𝑜𝑢𝑡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i="1">
                                        <a:latin typeface="Cambria Math" charset="0"/>
                                      </a:rPr>
                                      <m:t>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3600" b="0" i="1" smtClean="0">
                                    <a:latin typeface="Cambria Math" charset="0"/>
                                  </a:rPr>
                                  <m:t>𝑜𝑢𝑡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355" y="5162191"/>
                  <a:ext cx="4619470" cy="134427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CB742E-0E93-43A2-8178-801995A161D7}"/>
                </a:ext>
              </a:extLst>
            </p:cNvPr>
            <p:cNvSpPr txBox="1"/>
            <p:nvPr/>
          </p:nvSpPr>
          <p:spPr>
            <a:xfrm>
              <a:off x="457200" y="4962136"/>
              <a:ext cx="16494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In steady-state: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4292C6-02F6-41FE-9F5A-226490854B3E}"/>
                  </a:ext>
                </a:extLst>
              </p:cNvPr>
              <p:cNvSpPr txBox="1"/>
              <p:nvPr/>
            </p:nvSpPr>
            <p:spPr>
              <a:xfrm>
                <a:off x="5964371" y="5717894"/>
                <a:ext cx="31002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dirty="0"/>
                  <a:t> stands for the rate of mass flow. (mass flow rate!)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4292C6-02F6-41FE-9F5A-226490854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371" y="5717894"/>
                <a:ext cx="3100211" cy="646331"/>
              </a:xfrm>
              <a:prstGeom prst="rect">
                <a:avLst/>
              </a:prstGeom>
              <a:blipFill>
                <a:blip r:embed="rId5"/>
                <a:stretch>
                  <a:fillRect l="-1572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35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Conservation of Mass Equation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1B59AE-50CB-4ADA-967D-C37B7B6A5A0E}"/>
              </a:ext>
            </a:extLst>
          </p:cNvPr>
          <p:cNvSpPr txBox="1"/>
          <p:nvPr/>
        </p:nvSpPr>
        <p:spPr>
          <a:xfrm>
            <a:off x="149182" y="775410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Macroscopic Control Volume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306F89FF-92A8-4B0C-AC04-44694ECC5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55" y="1353354"/>
            <a:ext cx="834009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EB9104A-C8F5-4B10-A290-33960DBFDF5E}"/>
              </a:ext>
            </a:extLst>
          </p:cNvPr>
          <p:cNvSpPr txBox="1">
            <a:spLocks/>
          </p:cNvSpPr>
          <p:nvPr/>
        </p:nvSpPr>
        <p:spPr>
          <a:xfrm>
            <a:off x="503314" y="2526400"/>
            <a:ext cx="2403913" cy="503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cs typeface="Arial" panose="020B0604020202020204" pitchFamily="34" charset="0"/>
              </a:rPr>
              <a:t>Differential form:</a:t>
            </a:r>
            <a:endParaRPr lang="zh-CN" altLang="en-US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4">
                <a:extLst>
                  <a:ext uri="{FF2B5EF4-FFF2-40B4-BE49-F238E27FC236}">
                    <a16:creationId xmlns:a16="http://schemas.microsoft.com/office/drawing/2014/main" id="{19051D57-0B2F-497E-9C28-025643C83A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3850" y="3038146"/>
                <a:ext cx="3206850" cy="5608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 smtClean="0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 smtClean="0">
                          <a:latin typeface="Cambria Math"/>
                        </a:rPr>
                        <m:t>=</m:t>
                      </m:r>
                      <m:r>
                        <a:rPr lang="zh-CN" altLang="en-US" sz="2400" i="1" smtClean="0">
                          <a:latin typeface="Cambria Math"/>
                        </a:rPr>
                        <m:t>𝛿</m:t>
                      </m:r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smtClean="0">
                          <a:latin typeface="Cambria Math"/>
                        </a:rPr>
                        <m:t>−</m:t>
                      </m:r>
                      <m:r>
                        <a:rPr lang="zh-CN" altLang="en-US" sz="2400" i="1" smtClean="0">
                          <a:latin typeface="Cambria Math"/>
                        </a:rPr>
                        <m:t>𝛿</m:t>
                      </m:r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内容占位符 4">
                <a:extLst>
                  <a:ext uri="{FF2B5EF4-FFF2-40B4-BE49-F238E27FC236}">
                    <a16:creationId xmlns:a16="http://schemas.microsoft.com/office/drawing/2014/main" id="{19051D57-0B2F-497E-9C28-025643C83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850" y="3038146"/>
                <a:ext cx="3206850" cy="5608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内容占位符 5">
            <a:extLst>
              <a:ext uri="{FF2B5EF4-FFF2-40B4-BE49-F238E27FC236}">
                <a16:creationId xmlns:a16="http://schemas.microsoft.com/office/drawing/2014/main" id="{8ED6A2BF-4FBB-4822-85DA-BA5570657E70}"/>
              </a:ext>
            </a:extLst>
          </p:cNvPr>
          <p:cNvSpPr txBox="1">
            <a:spLocks/>
          </p:cNvSpPr>
          <p:nvPr/>
        </p:nvSpPr>
        <p:spPr>
          <a:xfrm>
            <a:off x="536664" y="3668209"/>
            <a:ext cx="1801851" cy="477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71464" indent="-371464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38" indent="-309553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8212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3497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878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 sz="2400" dirty="0">
                <a:cs typeface="Arial" panose="020B0604020202020204" pitchFamily="34" charset="0"/>
              </a:rPr>
              <a:t>Rate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94CD374-B3DF-4D09-A702-0A3571DA10CC}"/>
                  </a:ext>
                </a:extLst>
              </p:cNvPr>
              <p:cNvSpPr/>
              <p:nvPr/>
            </p:nvSpPr>
            <p:spPr>
              <a:xfrm>
                <a:off x="1440673" y="4154127"/>
                <a:ext cx="3399649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94CD374-B3DF-4D09-A702-0A3571DA1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673" y="4154127"/>
                <a:ext cx="3399649" cy="9885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BA1D5A17-F5B5-49F2-B203-A282DE659F58}"/>
              </a:ext>
            </a:extLst>
          </p:cNvPr>
          <p:cNvSpPr txBox="1">
            <a:spLocks/>
          </p:cNvSpPr>
          <p:nvPr/>
        </p:nvSpPr>
        <p:spPr>
          <a:xfrm>
            <a:off x="558964" y="5282394"/>
            <a:ext cx="2548983" cy="535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cs typeface="Arial" panose="020B0604020202020204" pitchFamily="34" charset="0"/>
              </a:rPr>
              <a:t>Integrated form:</a:t>
            </a:r>
            <a:endParaRPr lang="en-US" altLang="zh-CN" sz="1800" i="1" dirty="0">
              <a:cs typeface="Arial" panose="020B0604020202020204" pitchFamily="34" charset="0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E0F936B0-5456-43FD-AA36-41EA281CD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195" y="3198641"/>
            <a:ext cx="337185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9B4942-B1E9-51E8-9B58-12C1539FA65F}"/>
                  </a:ext>
                </a:extLst>
              </p:cNvPr>
              <p:cNvSpPr txBox="1"/>
              <p:nvPr/>
            </p:nvSpPr>
            <p:spPr>
              <a:xfrm>
                <a:off x="401955" y="5721202"/>
                <a:ext cx="4577254" cy="793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𝑑𝐴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9B4942-B1E9-51E8-9B58-12C1539FA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" y="5721202"/>
                <a:ext cx="4577254" cy="793551"/>
              </a:xfrm>
              <a:prstGeom prst="rect">
                <a:avLst/>
              </a:prstGeom>
              <a:blipFill>
                <a:blip r:embed="rId8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11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Example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415694-0B5A-418E-953B-196AD98BB163}"/>
                  </a:ext>
                </a:extLst>
              </p:cNvPr>
              <p:cNvSpPr txBox="1"/>
              <p:nvPr/>
            </p:nvSpPr>
            <p:spPr>
              <a:xfrm>
                <a:off x="581786" y="624569"/>
                <a:ext cx="8150734" cy="1554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altLang="zh-CN" sz="2000" b="1" dirty="0"/>
                  <a:t>A bottle has a volume of V.  Supposes the bottle is initially evacuated, and at time  t = 0, the valve is opened so that a liquid of constant density flows in at the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sz="2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1" i="1">
                                <a:latin typeface="Cambria Math"/>
                              </a:rPr>
                              <m:t>𝒎</m:t>
                            </m:r>
                          </m:e>
                        </m:acc>
                      </m:e>
                      <m:sub>
                        <m:r>
                          <a:rPr lang="en-US" altLang="zh-CN" sz="2000" b="1" i="1"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altLang="zh-CN" sz="2000" b="1" i="1">
                        <a:latin typeface="Cambria Math"/>
                      </a:rPr>
                      <m:t>=</m:t>
                    </m:r>
                    <m:r>
                      <a:rPr lang="en-US" altLang="zh-CN" sz="2000" b="1" i="1" smtClean="0">
                        <a:latin typeface="Cambria Math"/>
                      </a:rPr>
                      <m:t>𝑲𝒕</m:t>
                    </m:r>
                  </m:oMath>
                </a14:m>
                <a:r>
                  <a:rPr lang="en-US" altLang="zh-CN" sz="2000" b="1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/>
                      </a:rPr>
                      <m:t>𝑲</m:t>
                    </m:r>
                    <m:r>
                      <a:rPr lang="en-US" altLang="zh-CN" sz="2000" b="1" i="1">
                        <a:latin typeface="Cambria Math"/>
                      </a:rPr>
                      <m:t>=</m:t>
                    </m:r>
                  </m:oMath>
                </a14:m>
                <a:r>
                  <a:rPr lang="en-US" sz="2000" b="1" dirty="0"/>
                  <a:t> known constant</a:t>
                </a:r>
                <a:endParaRPr lang="en-US" altLang="zh-CN" sz="2000" b="1" dirty="0"/>
              </a:p>
              <a:p>
                <a:pPr>
                  <a:spcAft>
                    <a:spcPts val="1800"/>
                  </a:spcAft>
                </a:pPr>
                <a:r>
                  <a:rPr lang="en-US" altLang="zh-CN" sz="2000" b="1" dirty="0"/>
                  <a:t>Drive an expression that yields the time at which the bottle is filled.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415694-0B5A-418E-953B-196AD98BB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86" y="624569"/>
                <a:ext cx="8150734" cy="1554272"/>
              </a:xfrm>
              <a:prstGeom prst="rect">
                <a:avLst/>
              </a:prstGeom>
              <a:blipFill>
                <a:blip r:embed="rId4"/>
                <a:stretch>
                  <a:fillRect l="-747" t="-1961" b="-6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6F7BD472-7EBE-4725-94AE-CB96C3C7B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5" y="2939300"/>
            <a:ext cx="2086928" cy="313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4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Mass Flux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3E0FFA-3DDA-44CF-A577-4331617DB251}"/>
              </a:ext>
            </a:extLst>
          </p:cNvPr>
          <p:cNvSpPr/>
          <p:nvPr/>
        </p:nvSpPr>
        <p:spPr>
          <a:xfrm>
            <a:off x="99737" y="2932879"/>
            <a:ext cx="17341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Mass flux = 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E7570B0-B441-4229-8F52-74251A42D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00" y="1167557"/>
            <a:ext cx="30861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61026C6-6B90-43D0-B147-90B862F7A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922" y="1663976"/>
            <a:ext cx="392706" cy="12737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0726A-C3A8-4B0A-B9AE-62D2383A3CDB}"/>
              </a:ext>
            </a:extLst>
          </p:cNvPr>
          <p:cNvSpPr/>
          <p:nvPr/>
        </p:nvSpPr>
        <p:spPr>
          <a:xfrm>
            <a:off x="118320" y="1100363"/>
            <a:ext cx="2529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Mass flow rate =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6D1F6B-CFEC-4257-880B-EECA1A848D9B}"/>
              </a:ext>
            </a:extLst>
          </p:cNvPr>
          <p:cNvSpPr/>
          <p:nvPr/>
        </p:nvSpPr>
        <p:spPr>
          <a:xfrm>
            <a:off x="129471" y="4769108"/>
            <a:ext cx="31540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Volume flow rate = </a:t>
            </a:r>
          </a:p>
        </p:txBody>
      </p:sp>
    </p:spTree>
    <p:extLst>
      <p:ext uri="{BB962C8B-B14F-4D97-AF65-F5344CB8AC3E}">
        <p14:creationId xmlns:p14="http://schemas.microsoft.com/office/powerpoint/2010/main" val="341988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Conservation of Energy Equation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67FE0-1233-4F06-82C6-2A8F3BF00F44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Macroscopic Control Volume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9D47074-E87A-4146-9CBB-E6E7B26D8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37" y="1281290"/>
            <a:ext cx="834009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9807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Checking Sign Convention for the 1</a:t>
            </a:r>
            <a:r>
              <a:rPr lang="en-US" sz="3300" baseline="30000" dirty="0"/>
              <a:t>st</a:t>
            </a:r>
            <a:r>
              <a:rPr lang="en-US" sz="3300" dirty="0"/>
              <a:t> Law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683ED4-80DA-4B2E-A13E-AEC4593C81FE}"/>
              </a:ext>
            </a:extLst>
          </p:cNvPr>
          <p:cNvSpPr txBox="1"/>
          <p:nvPr/>
        </p:nvSpPr>
        <p:spPr>
          <a:xfrm>
            <a:off x="161544" y="896510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work, W, is performed BY the system, then its energy will…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EF79B-339E-4DA4-9274-AB10722618E5}"/>
              </a:ext>
            </a:extLst>
          </p:cNvPr>
          <p:cNvSpPr txBox="1"/>
          <p:nvPr/>
        </p:nvSpPr>
        <p:spPr>
          <a:xfrm>
            <a:off x="2636636" y="2202769"/>
            <a:ext cx="312463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UcPeriod"/>
            </a:pPr>
            <a:r>
              <a:rPr lang="en-US" sz="2800" dirty="0"/>
              <a:t>Increase &amp; W &gt; 0</a:t>
            </a:r>
          </a:p>
          <a:p>
            <a:pPr marL="342900" indent="-342900">
              <a:buAutoNum type="alphaUcPeriod"/>
            </a:pPr>
            <a:r>
              <a:rPr lang="en-US" sz="2800" dirty="0"/>
              <a:t>Decrease &amp; W &gt; 0</a:t>
            </a:r>
          </a:p>
          <a:p>
            <a:pPr marL="342900" indent="-342900">
              <a:buAutoNum type="alphaUcPeriod"/>
            </a:pPr>
            <a:r>
              <a:rPr lang="en-US" sz="2800" dirty="0"/>
              <a:t>Increase &amp; W &lt; 0</a:t>
            </a:r>
          </a:p>
          <a:p>
            <a:pPr marL="342900" indent="-342900">
              <a:buAutoNum type="alphaUcPeriod"/>
            </a:pPr>
            <a:r>
              <a:rPr lang="en-US" sz="2800" dirty="0"/>
              <a:t>Decrease &amp; W &lt; 0</a:t>
            </a:r>
          </a:p>
        </p:txBody>
      </p:sp>
    </p:spTree>
    <p:extLst>
      <p:ext uri="{BB962C8B-B14F-4D97-AF65-F5344CB8AC3E}">
        <p14:creationId xmlns:p14="http://schemas.microsoft.com/office/powerpoint/2010/main" val="3895591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Checking Sign Convention for the 1</a:t>
            </a:r>
            <a:r>
              <a:rPr lang="en-US" sz="3300" baseline="30000" dirty="0"/>
              <a:t>st</a:t>
            </a:r>
            <a:r>
              <a:rPr lang="en-US" sz="3300" dirty="0"/>
              <a:t> Law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683ED4-80DA-4B2E-A13E-AEC4593C81FE}"/>
              </a:ext>
            </a:extLst>
          </p:cNvPr>
          <p:cNvSpPr txBox="1"/>
          <p:nvPr/>
        </p:nvSpPr>
        <p:spPr>
          <a:xfrm>
            <a:off x="161544" y="896510"/>
            <a:ext cx="89824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heat, Q, is transferred TO the system, the internal energy of the system will…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EF79B-339E-4DA4-9274-AB10722618E5}"/>
              </a:ext>
            </a:extLst>
          </p:cNvPr>
          <p:cNvSpPr txBox="1"/>
          <p:nvPr/>
        </p:nvSpPr>
        <p:spPr>
          <a:xfrm>
            <a:off x="2636636" y="2202769"/>
            <a:ext cx="312463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UcPeriod"/>
            </a:pPr>
            <a:r>
              <a:rPr lang="en-US" sz="2800" dirty="0"/>
              <a:t>Increase &amp; Q &gt; 0</a:t>
            </a:r>
          </a:p>
          <a:p>
            <a:pPr marL="342900" indent="-342900">
              <a:buFontTx/>
              <a:buAutoNum type="alphaUcPeriod"/>
            </a:pPr>
            <a:r>
              <a:rPr lang="en-US" sz="2800" dirty="0"/>
              <a:t>Decrease &amp; Q &gt; 0</a:t>
            </a:r>
          </a:p>
          <a:p>
            <a:pPr marL="342900" indent="-342900">
              <a:buAutoNum type="alphaUcPeriod"/>
            </a:pPr>
            <a:r>
              <a:rPr lang="en-US" sz="2800" dirty="0"/>
              <a:t>Increase &amp; Q &lt; 0</a:t>
            </a:r>
          </a:p>
          <a:p>
            <a:pPr marL="342900" indent="-342900">
              <a:buFontTx/>
              <a:buAutoNum type="alphaUcPeriod"/>
            </a:pPr>
            <a:r>
              <a:rPr lang="en-US" sz="2800" dirty="0"/>
              <a:t>Decrease &amp; Q &lt; 0</a:t>
            </a:r>
          </a:p>
        </p:txBody>
      </p:sp>
    </p:spTree>
    <p:extLst>
      <p:ext uri="{BB962C8B-B14F-4D97-AF65-F5344CB8AC3E}">
        <p14:creationId xmlns:p14="http://schemas.microsoft.com/office/powerpoint/2010/main" val="4086420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Conservation of Energy Equation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67FE0-1233-4F06-82C6-2A8F3BF00F44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Macroscopic Control Volume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9D47074-E87A-4146-9CBB-E6E7B26D8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37" y="1281290"/>
            <a:ext cx="834009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7567D126-6A9C-4D0A-91C6-3DBEDD2C8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179" y="3050481"/>
            <a:ext cx="395287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41E0F9-A006-4A97-A100-088EA9FEC0EA}"/>
              </a:ext>
            </a:extLst>
          </p:cNvPr>
          <p:cNvSpPr txBox="1"/>
          <p:nvPr/>
        </p:nvSpPr>
        <p:spPr>
          <a:xfrm>
            <a:off x="149182" y="2843991"/>
            <a:ext cx="3296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Rate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C5580-5B73-4B5F-8176-600473DF842A}"/>
                  </a:ext>
                </a:extLst>
              </p:cNvPr>
              <p:cNvSpPr/>
              <p:nvPr/>
            </p:nvSpPr>
            <p:spPr>
              <a:xfrm>
                <a:off x="1214535" y="3391029"/>
                <a:ext cx="262232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𝑈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𝑃𝐸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𝐾𝐸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C5580-5B73-4B5F-8176-600473DF8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535" y="3391029"/>
                <a:ext cx="262232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13935E9-4A8A-4EE4-BA15-5C06C5D751CA}"/>
                  </a:ext>
                </a:extLst>
              </p:cNvPr>
              <p:cNvSpPr/>
              <p:nvPr/>
            </p:nvSpPr>
            <p:spPr>
              <a:xfrm>
                <a:off x="-42443" y="4673430"/>
                <a:ext cx="5200205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𝑄</m:t>
                          </m:r>
                        </m:e>
                      </m:acc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𝑊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13935E9-4A8A-4EE4-BA15-5C06C5D75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443" y="4673430"/>
                <a:ext cx="5200205" cy="9885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3266105-4869-4915-9129-68F506708853}"/>
                  </a:ext>
                </a:extLst>
              </p:cNvPr>
              <p:cNvSpPr/>
              <p:nvPr/>
            </p:nvSpPr>
            <p:spPr>
              <a:xfrm>
                <a:off x="352179" y="3799906"/>
                <a:ext cx="4398833" cy="8310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𝑒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𝑢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𝑝𝑒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𝑘𝑒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𝑢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𝑔𝑧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3266105-4869-4915-9129-68F5067088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79" y="3799906"/>
                <a:ext cx="4398833" cy="8310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2292E88-E0B2-4EB4-B8B8-50FE2C3EE448}"/>
                  </a:ext>
                </a:extLst>
              </p:cNvPr>
              <p:cNvSpPr/>
              <p:nvPr/>
            </p:nvSpPr>
            <p:spPr>
              <a:xfrm>
                <a:off x="477941" y="5762534"/>
                <a:ext cx="4556183" cy="473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𝑊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2292E88-E0B2-4EB4-B8B8-50FE2C3EE4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41" y="5762534"/>
                <a:ext cx="4556183" cy="473206"/>
              </a:xfrm>
              <a:prstGeom prst="rect">
                <a:avLst/>
              </a:prstGeom>
              <a:blipFill>
                <a:blip r:embed="rId9"/>
                <a:stretch>
                  <a:fillRect t="-3846"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871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Conservation of Energy Equation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67FE0-1233-4F06-82C6-2A8F3BF00F44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Macroscopic Control Volume</a:t>
            </a:r>
          </a:p>
        </p:txBody>
      </p:sp>
      <p:sp>
        <p:nvSpPr>
          <p:cNvPr id="15" name="内容占位符 5">
            <a:extLst>
              <a:ext uri="{FF2B5EF4-FFF2-40B4-BE49-F238E27FC236}">
                <a16:creationId xmlns:a16="http://schemas.microsoft.com/office/drawing/2014/main" id="{7F4B07C4-D353-4603-8D07-ADC4E8944BD1}"/>
              </a:ext>
            </a:extLst>
          </p:cNvPr>
          <p:cNvSpPr txBox="1">
            <a:spLocks/>
          </p:cNvSpPr>
          <p:nvPr/>
        </p:nvSpPr>
        <p:spPr>
          <a:xfrm>
            <a:off x="149182" y="1316398"/>
            <a:ext cx="1801851" cy="477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71464" indent="-371464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38" indent="-309553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8212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3497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878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 sz="2400" dirty="0">
                <a:cs typeface="Arial" panose="020B0604020202020204" pitchFamily="34" charset="0"/>
              </a:rPr>
              <a:t>Rate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D9B248-E693-4E8E-A65E-298C9D1559B2}"/>
                  </a:ext>
                </a:extLst>
              </p:cNvPr>
              <p:cNvSpPr/>
              <p:nvPr/>
            </p:nvSpPr>
            <p:spPr>
              <a:xfrm>
                <a:off x="1625008" y="1456643"/>
                <a:ext cx="6592125" cy="19464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𝑝𝑣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4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𝑝𝑣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D9B248-E693-4E8E-A65E-298C9D155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08" y="1456643"/>
                <a:ext cx="6592125" cy="19464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0462C5-18D0-4BB0-8C11-86FA4F369EE9}"/>
                  </a:ext>
                </a:extLst>
              </p:cNvPr>
              <p:cNvSpPr/>
              <p:nvPr/>
            </p:nvSpPr>
            <p:spPr>
              <a:xfrm>
                <a:off x="0" y="3506339"/>
                <a:ext cx="9246442" cy="10193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0462C5-18D0-4BB0-8C11-86FA4F369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06339"/>
                <a:ext cx="9246442" cy="10193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EACB601-CE6B-4749-9D98-1BFC0989C248}"/>
                  </a:ext>
                </a:extLst>
              </p:cNvPr>
              <p:cNvSpPr/>
              <p:nvPr/>
            </p:nvSpPr>
            <p:spPr>
              <a:xfrm>
                <a:off x="1996699" y="5262926"/>
                <a:ext cx="5694636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EACB601-CE6B-4749-9D98-1BFC0989C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699" y="5262926"/>
                <a:ext cx="5694636" cy="9885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内容占位符 5">
            <a:extLst>
              <a:ext uri="{FF2B5EF4-FFF2-40B4-BE49-F238E27FC236}">
                <a16:creationId xmlns:a16="http://schemas.microsoft.com/office/drawing/2014/main" id="{4328F7A4-2044-4774-AA2B-AEFF387EB7B4}"/>
              </a:ext>
            </a:extLst>
          </p:cNvPr>
          <p:cNvSpPr txBox="1">
            <a:spLocks/>
          </p:cNvSpPr>
          <p:nvPr/>
        </p:nvSpPr>
        <p:spPr>
          <a:xfrm>
            <a:off x="156618" y="4713801"/>
            <a:ext cx="2719963" cy="477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71464" indent="-371464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38" indent="-309553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8212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3497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878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cs typeface="Arial" panose="020B0604020202020204" pitchFamily="34" charset="0"/>
              </a:rPr>
              <a:t>Negligible KE and PE: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1E2843-711B-429A-B6C6-3E1988499C2E}"/>
                  </a:ext>
                </a:extLst>
              </p:cNvPr>
              <p:cNvSpPr txBox="1"/>
              <p:nvPr/>
            </p:nvSpPr>
            <p:spPr>
              <a:xfrm>
                <a:off x="7319772" y="2610628"/>
                <a:ext cx="11610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𝑝𝑣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1E2843-711B-429A-B6C6-3E1988499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772" y="2610628"/>
                <a:ext cx="1161087" cy="276999"/>
              </a:xfrm>
              <a:prstGeom prst="rect">
                <a:avLst/>
              </a:prstGeom>
              <a:blipFill>
                <a:blip r:embed="rId7"/>
                <a:stretch>
                  <a:fillRect l="-4737" r="-473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72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Conservation of Energy Equation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67FE0-1233-4F06-82C6-2A8F3BF00F44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Macroscopic Control Volume</a:t>
            </a:r>
          </a:p>
        </p:txBody>
      </p:sp>
      <p:sp>
        <p:nvSpPr>
          <p:cNvPr id="12" name="内容占位符 5">
            <a:extLst>
              <a:ext uri="{FF2B5EF4-FFF2-40B4-BE49-F238E27FC236}">
                <a16:creationId xmlns:a16="http://schemas.microsoft.com/office/drawing/2014/main" id="{1CD3302B-1209-4160-9011-2B66B5400710}"/>
              </a:ext>
            </a:extLst>
          </p:cNvPr>
          <p:cNvSpPr txBox="1">
            <a:spLocks/>
          </p:cNvSpPr>
          <p:nvPr/>
        </p:nvSpPr>
        <p:spPr>
          <a:xfrm>
            <a:off x="264816" y="2611201"/>
            <a:ext cx="6976012" cy="477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71464" indent="-371464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38" indent="-309553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8212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3497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878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cs typeface="Arial" panose="020B0604020202020204" pitchFamily="34" charset="0"/>
              </a:rPr>
              <a:t>Integrated form (negligible KE and PE):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01D0E7-950D-4B9C-9AF7-2D7BFCE0A81D}"/>
                  </a:ext>
                </a:extLst>
              </p:cNvPr>
              <p:cNvSpPr/>
              <p:nvPr/>
            </p:nvSpPr>
            <p:spPr>
              <a:xfrm>
                <a:off x="2191491" y="3187331"/>
                <a:ext cx="50638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01D0E7-950D-4B9C-9AF7-2D7BFCE0A8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491" y="3187331"/>
                <a:ext cx="5063822" cy="461665"/>
              </a:xfrm>
              <a:prstGeom prst="rect">
                <a:avLst/>
              </a:prstGeom>
              <a:blipFill>
                <a:blip r:embed="rId4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55B8F62E-DDB9-465B-913E-E29DBF0D47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7661" y="3778874"/>
                <a:ext cx="6284673" cy="24596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cs typeface="Arial" panose="020B0604020202020204" pitchFamily="34" charset="0"/>
                  </a:rPr>
                  <a:t>Closed system (fixed mass):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smtClean="0">
                                <a:latin typeface="Cambria Math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zh-CN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/>
                          </a:rPr>
                          <m:t>𝑒</m:t>
                        </m:r>
                      </m:sub>
                    </m:sSub>
                    <m:r>
                      <a:rPr lang="en-US" altLang="zh-CN" i="1" smtClean="0">
                        <a:latin typeface="Cambria Math"/>
                      </a:rPr>
                      <m:t>=0</m:t>
                    </m:r>
                  </m:oMath>
                </a14:m>
                <a:endParaRPr lang="en-US" altLang="zh-CN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</a:p>
              <a:p>
                <a:endParaRPr lang="en-US" altLang="zh-CN" sz="1000" dirty="0"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cs typeface="Arial" panose="020B0604020202020204" pitchFamily="34" charset="0"/>
                  </a:rPr>
                  <a:t>Open system-Steady State: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𝑑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>
                            <a:latin typeface="Cambria Math"/>
                          </a:rPr>
                          <m:t>)</m:t>
                        </m:r>
                      </m:e>
                      <m:sub>
                        <m:r>
                          <a:rPr lang="en-US" altLang="zh-CN" i="1" smtClean="0">
                            <a:latin typeface="Cambria Math"/>
                          </a:rPr>
                          <m:t>𝑐𝑣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/</m:t>
                    </m:r>
                    <m:r>
                      <a:rPr lang="en-US" altLang="zh-CN" i="1">
                        <a:latin typeface="Cambria Math"/>
                      </a:rPr>
                      <m:t>𝑑𝑡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55B8F62E-DDB9-465B-913E-E29DBF0D4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61" y="3778874"/>
                <a:ext cx="6284673" cy="2459612"/>
              </a:xfrm>
              <a:prstGeom prst="rect">
                <a:avLst/>
              </a:prstGeom>
              <a:blipFill>
                <a:blip r:embed="rId5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0758F8F-9BA8-42AD-ADC1-43828492DE5D}"/>
                  </a:ext>
                </a:extLst>
              </p:cNvPr>
              <p:cNvSpPr/>
              <p:nvPr/>
            </p:nvSpPr>
            <p:spPr>
              <a:xfrm>
                <a:off x="2823380" y="4279415"/>
                <a:ext cx="37922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𝑈</m:t>
                      </m:r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0758F8F-9BA8-42AD-ADC1-43828492DE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380" y="4279415"/>
                <a:ext cx="3792257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95C8CD3-78E0-411F-A5CE-7D618E5AFC08}"/>
                  </a:ext>
                </a:extLst>
              </p:cNvPr>
              <p:cNvSpPr/>
              <p:nvPr/>
            </p:nvSpPr>
            <p:spPr>
              <a:xfrm>
                <a:off x="2148792" y="5276255"/>
                <a:ext cx="5225148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0</m:t>
                      </m:r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95C8CD3-78E0-411F-A5CE-7D618E5AFC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792" y="5276255"/>
                <a:ext cx="5225148" cy="9885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内容占位符 5">
            <a:extLst>
              <a:ext uri="{FF2B5EF4-FFF2-40B4-BE49-F238E27FC236}">
                <a16:creationId xmlns:a16="http://schemas.microsoft.com/office/drawing/2014/main" id="{46AC874F-5531-4DD6-979A-60E6A626DFDC}"/>
              </a:ext>
            </a:extLst>
          </p:cNvPr>
          <p:cNvSpPr txBox="1">
            <a:spLocks/>
          </p:cNvSpPr>
          <p:nvPr/>
        </p:nvSpPr>
        <p:spPr>
          <a:xfrm>
            <a:off x="256959" y="1245886"/>
            <a:ext cx="6976012" cy="477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71464" indent="-371464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38" indent="-309553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8212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3497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878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cs typeface="Arial" panose="020B0604020202020204" pitchFamily="34" charset="0"/>
              </a:rPr>
              <a:t>Integrated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FC3871-8432-4585-AD41-CADB39B6EF48}"/>
                  </a:ext>
                </a:extLst>
              </p:cNvPr>
              <p:cNvSpPr/>
              <p:nvPr/>
            </p:nvSpPr>
            <p:spPr>
              <a:xfrm>
                <a:off x="326526" y="1605196"/>
                <a:ext cx="8780673" cy="9797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FC3871-8432-4585-AD41-CADB39B6EF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26" y="1605196"/>
                <a:ext cx="8780673" cy="9797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928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Using the 1</a:t>
            </a:r>
            <a:r>
              <a:rPr lang="en-US" sz="3300" baseline="30000" dirty="0"/>
              <a:t>st</a:t>
            </a:r>
            <a:r>
              <a:rPr lang="en-US" sz="3300" dirty="0"/>
              <a:t> Law: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EA4719-242A-4603-8F9B-005A56BBF7C4}"/>
                  </a:ext>
                </a:extLst>
              </p:cNvPr>
              <p:cNvSpPr txBox="1"/>
              <p:nvPr/>
            </p:nvSpPr>
            <p:spPr>
              <a:xfrm>
                <a:off x="1074620" y="3831331"/>
                <a:ext cx="4857740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𝐸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:r>
                  <a:rPr lang="en-US" sz="2800" i="1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𝐸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EA4719-242A-4603-8F9B-005A56BBF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20" y="3831331"/>
                <a:ext cx="4857740" cy="2246769"/>
              </a:xfrm>
              <a:prstGeom prst="rect">
                <a:avLst/>
              </a:prstGeom>
              <a:blipFill>
                <a:blip r:embed="rId4"/>
                <a:stretch>
                  <a:fillRect l="-2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EBDA2B-BC69-426D-8A35-E603F2D61D4C}"/>
                  </a:ext>
                </a:extLst>
              </p:cNvPr>
              <p:cNvSpPr txBox="1"/>
              <p:nvPr/>
            </p:nvSpPr>
            <p:spPr>
              <a:xfrm>
                <a:off x="964346" y="1510241"/>
                <a:ext cx="452502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transferred into the system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/>
                  <a:t> transferred to the surroundings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𝑊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/>
                  <a:t> done on the system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𝑊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/>
                  <a:t> done by the system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EBDA2B-BC69-426D-8A35-E603F2D61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46" y="1510241"/>
                <a:ext cx="4525021" cy="1569660"/>
              </a:xfrm>
              <a:prstGeom prst="rect">
                <a:avLst/>
              </a:prstGeom>
              <a:blipFill>
                <a:blip r:embed="rId5"/>
                <a:stretch>
                  <a:fillRect l="-943" t="-3113" r="-94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72C434A-F0E2-42DA-B98B-67B36D95FB6C}"/>
              </a:ext>
            </a:extLst>
          </p:cNvPr>
          <p:cNvSpPr txBox="1"/>
          <p:nvPr/>
        </p:nvSpPr>
        <p:spPr>
          <a:xfrm>
            <a:off x="6178186" y="2536758"/>
            <a:ext cx="2008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variables are magnitudes.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E51D2-71DE-4F09-9312-5ECAEFE63098}"/>
              </a:ext>
            </a:extLst>
          </p:cNvPr>
          <p:cNvSpPr txBox="1"/>
          <p:nvPr/>
        </p:nvSpPr>
        <p:spPr>
          <a:xfrm>
            <a:off x="5990337" y="827290"/>
            <a:ext cx="2553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Neglect KE &amp; PE</a:t>
            </a:r>
          </a:p>
        </p:txBody>
      </p:sp>
    </p:spTree>
    <p:extLst>
      <p:ext uri="{BB962C8B-B14F-4D97-AF65-F5344CB8AC3E}">
        <p14:creationId xmlns:p14="http://schemas.microsoft.com/office/powerpoint/2010/main" val="229310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Using the 1</a:t>
            </a:r>
            <a:r>
              <a:rPr lang="en-US" sz="3300" baseline="30000" dirty="0"/>
              <a:t>st</a:t>
            </a:r>
            <a:r>
              <a:rPr lang="en-US" sz="3300" dirty="0"/>
              <a:t> Law: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DC4567A0-0BEE-4805-940E-268470EEB63E}"/>
              </a:ext>
            </a:extLst>
          </p:cNvPr>
          <p:cNvSpPr/>
          <p:nvPr/>
        </p:nvSpPr>
        <p:spPr>
          <a:xfrm>
            <a:off x="2433024" y="1760570"/>
            <a:ext cx="2546798" cy="1310017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158F91-AB0C-4AE1-AAE6-A6E663271F26}"/>
              </a:ext>
            </a:extLst>
          </p:cNvPr>
          <p:cNvCxnSpPr/>
          <p:nvPr/>
        </p:nvCxnSpPr>
        <p:spPr>
          <a:xfrm flipV="1">
            <a:off x="4679658" y="1949515"/>
            <a:ext cx="910601" cy="47272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7AF1B8-E2F5-4747-841E-5ABCDA1F6173}"/>
              </a:ext>
            </a:extLst>
          </p:cNvPr>
          <p:cNvCxnSpPr/>
          <p:nvPr/>
        </p:nvCxnSpPr>
        <p:spPr>
          <a:xfrm>
            <a:off x="1502498" y="2422234"/>
            <a:ext cx="1321578" cy="9137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5B789B-6623-44EC-830B-699A59926038}"/>
              </a:ext>
            </a:extLst>
          </p:cNvPr>
          <p:cNvCxnSpPr/>
          <p:nvPr/>
        </p:nvCxnSpPr>
        <p:spPr>
          <a:xfrm flipV="1">
            <a:off x="3213713" y="1341948"/>
            <a:ext cx="392651" cy="670992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FFC384-67D5-4C98-B81A-DE2F8F0C51B2}"/>
              </a:ext>
            </a:extLst>
          </p:cNvPr>
          <p:cNvCxnSpPr/>
          <p:nvPr/>
        </p:nvCxnSpPr>
        <p:spPr>
          <a:xfrm flipV="1">
            <a:off x="2163142" y="2824958"/>
            <a:ext cx="880984" cy="52274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CA8381-5631-4503-B887-1ED41CAAE60F}"/>
                  </a:ext>
                </a:extLst>
              </p:cNvPr>
              <p:cNvSpPr txBox="1"/>
              <p:nvPr/>
            </p:nvSpPr>
            <p:spPr>
              <a:xfrm>
                <a:off x="1106624" y="3928891"/>
                <a:ext cx="4876335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𝐸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:r>
                  <a:rPr lang="en-US" sz="2800" i="1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𝐸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CA8381-5631-4503-B887-1ED41CAAE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624" y="3928891"/>
                <a:ext cx="4876335" cy="2246769"/>
              </a:xfrm>
              <a:prstGeom prst="rect">
                <a:avLst/>
              </a:prstGeom>
              <a:blipFill>
                <a:blip r:embed="rId4"/>
                <a:stretch>
                  <a:fillRect l="-2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325D22-54D6-413E-B9D2-B69B96E83561}"/>
                  </a:ext>
                </a:extLst>
              </p:cNvPr>
              <p:cNvSpPr txBox="1"/>
              <p:nvPr/>
            </p:nvSpPr>
            <p:spPr>
              <a:xfrm>
                <a:off x="914173" y="2104756"/>
                <a:ext cx="604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325D22-54D6-413E-B9D2-B69B96E83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73" y="2104756"/>
                <a:ext cx="604075" cy="461665"/>
              </a:xfrm>
              <a:prstGeom prst="rect">
                <a:avLst/>
              </a:prstGeom>
              <a:blipFill>
                <a:blip r:embed="rId5"/>
                <a:stretch>
                  <a:fillRect l="-1010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DE0077-08D9-4EAD-86E7-21F46424E8DD}"/>
                  </a:ext>
                </a:extLst>
              </p:cNvPr>
              <p:cNvSpPr txBox="1"/>
              <p:nvPr/>
            </p:nvSpPr>
            <p:spPr>
              <a:xfrm>
                <a:off x="3592894" y="1077991"/>
                <a:ext cx="6078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DE0077-08D9-4EAD-86E7-21F46424E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894" y="1077991"/>
                <a:ext cx="607859" cy="461665"/>
              </a:xfrm>
              <a:prstGeom prst="rect">
                <a:avLst/>
              </a:prstGeom>
              <a:blipFill>
                <a:blip r:embed="rId6"/>
                <a:stretch>
                  <a:fillRect l="-1000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B2228B-CAB7-412C-8891-F921B4BAF099}"/>
                  </a:ext>
                </a:extLst>
              </p:cNvPr>
              <p:cNvSpPr txBox="1"/>
              <p:nvPr/>
            </p:nvSpPr>
            <p:spPr>
              <a:xfrm>
                <a:off x="1502498" y="3094792"/>
                <a:ext cx="6531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B2228B-CAB7-412C-8891-F921B4BAF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498" y="3094792"/>
                <a:ext cx="653191" cy="461665"/>
              </a:xfrm>
              <a:prstGeom prst="rect">
                <a:avLst/>
              </a:prstGeom>
              <a:blipFill>
                <a:blip r:embed="rId7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230227-F4DF-4C44-9B45-61DCB0AC06D1}"/>
                  </a:ext>
                </a:extLst>
              </p:cNvPr>
              <p:cNvSpPr txBox="1"/>
              <p:nvPr/>
            </p:nvSpPr>
            <p:spPr>
              <a:xfrm>
                <a:off x="5478322" y="1539656"/>
                <a:ext cx="6755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230227-F4DF-4C44-9B45-61DCB0AC0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322" y="1539656"/>
                <a:ext cx="675570" cy="461665"/>
              </a:xfrm>
              <a:prstGeom prst="rect">
                <a:avLst/>
              </a:prstGeom>
              <a:blipFill>
                <a:blip r:embed="rId8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21B802F-19C2-40BF-A712-E8E57929F565}"/>
              </a:ext>
            </a:extLst>
          </p:cNvPr>
          <p:cNvSpPr txBox="1"/>
          <p:nvPr/>
        </p:nvSpPr>
        <p:spPr>
          <a:xfrm>
            <a:off x="6210190" y="2634318"/>
            <a:ext cx="2008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All variables are magnitudes.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A3D2B0-F57C-4FAB-B0F2-0091CE1BCA92}"/>
              </a:ext>
            </a:extLst>
          </p:cNvPr>
          <p:cNvSpPr txBox="1"/>
          <p:nvPr/>
        </p:nvSpPr>
        <p:spPr>
          <a:xfrm>
            <a:off x="6022341" y="924850"/>
            <a:ext cx="2553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Neglect KE &amp; PE</a:t>
            </a:r>
          </a:p>
        </p:txBody>
      </p:sp>
    </p:spTree>
    <p:extLst>
      <p:ext uri="{BB962C8B-B14F-4D97-AF65-F5344CB8AC3E}">
        <p14:creationId xmlns:p14="http://schemas.microsoft.com/office/powerpoint/2010/main" val="750386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Conservation of Energy Equation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67FE0-1233-4F06-82C6-2A8F3BF00F44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Macroscopic Control Volume</a:t>
            </a:r>
          </a:p>
        </p:txBody>
      </p:sp>
      <p:sp>
        <p:nvSpPr>
          <p:cNvPr id="12" name="内容占位符 5">
            <a:extLst>
              <a:ext uri="{FF2B5EF4-FFF2-40B4-BE49-F238E27FC236}">
                <a16:creationId xmlns:a16="http://schemas.microsoft.com/office/drawing/2014/main" id="{1CD3302B-1209-4160-9011-2B66B5400710}"/>
              </a:ext>
            </a:extLst>
          </p:cNvPr>
          <p:cNvSpPr txBox="1">
            <a:spLocks/>
          </p:cNvSpPr>
          <p:nvPr/>
        </p:nvSpPr>
        <p:spPr>
          <a:xfrm>
            <a:off x="264816" y="2611201"/>
            <a:ext cx="6976012" cy="477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71464" indent="-371464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38" indent="-309553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8212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3497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878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cs typeface="Arial" panose="020B0604020202020204" pitchFamily="34" charset="0"/>
              </a:rPr>
              <a:t>Integrated form (negligible KE and PE):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01D0E7-950D-4B9C-9AF7-2D7BFCE0A81D}"/>
                  </a:ext>
                </a:extLst>
              </p:cNvPr>
              <p:cNvSpPr/>
              <p:nvPr/>
            </p:nvSpPr>
            <p:spPr>
              <a:xfrm>
                <a:off x="2191491" y="3187331"/>
                <a:ext cx="50638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E01D0E7-950D-4B9C-9AF7-2D7BFCE0A8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491" y="3187331"/>
                <a:ext cx="5063822" cy="461665"/>
              </a:xfrm>
              <a:prstGeom prst="rect">
                <a:avLst/>
              </a:prstGeom>
              <a:blipFill>
                <a:blip r:embed="rId4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55B8F62E-DDB9-465B-913E-E29DBF0D47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7661" y="3778874"/>
                <a:ext cx="6284673" cy="24596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cs typeface="Arial" panose="020B0604020202020204" pitchFamily="34" charset="0"/>
                  </a:rPr>
                  <a:t>Closed system (fixed mass):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smtClean="0">
                                <a:latin typeface="Cambria Math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zh-CN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/>
                          </a:rPr>
                          <m:t>𝑒</m:t>
                        </m:r>
                      </m:sub>
                    </m:sSub>
                    <m:r>
                      <a:rPr lang="en-US" altLang="zh-CN" i="1" smtClean="0">
                        <a:latin typeface="Cambria Math"/>
                      </a:rPr>
                      <m:t>=0</m:t>
                    </m:r>
                  </m:oMath>
                </a14:m>
                <a:endParaRPr lang="en-US" altLang="zh-CN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</a:p>
              <a:p>
                <a:endParaRPr lang="en-US" altLang="zh-CN" sz="1000" dirty="0">
                  <a:cs typeface="Arial" panose="020B0604020202020204" pitchFamily="34" charset="0"/>
                </a:endParaRPr>
              </a:p>
              <a:p>
                <a:r>
                  <a:rPr lang="en-US" altLang="zh-CN" dirty="0">
                    <a:cs typeface="Arial" panose="020B0604020202020204" pitchFamily="34" charset="0"/>
                  </a:rPr>
                  <a:t>Open system-Steady State: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𝑑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()</m:t>
                        </m:r>
                      </m:e>
                      <m:sub>
                        <m:r>
                          <a:rPr lang="en-US" altLang="zh-CN" i="1" smtClean="0">
                            <a:latin typeface="Cambria Math"/>
                          </a:rPr>
                          <m:t>𝑐𝑣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/</m:t>
                    </m:r>
                    <m:r>
                      <a:rPr lang="en-US" altLang="zh-CN" i="1">
                        <a:latin typeface="Cambria Math"/>
                      </a:rPr>
                      <m:t>𝑑𝑡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内容占位符 2">
                <a:extLst>
                  <a:ext uri="{FF2B5EF4-FFF2-40B4-BE49-F238E27FC236}">
                    <a16:creationId xmlns:a16="http://schemas.microsoft.com/office/drawing/2014/main" id="{55B8F62E-DDB9-465B-913E-E29DBF0D4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61" y="3778874"/>
                <a:ext cx="6284673" cy="2459612"/>
              </a:xfrm>
              <a:prstGeom prst="rect">
                <a:avLst/>
              </a:prstGeom>
              <a:blipFill>
                <a:blip r:embed="rId5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0758F8F-9BA8-42AD-ADC1-43828492DE5D}"/>
                  </a:ext>
                </a:extLst>
              </p:cNvPr>
              <p:cNvSpPr/>
              <p:nvPr/>
            </p:nvSpPr>
            <p:spPr>
              <a:xfrm>
                <a:off x="2823380" y="4279415"/>
                <a:ext cx="37922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𝑈</m:t>
                      </m:r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0758F8F-9BA8-42AD-ADC1-43828492DE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380" y="4279415"/>
                <a:ext cx="3792257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95C8CD3-78E0-411F-A5CE-7D618E5AFC08}"/>
                  </a:ext>
                </a:extLst>
              </p:cNvPr>
              <p:cNvSpPr/>
              <p:nvPr/>
            </p:nvSpPr>
            <p:spPr>
              <a:xfrm>
                <a:off x="2148792" y="5276255"/>
                <a:ext cx="5225148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0</m:t>
                      </m:r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95C8CD3-78E0-411F-A5CE-7D618E5AFC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792" y="5276255"/>
                <a:ext cx="5225148" cy="9885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内容占位符 5">
            <a:extLst>
              <a:ext uri="{FF2B5EF4-FFF2-40B4-BE49-F238E27FC236}">
                <a16:creationId xmlns:a16="http://schemas.microsoft.com/office/drawing/2014/main" id="{46AC874F-5531-4DD6-979A-60E6A626DFDC}"/>
              </a:ext>
            </a:extLst>
          </p:cNvPr>
          <p:cNvSpPr txBox="1">
            <a:spLocks/>
          </p:cNvSpPr>
          <p:nvPr/>
        </p:nvSpPr>
        <p:spPr>
          <a:xfrm>
            <a:off x="256959" y="1245886"/>
            <a:ext cx="6976012" cy="477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71464" indent="-371464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38" indent="-309553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8212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3497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878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cs typeface="Arial" panose="020B0604020202020204" pitchFamily="34" charset="0"/>
              </a:rPr>
              <a:t>Integrated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FC3871-8432-4585-AD41-CADB39B6EF48}"/>
                  </a:ext>
                </a:extLst>
              </p:cNvPr>
              <p:cNvSpPr/>
              <p:nvPr/>
            </p:nvSpPr>
            <p:spPr>
              <a:xfrm>
                <a:off x="326526" y="1605196"/>
                <a:ext cx="8780673" cy="9797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FC3871-8432-4585-AD41-CADB39B6EF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26" y="1605196"/>
                <a:ext cx="8780673" cy="9797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94FF96D7-55C6-44CA-81FA-611D30EEA1AC}"/>
              </a:ext>
            </a:extLst>
          </p:cNvPr>
          <p:cNvSpPr/>
          <p:nvPr/>
        </p:nvSpPr>
        <p:spPr>
          <a:xfrm>
            <a:off x="3126622" y="1159351"/>
            <a:ext cx="37359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cs typeface="Arial" panose="020B0604020202020204" pitchFamily="34" charset="0"/>
              </a:rPr>
              <a:t>Open system-Unsteady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EB6DB4-B99A-416B-A113-C1FA151262EB}"/>
              </a:ext>
            </a:extLst>
          </p:cNvPr>
          <p:cNvSpPr/>
          <p:nvPr/>
        </p:nvSpPr>
        <p:spPr>
          <a:xfrm>
            <a:off x="256958" y="1610325"/>
            <a:ext cx="8724429" cy="980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23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Conservation of Energy Equation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67FE0-1233-4F06-82C6-2A8F3BF00F44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Macroscopic Control Volume</a:t>
            </a:r>
          </a:p>
        </p:txBody>
      </p:sp>
      <p:sp>
        <p:nvSpPr>
          <p:cNvPr id="15" name="内容占位符 5">
            <a:extLst>
              <a:ext uri="{FF2B5EF4-FFF2-40B4-BE49-F238E27FC236}">
                <a16:creationId xmlns:a16="http://schemas.microsoft.com/office/drawing/2014/main" id="{7F4B07C4-D353-4603-8D07-ADC4E8944BD1}"/>
              </a:ext>
            </a:extLst>
          </p:cNvPr>
          <p:cNvSpPr txBox="1">
            <a:spLocks/>
          </p:cNvSpPr>
          <p:nvPr/>
        </p:nvSpPr>
        <p:spPr>
          <a:xfrm>
            <a:off x="149182" y="1316398"/>
            <a:ext cx="1801851" cy="477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71464" indent="-371464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38" indent="-309553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8212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3497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878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 sz="2400" dirty="0">
                <a:cs typeface="Arial" panose="020B0604020202020204" pitchFamily="34" charset="0"/>
              </a:rPr>
              <a:t>Rate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D9B248-E693-4E8E-A65E-298C9D1559B2}"/>
                  </a:ext>
                </a:extLst>
              </p:cNvPr>
              <p:cNvSpPr/>
              <p:nvPr/>
            </p:nvSpPr>
            <p:spPr>
              <a:xfrm>
                <a:off x="1625008" y="1456643"/>
                <a:ext cx="6592125" cy="19464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𝑝𝑣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40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𝑝𝑣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D9B248-E693-4E8E-A65E-298C9D155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08" y="1456643"/>
                <a:ext cx="6592125" cy="19464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0462C5-18D0-4BB0-8C11-86FA4F369EE9}"/>
                  </a:ext>
                </a:extLst>
              </p:cNvPr>
              <p:cNvSpPr/>
              <p:nvPr/>
            </p:nvSpPr>
            <p:spPr>
              <a:xfrm>
                <a:off x="0" y="3506339"/>
                <a:ext cx="9246442" cy="10193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/>
                                </a:rPr>
                                <m:t>𝑔𝑧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0462C5-18D0-4BB0-8C11-86FA4F369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06339"/>
                <a:ext cx="9246442" cy="10193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EACB601-CE6B-4749-9D98-1BFC0989C248}"/>
                  </a:ext>
                </a:extLst>
              </p:cNvPr>
              <p:cNvSpPr/>
              <p:nvPr/>
            </p:nvSpPr>
            <p:spPr>
              <a:xfrm>
                <a:off x="1996699" y="5262926"/>
                <a:ext cx="5694636" cy="988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𝑐𝑣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US" altLang="zh-CN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𝑐𝑣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EACB601-CE6B-4749-9D98-1BFC0989C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699" y="5262926"/>
                <a:ext cx="5694636" cy="9885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内容占位符 5">
            <a:extLst>
              <a:ext uri="{FF2B5EF4-FFF2-40B4-BE49-F238E27FC236}">
                <a16:creationId xmlns:a16="http://schemas.microsoft.com/office/drawing/2014/main" id="{4328F7A4-2044-4774-AA2B-AEFF387EB7B4}"/>
              </a:ext>
            </a:extLst>
          </p:cNvPr>
          <p:cNvSpPr txBox="1">
            <a:spLocks/>
          </p:cNvSpPr>
          <p:nvPr/>
        </p:nvSpPr>
        <p:spPr>
          <a:xfrm>
            <a:off x="156618" y="4713801"/>
            <a:ext cx="2719963" cy="477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71464" indent="-371464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4838" indent="-309553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38212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3497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2878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406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cs typeface="Arial" panose="020B0604020202020204" pitchFamily="34" charset="0"/>
              </a:rPr>
              <a:t>Negligible KE and PE: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1E2843-711B-429A-B6C6-3E1988499C2E}"/>
                  </a:ext>
                </a:extLst>
              </p:cNvPr>
              <p:cNvSpPr txBox="1"/>
              <p:nvPr/>
            </p:nvSpPr>
            <p:spPr>
              <a:xfrm>
                <a:off x="7319772" y="2610628"/>
                <a:ext cx="11610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𝑝𝑣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1E2843-711B-429A-B6C6-3E1988499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772" y="2610628"/>
                <a:ext cx="1161087" cy="276999"/>
              </a:xfrm>
              <a:prstGeom prst="rect">
                <a:avLst/>
              </a:prstGeom>
              <a:blipFill>
                <a:blip r:embed="rId7"/>
                <a:stretch>
                  <a:fillRect l="-4737" r="-473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5B7A4C7-02EB-4DEB-9E21-D08F4A0FB187}"/>
              </a:ext>
            </a:extLst>
          </p:cNvPr>
          <p:cNvSpPr/>
          <p:nvPr/>
        </p:nvSpPr>
        <p:spPr>
          <a:xfrm>
            <a:off x="2887567" y="4441105"/>
            <a:ext cx="30736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cs typeface="Arial" panose="020B0604020202020204" pitchFamily="34" charset="0"/>
              </a:rPr>
              <a:t>Open system-Unsteady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9356B9-DC27-4F14-9A13-DDA45DE03286}"/>
              </a:ext>
            </a:extLst>
          </p:cNvPr>
          <p:cNvSpPr/>
          <p:nvPr/>
        </p:nvSpPr>
        <p:spPr>
          <a:xfrm>
            <a:off x="32994" y="3506339"/>
            <a:ext cx="9078012" cy="980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35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Using the 1</a:t>
            </a:r>
            <a:r>
              <a:rPr lang="en-US" sz="3300" baseline="30000" dirty="0"/>
              <a:t>st</a:t>
            </a:r>
            <a:r>
              <a:rPr lang="en-US" sz="3300" dirty="0"/>
              <a:t> Law: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5F8B2856-ACE5-496D-87FE-6D9C28C08573}"/>
              </a:ext>
            </a:extLst>
          </p:cNvPr>
          <p:cNvSpPr/>
          <p:nvPr/>
        </p:nvSpPr>
        <p:spPr>
          <a:xfrm>
            <a:off x="1593925" y="1899108"/>
            <a:ext cx="2546798" cy="1310017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30D908-1747-4C82-8D62-02F92B1B6891}"/>
              </a:ext>
            </a:extLst>
          </p:cNvPr>
          <p:cNvCxnSpPr/>
          <p:nvPr/>
        </p:nvCxnSpPr>
        <p:spPr>
          <a:xfrm>
            <a:off x="663399" y="2560772"/>
            <a:ext cx="1321578" cy="9137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983AA4-A508-495A-B5EE-A85D44231828}"/>
              </a:ext>
            </a:extLst>
          </p:cNvPr>
          <p:cNvCxnSpPr/>
          <p:nvPr/>
        </p:nvCxnSpPr>
        <p:spPr>
          <a:xfrm flipV="1">
            <a:off x="2374615" y="1480486"/>
            <a:ext cx="392651" cy="670992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1B93E1-7217-4856-88D3-A48D1B165C01}"/>
              </a:ext>
            </a:extLst>
          </p:cNvPr>
          <p:cNvCxnSpPr/>
          <p:nvPr/>
        </p:nvCxnSpPr>
        <p:spPr>
          <a:xfrm flipV="1">
            <a:off x="1324043" y="2963496"/>
            <a:ext cx="880984" cy="52274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7A9933-7492-4B9A-A082-DFE3FEB9AE6A}"/>
                  </a:ext>
                </a:extLst>
              </p:cNvPr>
              <p:cNvSpPr txBox="1"/>
              <p:nvPr/>
            </p:nvSpPr>
            <p:spPr>
              <a:xfrm>
                <a:off x="1399037" y="4313103"/>
                <a:ext cx="6552948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𝑚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:r>
                  <a:rPr lang="en-US" sz="2800" i="1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𝑚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7A9933-7492-4B9A-A082-DFE3FEB9A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037" y="4313103"/>
                <a:ext cx="6552948" cy="2246769"/>
              </a:xfrm>
              <a:prstGeom prst="rect">
                <a:avLst/>
              </a:prstGeom>
              <a:blipFill>
                <a:blip r:embed="rId4"/>
                <a:stretch>
                  <a:fillRect l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B72423-C70A-4E28-BAC9-F138C9A7C2D0}"/>
                  </a:ext>
                </a:extLst>
              </p:cNvPr>
              <p:cNvSpPr txBox="1"/>
              <p:nvPr/>
            </p:nvSpPr>
            <p:spPr>
              <a:xfrm>
                <a:off x="75075" y="2243294"/>
                <a:ext cx="604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B72423-C70A-4E28-BAC9-F138C9A7C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5" y="2243294"/>
                <a:ext cx="604075" cy="461665"/>
              </a:xfrm>
              <a:prstGeom prst="rect">
                <a:avLst/>
              </a:prstGeom>
              <a:blipFill>
                <a:blip r:embed="rId5"/>
                <a:stretch>
                  <a:fillRect l="-1010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D282DF-4278-4ECC-9775-8C9BD5501648}"/>
                  </a:ext>
                </a:extLst>
              </p:cNvPr>
              <p:cNvSpPr txBox="1"/>
              <p:nvPr/>
            </p:nvSpPr>
            <p:spPr>
              <a:xfrm>
                <a:off x="2753796" y="1216529"/>
                <a:ext cx="6078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D282DF-4278-4ECC-9775-8C9BD5501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796" y="1216529"/>
                <a:ext cx="607859" cy="461665"/>
              </a:xfrm>
              <a:prstGeom prst="rect">
                <a:avLst/>
              </a:prstGeom>
              <a:blipFill>
                <a:blip r:embed="rId6"/>
                <a:stretch>
                  <a:fillRect l="-101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FE8186-E19D-411D-B052-E5839E06F7E5}"/>
                  </a:ext>
                </a:extLst>
              </p:cNvPr>
              <p:cNvSpPr txBox="1"/>
              <p:nvPr/>
            </p:nvSpPr>
            <p:spPr>
              <a:xfrm>
                <a:off x="663399" y="3233331"/>
                <a:ext cx="6531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FE8186-E19D-411D-B052-E5839E06F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99" y="3233331"/>
                <a:ext cx="6531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A3A0599-FAE8-42BE-ACA0-1705A04A8194}"/>
              </a:ext>
            </a:extLst>
          </p:cNvPr>
          <p:cNvSpPr txBox="1"/>
          <p:nvPr/>
        </p:nvSpPr>
        <p:spPr>
          <a:xfrm>
            <a:off x="7135487" y="570198"/>
            <a:ext cx="2008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All variables are magnitudes.</a:t>
            </a: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3EEFCA8B-B7B9-485C-A1FC-9330697F22F0}"/>
              </a:ext>
            </a:extLst>
          </p:cNvPr>
          <p:cNvSpPr/>
          <p:nvPr/>
        </p:nvSpPr>
        <p:spPr>
          <a:xfrm>
            <a:off x="4154481" y="1899108"/>
            <a:ext cx="2546798" cy="1310017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7D72DA-0CF9-4D9E-897F-C504961CCAAE}"/>
                  </a:ext>
                </a:extLst>
              </p:cNvPr>
              <p:cNvSpPr txBox="1"/>
              <p:nvPr/>
            </p:nvSpPr>
            <p:spPr>
              <a:xfrm>
                <a:off x="4705769" y="2142560"/>
                <a:ext cx="6755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7D72DA-0CF9-4D9E-897F-C504961CC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769" y="2142560"/>
                <a:ext cx="675570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23243B-0802-4B3A-B9AF-8824E728D40E}"/>
              </a:ext>
            </a:extLst>
          </p:cNvPr>
          <p:cNvCxnSpPr/>
          <p:nvPr/>
        </p:nvCxnSpPr>
        <p:spPr>
          <a:xfrm flipV="1">
            <a:off x="3442127" y="2243295"/>
            <a:ext cx="1247873" cy="2308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F649D7F-A066-493B-9827-C84D253318F1}"/>
              </a:ext>
            </a:extLst>
          </p:cNvPr>
          <p:cNvSpPr txBox="1"/>
          <p:nvPr/>
        </p:nvSpPr>
        <p:spPr>
          <a:xfrm>
            <a:off x="1112016" y="3684229"/>
            <a:ext cx="57828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Choose the energy balance for the </a:t>
            </a:r>
            <a:r>
              <a:rPr lang="en-US" sz="2200" b="1" dirty="0">
                <a:solidFill>
                  <a:schemeClr val="accent1"/>
                </a:solidFill>
              </a:rPr>
              <a:t>green</a:t>
            </a:r>
            <a:r>
              <a:rPr lang="en-US" sz="2200" dirty="0"/>
              <a:t> system.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FFDE3C-C902-4A89-8344-9979A067B5BF}"/>
              </a:ext>
            </a:extLst>
          </p:cNvPr>
          <p:cNvCxnSpPr/>
          <p:nvPr/>
        </p:nvCxnSpPr>
        <p:spPr>
          <a:xfrm>
            <a:off x="6538202" y="2762128"/>
            <a:ext cx="597286" cy="139477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7560EB-79EA-474E-B00E-346B70FD888E}"/>
                  </a:ext>
                </a:extLst>
              </p:cNvPr>
              <p:cNvSpPr txBox="1"/>
              <p:nvPr/>
            </p:nvSpPr>
            <p:spPr>
              <a:xfrm>
                <a:off x="7041208" y="2681012"/>
                <a:ext cx="6788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7560EB-79EA-474E-B00E-346B70FD8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208" y="2681012"/>
                <a:ext cx="678840" cy="461665"/>
              </a:xfrm>
              <a:prstGeom prst="rect">
                <a:avLst/>
              </a:prstGeom>
              <a:blipFill>
                <a:blip r:embed="rId9"/>
                <a:stretch>
                  <a:fillRect l="-901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5826F1-A9BE-46B3-A8F3-C09ED8E8EBB2}"/>
              </a:ext>
            </a:extLst>
          </p:cNvPr>
          <p:cNvCxnSpPr/>
          <p:nvPr/>
        </p:nvCxnSpPr>
        <p:spPr>
          <a:xfrm flipH="1">
            <a:off x="6436536" y="2053825"/>
            <a:ext cx="698952" cy="2188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319EDD-21A1-4261-8ED9-3AF19570B044}"/>
                  </a:ext>
                </a:extLst>
              </p:cNvPr>
              <p:cNvSpPr txBox="1"/>
              <p:nvPr/>
            </p:nvSpPr>
            <p:spPr>
              <a:xfrm>
                <a:off x="7128232" y="1773930"/>
                <a:ext cx="6728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319EDD-21A1-4261-8ED9-3AF19570B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232" y="1773930"/>
                <a:ext cx="672877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FE5FAE7-73D2-4D8D-A203-2CBD47317D23}"/>
              </a:ext>
            </a:extLst>
          </p:cNvPr>
          <p:cNvSpPr txBox="1"/>
          <p:nvPr/>
        </p:nvSpPr>
        <p:spPr>
          <a:xfrm>
            <a:off x="7276516" y="1247743"/>
            <a:ext cx="168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Neglect </a:t>
            </a:r>
            <a:r>
              <a:rPr lang="en-US" dirty="0"/>
              <a:t>KE &amp; PE</a:t>
            </a:r>
          </a:p>
        </p:txBody>
      </p:sp>
    </p:spTree>
    <p:extLst>
      <p:ext uri="{BB962C8B-B14F-4D97-AF65-F5344CB8AC3E}">
        <p14:creationId xmlns:p14="http://schemas.microsoft.com/office/powerpoint/2010/main" val="2771813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Using the 1</a:t>
            </a:r>
            <a:r>
              <a:rPr lang="en-US" sz="3300" baseline="30000" dirty="0"/>
              <a:t>st</a:t>
            </a:r>
            <a:r>
              <a:rPr lang="en-US" sz="3300" dirty="0"/>
              <a:t> Law: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5F8B2856-ACE5-496D-87FE-6D9C28C08573}"/>
              </a:ext>
            </a:extLst>
          </p:cNvPr>
          <p:cNvSpPr/>
          <p:nvPr/>
        </p:nvSpPr>
        <p:spPr>
          <a:xfrm>
            <a:off x="1593925" y="1899108"/>
            <a:ext cx="2546798" cy="1310017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30D908-1747-4C82-8D62-02F92B1B6891}"/>
              </a:ext>
            </a:extLst>
          </p:cNvPr>
          <p:cNvCxnSpPr/>
          <p:nvPr/>
        </p:nvCxnSpPr>
        <p:spPr>
          <a:xfrm>
            <a:off x="663399" y="2560772"/>
            <a:ext cx="1321578" cy="9137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983AA4-A508-495A-B5EE-A85D44231828}"/>
              </a:ext>
            </a:extLst>
          </p:cNvPr>
          <p:cNvCxnSpPr/>
          <p:nvPr/>
        </p:nvCxnSpPr>
        <p:spPr>
          <a:xfrm flipV="1">
            <a:off x="2374615" y="1480486"/>
            <a:ext cx="392651" cy="670992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1B93E1-7217-4856-88D3-A48D1B165C01}"/>
              </a:ext>
            </a:extLst>
          </p:cNvPr>
          <p:cNvCxnSpPr/>
          <p:nvPr/>
        </p:nvCxnSpPr>
        <p:spPr>
          <a:xfrm flipV="1">
            <a:off x="1324043" y="2963496"/>
            <a:ext cx="880984" cy="522746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7A9933-7492-4B9A-A082-DFE3FEB9AE6A}"/>
                  </a:ext>
                </a:extLst>
              </p:cNvPr>
              <p:cNvSpPr txBox="1"/>
              <p:nvPr/>
            </p:nvSpPr>
            <p:spPr>
              <a:xfrm>
                <a:off x="1399037" y="4313103"/>
                <a:ext cx="6552948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:r>
                  <a:rPr lang="en-US" sz="2800" i="1" dirty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∆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∆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∆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 ∆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𝑈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=−</m:t>
                        </m:r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𝑥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𝑚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𝐴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𝐵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libri" charset="0"/>
                        <a:cs typeface="Calibri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𝑊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libri" charset="0"/>
                            <a:cs typeface="Calibri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800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7A9933-7492-4B9A-A082-DFE3FEB9A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037" y="4313103"/>
                <a:ext cx="6552948" cy="2246769"/>
              </a:xfrm>
              <a:prstGeom prst="rect">
                <a:avLst/>
              </a:prstGeom>
              <a:blipFill>
                <a:blip r:embed="rId4"/>
                <a:stretch>
                  <a:fillRect l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B72423-C70A-4E28-BAC9-F138C9A7C2D0}"/>
                  </a:ext>
                </a:extLst>
              </p:cNvPr>
              <p:cNvSpPr txBox="1"/>
              <p:nvPr/>
            </p:nvSpPr>
            <p:spPr>
              <a:xfrm>
                <a:off x="75075" y="2243294"/>
                <a:ext cx="6040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B72423-C70A-4E28-BAC9-F138C9A7C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5" y="2243294"/>
                <a:ext cx="604075" cy="461665"/>
              </a:xfrm>
              <a:prstGeom prst="rect">
                <a:avLst/>
              </a:prstGeom>
              <a:blipFill>
                <a:blip r:embed="rId5"/>
                <a:stretch>
                  <a:fillRect l="-1010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D282DF-4278-4ECC-9775-8C9BD5501648}"/>
                  </a:ext>
                </a:extLst>
              </p:cNvPr>
              <p:cNvSpPr txBox="1"/>
              <p:nvPr/>
            </p:nvSpPr>
            <p:spPr>
              <a:xfrm>
                <a:off x="2753796" y="1216529"/>
                <a:ext cx="6078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D282DF-4278-4ECC-9775-8C9BD5501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796" y="1216529"/>
                <a:ext cx="607859" cy="461665"/>
              </a:xfrm>
              <a:prstGeom prst="rect">
                <a:avLst/>
              </a:prstGeom>
              <a:blipFill>
                <a:blip r:embed="rId6"/>
                <a:stretch>
                  <a:fillRect l="-101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FE8186-E19D-411D-B052-E5839E06F7E5}"/>
                  </a:ext>
                </a:extLst>
              </p:cNvPr>
              <p:cNvSpPr txBox="1"/>
              <p:nvPr/>
            </p:nvSpPr>
            <p:spPr>
              <a:xfrm>
                <a:off x="663399" y="3233331"/>
                <a:ext cx="6531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FE8186-E19D-411D-B052-E5839E06F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99" y="3233331"/>
                <a:ext cx="6531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A3A0599-FAE8-42BE-ACA0-1705A04A8194}"/>
              </a:ext>
            </a:extLst>
          </p:cNvPr>
          <p:cNvSpPr txBox="1"/>
          <p:nvPr/>
        </p:nvSpPr>
        <p:spPr>
          <a:xfrm>
            <a:off x="7135487" y="570198"/>
            <a:ext cx="2008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All variables are magnitudes.</a:t>
            </a: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3EEFCA8B-B7B9-485C-A1FC-9330697F22F0}"/>
              </a:ext>
            </a:extLst>
          </p:cNvPr>
          <p:cNvSpPr/>
          <p:nvPr/>
        </p:nvSpPr>
        <p:spPr>
          <a:xfrm>
            <a:off x="4154481" y="1899108"/>
            <a:ext cx="2546798" cy="1310017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7D72DA-0CF9-4D9E-897F-C504961CCAAE}"/>
                  </a:ext>
                </a:extLst>
              </p:cNvPr>
              <p:cNvSpPr txBox="1"/>
              <p:nvPr/>
            </p:nvSpPr>
            <p:spPr>
              <a:xfrm>
                <a:off x="4705769" y="2142560"/>
                <a:ext cx="6755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7D72DA-0CF9-4D9E-897F-C504961CC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769" y="2142560"/>
                <a:ext cx="675570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23243B-0802-4B3A-B9AF-8824E728D40E}"/>
              </a:ext>
            </a:extLst>
          </p:cNvPr>
          <p:cNvCxnSpPr/>
          <p:nvPr/>
        </p:nvCxnSpPr>
        <p:spPr>
          <a:xfrm flipV="1">
            <a:off x="3442127" y="2243295"/>
            <a:ext cx="1247873" cy="2308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F649D7F-A066-493B-9827-C84D253318F1}"/>
              </a:ext>
            </a:extLst>
          </p:cNvPr>
          <p:cNvSpPr txBox="1"/>
          <p:nvPr/>
        </p:nvSpPr>
        <p:spPr>
          <a:xfrm>
            <a:off x="1112016" y="3684229"/>
            <a:ext cx="62549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Choose the energy balance for the </a:t>
            </a:r>
            <a:r>
              <a:rPr lang="en-US" sz="2200" dirty="0">
                <a:solidFill>
                  <a:schemeClr val="accent1"/>
                </a:solidFill>
              </a:rPr>
              <a:t>c</a:t>
            </a:r>
            <a:r>
              <a:rPr lang="en-US" sz="2200" dirty="0">
                <a:solidFill>
                  <a:srgbClr val="F89646"/>
                </a:solidFill>
              </a:rPr>
              <a:t>o</a:t>
            </a:r>
            <a:r>
              <a:rPr lang="en-US" sz="2200" dirty="0">
                <a:solidFill>
                  <a:schemeClr val="accent1"/>
                </a:solidFill>
              </a:rPr>
              <a:t>m</a:t>
            </a:r>
            <a:r>
              <a:rPr lang="en-US" sz="2200" dirty="0">
                <a:solidFill>
                  <a:srgbClr val="F89646"/>
                </a:solidFill>
              </a:rPr>
              <a:t>b</a:t>
            </a:r>
            <a:r>
              <a:rPr lang="en-US" sz="2200" dirty="0">
                <a:solidFill>
                  <a:schemeClr val="accent1"/>
                </a:solidFill>
              </a:rPr>
              <a:t>i</a:t>
            </a:r>
            <a:r>
              <a:rPr lang="en-US" sz="2200" dirty="0">
                <a:solidFill>
                  <a:srgbClr val="F89646"/>
                </a:solidFill>
              </a:rPr>
              <a:t>n</a:t>
            </a:r>
            <a:r>
              <a:rPr lang="en-US" sz="2200" dirty="0">
                <a:solidFill>
                  <a:schemeClr val="accent1"/>
                </a:solidFill>
              </a:rPr>
              <a:t>e</a:t>
            </a:r>
            <a:r>
              <a:rPr lang="en-US" sz="2200" dirty="0">
                <a:solidFill>
                  <a:srgbClr val="F89646"/>
                </a:solidFill>
              </a:rPr>
              <a:t>d</a:t>
            </a:r>
            <a:r>
              <a:rPr lang="en-US" sz="2200" dirty="0"/>
              <a:t> system.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FFDE3C-C902-4A89-8344-9979A067B5BF}"/>
              </a:ext>
            </a:extLst>
          </p:cNvPr>
          <p:cNvCxnSpPr/>
          <p:nvPr/>
        </p:nvCxnSpPr>
        <p:spPr>
          <a:xfrm>
            <a:off x="6538202" y="2762128"/>
            <a:ext cx="597286" cy="139477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7560EB-79EA-474E-B00E-346B70FD888E}"/>
                  </a:ext>
                </a:extLst>
              </p:cNvPr>
              <p:cNvSpPr txBox="1"/>
              <p:nvPr/>
            </p:nvSpPr>
            <p:spPr>
              <a:xfrm>
                <a:off x="7041208" y="2681012"/>
                <a:ext cx="6788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7560EB-79EA-474E-B00E-346B70FD8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208" y="2681012"/>
                <a:ext cx="678840" cy="461665"/>
              </a:xfrm>
              <a:prstGeom prst="rect">
                <a:avLst/>
              </a:prstGeom>
              <a:blipFill>
                <a:blip r:embed="rId9"/>
                <a:stretch>
                  <a:fillRect l="-901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5826F1-A9BE-46B3-A8F3-C09ED8E8EBB2}"/>
              </a:ext>
            </a:extLst>
          </p:cNvPr>
          <p:cNvCxnSpPr/>
          <p:nvPr/>
        </p:nvCxnSpPr>
        <p:spPr>
          <a:xfrm flipH="1">
            <a:off x="6436536" y="2053825"/>
            <a:ext cx="698952" cy="21886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319EDD-21A1-4261-8ED9-3AF19570B044}"/>
                  </a:ext>
                </a:extLst>
              </p:cNvPr>
              <p:cNvSpPr txBox="1"/>
              <p:nvPr/>
            </p:nvSpPr>
            <p:spPr>
              <a:xfrm>
                <a:off x="7128232" y="1773930"/>
                <a:ext cx="6728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319EDD-21A1-4261-8ED9-3AF19570B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232" y="1773930"/>
                <a:ext cx="672877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FE5FAE7-73D2-4D8D-A203-2CBD47317D23}"/>
              </a:ext>
            </a:extLst>
          </p:cNvPr>
          <p:cNvSpPr txBox="1"/>
          <p:nvPr/>
        </p:nvSpPr>
        <p:spPr>
          <a:xfrm>
            <a:off x="7276516" y="1247743"/>
            <a:ext cx="168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Neglect </a:t>
            </a:r>
            <a:r>
              <a:rPr lang="en-US" dirty="0"/>
              <a:t>KE &amp; PE</a:t>
            </a:r>
          </a:p>
        </p:txBody>
      </p:sp>
    </p:spTree>
    <p:extLst>
      <p:ext uri="{BB962C8B-B14F-4D97-AF65-F5344CB8AC3E}">
        <p14:creationId xmlns:p14="http://schemas.microsoft.com/office/powerpoint/2010/main" val="4121935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Example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81CA6E-DCA0-42BD-A118-13B702A7219D}"/>
              </a:ext>
            </a:extLst>
          </p:cNvPr>
          <p:cNvSpPr txBox="1"/>
          <p:nvPr/>
        </p:nvSpPr>
        <p:spPr>
          <a:xfrm>
            <a:off x="86446" y="669597"/>
            <a:ext cx="89711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gas is contained in a vertical piston-cylinder assembly by a piston with a face area of 0.02 m</a:t>
            </a:r>
            <a:r>
              <a:rPr lang="en-US" sz="2400" baseline="30000" dirty="0"/>
              <a:t>2</a:t>
            </a:r>
            <a:r>
              <a:rPr lang="en-US" sz="2400" dirty="0"/>
              <a:t> and a mass of 40 kg. The atmosphere exerts a pressure of 1 bar on top of the piston. A paddle wheel does 3 kJ of work on the gas during a process in which the elevation of the piston increases by 0.1 m. </a:t>
            </a:r>
          </a:p>
          <a:p>
            <a:endParaRPr lang="en-US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8967FA0-37CD-4BF1-B707-020B0D698FA4}"/>
              </a:ext>
            </a:extLst>
          </p:cNvPr>
          <p:cNvSpPr txBox="1">
            <a:spLocks/>
          </p:cNvSpPr>
          <p:nvPr/>
        </p:nvSpPr>
        <p:spPr>
          <a:xfrm>
            <a:off x="1831084" y="2596878"/>
            <a:ext cx="5481829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Which is more?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22588-8065-4D92-9FD5-17A682305B8E}"/>
              </a:ext>
            </a:extLst>
          </p:cNvPr>
          <p:cNvSpPr txBox="1"/>
          <p:nvPr/>
        </p:nvSpPr>
        <p:spPr>
          <a:xfrm>
            <a:off x="386773" y="3934479"/>
            <a:ext cx="83704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sz="2800" dirty="0"/>
              <a:t>The p-V work done ON the surrounding atmosphere.</a:t>
            </a:r>
          </a:p>
          <a:p>
            <a:pPr marL="342900" indent="-342900">
              <a:buAutoNum type="alphaUcPeriod"/>
            </a:pPr>
            <a:endParaRPr lang="en-US" sz="2800" dirty="0"/>
          </a:p>
          <a:p>
            <a:pPr marL="342900" indent="-342900">
              <a:buAutoNum type="alphaUcPeriod"/>
            </a:pPr>
            <a:r>
              <a:rPr lang="en-US" sz="2800" dirty="0"/>
              <a:t>The p-V work done BY the gas.</a:t>
            </a:r>
          </a:p>
          <a:p>
            <a:pPr marL="342900" indent="-342900">
              <a:buAutoNum type="alphaUcPeriod"/>
            </a:pPr>
            <a:endParaRPr lang="en-US" sz="2800" dirty="0"/>
          </a:p>
          <a:p>
            <a:pPr marL="342900" indent="-342900">
              <a:buAutoNum type="alphaUcPeriod"/>
            </a:pPr>
            <a:r>
              <a:rPr lang="en-US" sz="2800" dirty="0"/>
              <a:t>Neither, they are equal.</a:t>
            </a:r>
          </a:p>
          <a:p>
            <a:pPr marL="342900" indent="-342900">
              <a:buAutoNum type="alphaU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5049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Compressibility Factor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1526AC-7739-464F-8030-7EA4F954729F}"/>
              </a:ext>
            </a:extLst>
          </p:cNvPr>
          <p:cNvSpPr/>
          <p:nvPr/>
        </p:nvSpPr>
        <p:spPr>
          <a:xfrm rot="16200000">
            <a:off x="1258076" y="1305153"/>
            <a:ext cx="2597392" cy="2161560"/>
          </a:xfrm>
          <a:prstGeom prst="rect">
            <a:avLst/>
          </a:prstGeom>
          <a:solidFill>
            <a:schemeClr val="tx2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3D2A21-8A77-4C38-BA77-B6F7803872B8}"/>
              </a:ext>
            </a:extLst>
          </p:cNvPr>
          <p:cNvSpPr/>
          <p:nvPr/>
        </p:nvSpPr>
        <p:spPr>
          <a:xfrm rot="16200000">
            <a:off x="1258076" y="1450252"/>
            <a:ext cx="2597392" cy="130761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935FE1-52A8-4A8C-BD39-AD90045491D4}"/>
              </a:ext>
            </a:extLst>
          </p:cNvPr>
          <p:cNvCxnSpPr/>
          <p:nvPr/>
        </p:nvCxnSpPr>
        <p:spPr>
          <a:xfrm flipV="1">
            <a:off x="2596799" y="1363991"/>
            <a:ext cx="0" cy="1233184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00BAF6A-3172-4002-B117-548C904E67E0}"/>
              </a:ext>
            </a:extLst>
          </p:cNvPr>
          <p:cNvSpPr/>
          <p:nvPr/>
        </p:nvSpPr>
        <p:spPr>
          <a:xfrm rot="16200000">
            <a:off x="2389409" y="1776007"/>
            <a:ext cx="334726" cy="1307610"/>
          </a:xfrm>
          <a:prstGeom prst="rect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45EAF-FF63-480A-9E00-1B50E23717CA}"/>
              </a:ext>
            </a:extLst>
          </p:cNvPr>
          <p:cNvSpPr/>
          <p:nvPr/>
        </p:nvSpPr>
        <p:spPr>
          <a:xfrm rot="16200000">
            <a:off x="2284278" y="1851640"/>
            <a:ext cx="638908" cy="227349"/>
          </a:xfrm>
          <a:prstGeom prst="rect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2893C-337E-4281-9793-06A5D62BC314}"/>
              </a:ext>
            </a:extLst>
          </p:cNvPr>
          <p:cNvSpPr txBox="1"/>
          <p:nvPr/>
        </p:nvSpPr>
        <p:spPr>
          <a:xfrm>
            <a:off x="2143609" y="2246649"/>
            <a:ext cx="1147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piston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9DBB7D-00D1-402C-9142-1414A03C30C3}"/>
              </a:ext>
            </a:extLst>
          </p:cNvPr>
          <p:cNvSpPr/>
          <p:nvPr/>
        </p:nvSpPr>
        <p:spPr>
          <a:xfrm rot="16200000">
            <a:off x="6986499" y="4353903"/>
            <a:ext cx="353532" cy="1933447"/>
          </a:xfrm>
          <a:prstGeom prst="rect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AB3864-CCA2-4F2A-9F25-5D37B4B3A080}"/>
              </a:ext>
            </a:extLst>
          </p:cNvPr>
          <p:cNvSpPr txBox="1"/>
          <p:nvPr/>
        </p:nvSpPr>
        <p:spPr>
          <a:xfrm>
            <a:off x="6314565" y="5128061"/>
            <a:ext cx="16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piston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A11BED-CE54-4910-98CC-175054AC7902}"/>
              </a:ext>
            </a:extLst>
          </p:cNvPr>
          <p:cNvSpPr/>
          <p:nvPr/>
        </p:nvSpPr>
        <p:spPr>
          <a:xfrm rot="16200000">
            <a:off x="5210764" y="1305153"/>
            <a:ext cx="2597392" cy="2161560"/>
          </a:xfrm>
          <a:prstGeom prst="rect">
            <a:avLst/>
          </a:prstGeom>
          <a:solidFill>
            <a:schemeClr val="tx2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0425A2-0A5F-4FC4-916E-DA6C6D86E9DA}"/>
              </a:ext>
            </a:extLst>
          </p:cNvPr>
          <p:cNvSpPr/>
          <p:nvPr/>
        </p:nvSpPr>
        <p:spPr>
          <a:xfrm rot="16200000">
            <a:off x="5210764" y="1450252"/>
            <a:ext cx="2597392" cy="130761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36BE01-B0F3-48AC-9A71-224DCDA803BE}"/>
              </a:ext>
            </a:extLst>
          </p:cNvPr>
          <p:cNvCxnSpPr/>
          <p:nvPr/>
        </p:nvCxnSpPr>
        <p:spPr>
          <a:xfrm flipV="1">
            <a:off x="6549487" y="646815"/>
            <a:ext cx="0" cy="1233184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5EC4F7B-5A05-47AD-839C-290CCB5ADFC1}"/>
              </a:ext>
            </a:extLst>
          </p:cNvPr>
          <p:cNvSpPr/>
          <p:nvPr/>
        </p:nvSpPr>
        <p:spPr>
          <a:xfrm rot="16200000">
            <a:off x="6342097" y="1058831"/>
            <a:ext cx="334726" cy="1307610"/>
          </a:xfrm>
          <a:prstGeom prst="rect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24F870-1CF5-468B-A4A4-667C2F9C2D38}"/>
              </a:ext>
            </a:extLst>
          </p:cNvPr>
          <p:cNvSpPr/>
          <p:nvPr/>
        </p:nvSpPr>
        <p:spPr>
          <a:xfrm rot="16200000">
            <a:off x="6236966" y="1134464"/>
            <a:ext cx="638908" cy="227349"/>
          </a:xfrm>
          <a:prstGeom prst="rect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36D64F-818E-4E28-A574-189D8537542F}"/>
              </a:ext>
            </a:extLst>
          </p:cNvPr>
          <p:cNvSpPr txBox="1"/>
          <p:nvPr/>
        </p:nvSpPr>
        <p:spPr>
          <a:xfrm>
            <a:off x="6096296" y="1529473"/>
            <a:ext cx="1147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piston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581EE745-A88E-4109-93B4-16783535F9FE}"/>
              </a:ext>
            </a:extLst>
          </p:cNvPr>
          <p:cNvSpPr/>
          <p:nvPr/>
        </p:nvSpPr>
        <p:spPr>
          <a:xfrm>
            <a:off x="5156798" y="1879999"/>
            <a:ext cx="205686" cy="69695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826AD8-03E1-448A-BC9D-481D1C21C3FF}"/>
              </a:ext>
            </a:extLst>
          </p:cNvPr>
          <p:cNvCxnSpPr/>
          <p:nvPr/>
        </p:nvCxnSpPr>
        <p:spPr>
          <a:xfrm>
            <a:off x="3227540" y="2597175"/>
            <a:ext cx="2124235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87109C4-D716-4E89-AE54-612874C17001}"/>
              </a:ext>
            </a:extLst>
          </p:cNvPr>
          <p:cNvSpPr txBox="1"/>
          <p:nvPr/>
        </p:nvSpPr>
        <p:spPr>
          <a:xfrm>
            <a:off x="4374301" y="204381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0.1 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77BCFD-9103-4C3B-A769-46BE777ED9F2}"/>
              </a:ext>
            </a:extLst>
          </p:cNvPr>
          <p:cNvCxnSpPr/>
          <p:nvPr/>
        </p:nvCxnSpPr>
        <p:spPr>
          <a:xfrm flipH="1" flipV="1">
            <a:off x="2874533" y="3124477"/>
            <a:ext cx="984203" cy="62880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77778DD-BA38-4070-92A0-86907E4FEFB4}"/>
              </a:ext>
            </a:extLst>
          </p:cNvPr>
          <p:cNvSpPr txBox="1"/>
          <p:nvPr/>
        </p:nvSpPr>
        <p:spPr>
          <a:xfrm>
            <a:off x="3858736" y="3738415"/>
            <a:ext cx="80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</a:t>
            </a:r>
            <a:r>
              <a:rPr lang="en-US" baseline="-25000" dirty="0" err="1"/>
              <a:t>paddle</a:t>
            </a:r>
            <a:endParaRPr lang="en-US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D1E5CA99-1E75-4413-9BA9-F8CDD76599B0}"/>
              </a:ext>
            </a:extLst>
          </p:cNvPr>
          <p:cNvSpPr/>
          <p:nvPr/>
        </p:nvSpPr>
        <p:spPr>
          <a:xfrm>
            <a:off x="6456158" y="4237411"/>
            <a:ext cx="186655" cy="781812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BF0827-900F-411D-9E7A-D1B2162B4C96}"/>
                  </a:ext>
                </a:extLst>
              </p:cNvPr>
              <p:cNvSpPr txBox="1"/>
              <p:nvPr/>
            </p:nvSpPr>
            <p:spPr>
              <a:xfrm>
                <a:off x="1925299" y="5160012"/>
                <a:ext cx="2462725" cy="7351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𝑚𝑔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BF0827-900F-411D-9E7A-D1B2162B4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299" y="5160012"/>
                <a:ext cx="2462725" cy="7351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87806F-F11D-4B23-928C-6027653E9573}"/>
                  </a:ext>
                </a:extLst>
              </p:cNvPr>
              <p:cNvSpPr txBox="1"/>
              <p:nvPr/>
            </p:nvSpPr>
            <p:spPr>
              <a:xfrm>
                <a:off x="6113506" y="3759241"/>
                <a:ext cx="8858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87806F-F11D-4B23-928C-6027653E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506" y="3759241"/>
                <a:ext cx="88582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79D388E-790D-49E7-AF8D-165243D8FA28}"/>
                  </a:ext>
                </a:extLst>
              </p:cNvPr>
              <p:cNvSpPr txBox="1"/>
              <p:nvPr/>
            </p:nvSpPr>
            <p:spPr>
              <a:xfrm>
                <a:off x="6223876" y="5911416"/>
                <a:ext cx="3662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79D388E-790D-49E7-AF8D-165243D8F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876" y="5911416"/>
                <a:ext cx="3662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D88DB8-F0F4-431C-9CBC-CC48D42FCCB1}"/>
                  </a:ext>
                </a:extLst>
              </p:cNvPr>
              <p:cNvSpPr txBox="1"/>
              <p:nvPr/>
            </p:nvSpPr>
            <p:spPr>
              <a:xfrm>
                <a:off x="7083170" y="5738410"/>
                <a:ext cx="776097" cy="564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𝑚𝑔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D88DB8-F0F4-431C-9CBC-CC48D42FC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170" y="5738410"/>
                <a:ext cx="776097" cy="5648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Down 33">
            <a:extLst>
              <a:ext uri="{FF2B5EF4-FFF2-40B4-BE49-F238E27FC236}">
                <a16:creationId xmlns:a16="http://schemas.microsoft.com/office/drawing/2014/main" id="{58C60A25-201D-439A-8B73-D7B94EEEA693}"/>
              </a:ext>
            </a:extLst>
          </p:cNvPr>
          <p:cNvSpPr/>
          <p:nvPr/>
        </p:nvSpPr>
        <p:spPr>
          <a:xfrm>
            <a:off x="7109459" y="5421956"/>
            <a:ext cx="134806" cy="480793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7C85F640-D24D-4FED-A901-2DFAC64393A7}"/>
              </a:ext>
            </a:extLst>
          </p:cNvPr>
          <p:cNvSpPr/>
          <p:nvPr/>
        </p:nvSpPr>
        <p:spPr>
          <a:xfrm flipV="1">
            <a:off x="6590083" y="5492373"/>
            <a:ext cx="186655" cy="781812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33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Compressibility Factor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9EAF665-8992-4ABF-9E19-A49113A07BA6}"/>
              </a:ext>
            </a:extLst>
          </p:cNvPr>
          <p:cNvGrpSpPr/>
          <p:nvPr/>
        </p:nvGrpSpPr>
        <p:grpSpPr>
          <a:xfrm>
            <a:off x="1156712" y="783455"/>
            <a:ext cx="2466789" cy="2879268"/>
            <a:chOff x="1709270" y="442014"/>
            <a:chExt cx="2466789" cy="28792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B0AB02-3A73-4D6B-9941-63ADE7ADC4D9}"/>
                </a:ext>
              </a:extLst>
            </p:cNvPr>
            <p:cNvSpPr/>
            <p:nvPr/>
          </p:nvSpPr>
          <p:spPr>
            <a:xfrm rot="16200000">
              <a:off x="1646696" y="941806"/>
              <a:ext cx="2597392" cy="2161560"/>
            </a:xfrm>
            <a:prstGeom prst="rect">
              <a:avLst/>
            </a:prstGeom>
            <a:solidFill>
              <a:schemeClr val="tx2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C3E0B3-B026-41D9-BDD5-75EA71F9D952}"/>
                </a:ext>
              </a:extLst>
            </p:cNvPr>
            <p:cNvSpPr/>
            <p:nvPr/>
          </p:nvSpPr>
          <p:spPr>
            <a:xfrm rot="16200000">
              <a:off x="1646696" y="1086905"/>
              <a:ext cx="2597392" cy="130761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78D515A-6D3C-4663-9579-0B2742C3333D}"/>
                </a:ext>
              </a:extLst>
            </p:cNvPr>
            <p:cNvCxnSpPr/>
            <p:nvPr/>
          </p:nvCxnSpPr>
          <p:spPr>
            <a:xfrm flipV="1">
              <a:off x="2985419" y="1000644"/>
              <a:ext cx="0" cy="1233184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9968E4-3C9F-4582-A0CC-E35F6AC28351}"/>
                </a:ext>
              </a:extLst>
            </p:cNvPr>
            <p:cNvSpPr/>
            <p:nvPr/>
          </p:nvSpPr>
          <p:spPr>
            <a:xfrm rot="16200000">
              <a:off x="2778029" y="1412660"/>
              <a:ext cx="334726" cy="1307610"/>
            </a:xfrm>
            <a:prstGeom prst="rect">
              <a:avLst/>
            </a:prstGeom>
            <a:solidFill>
              <a:schemeClr val="accent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EF8E01-6F64-456C-9A9B-820DB55E8092}"/>
                </a:ext>
              </a:extLst>
            </p:cNvPr>
            <p:cNvSpPr/>
            <p:nvPr/>
          </p:nvSpPr>
          <p:spPr>
            <a:xfrm rot="16200000">
              <a:off x="2672898" y="1488293"/>
              <a:ext cx="638908" cy="227349"/>
            </a:xfrm>
            <a:prstGeom prst="rect">
              <a:avLst/>
            </a:prstGeom>
            <a:solidFill>
              <a:schemeClr val="accent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597D1D-F969-4CD9-991D-1B45731FCD1F}"/>
                </a:ext>
              </a:extLst>
            </p:cNvPr>
            <p:cNvSpPr txBox="1"/>
            <p:nvPr/>
          </p:nvSpPr>
          <p:spPr>
            <a:xfrm>
              <a:off x="2532229" y="1883302"/>
              <a:ext cx="11479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piston</a:t>
              </a:r>
            </a:p>
          </p:txBody>
        </p:sp>
        <p:sp>
          <p:nvSpPr>
            <p:cNvPr id="13" name="Freeform 1">
              <a:extLst>
                <a:ext uri="{FF2B5EF4-FFF2-40B4-BE49-F238E27FC236}">
                  <a16:creationId xmlns:a16="http://schemas.microsoft.com/office/drawing/2014/main" id="{0FDBB136-B57A-48CA-95F7-C5F45DD5679A}"/>
                </a:ext>
              </a:extLst>
            </p:cNvPr>
            <p:cNvSpPr/>
            <p:nvPr/>
          </p:nvSpPr>
          <p:spPr>
            <a:xfrm>
              <a:off x="1709270" y="708212"/>
              <a:ext cx="2466789" cy="1165412"/>
            </a:xfrm>
            <a:custGeom>
              <a:avLst/>
              <a:gdLst>
                <a:gd name="connsiteX0" fmla="*/ 0 w 2277036"/>
                <a:gd name="connsiteY0" fmla="*/ 0 h 1165412"/>
                <a:gd name="connsiteX1" fmla="*/ 582706 w 2277036"/>
                <a:gd name="connsiteY1" fmla="*/ 0 h 1165412"/>
                <a:gd name="connsiteX2" fmla="*/ 582706 w 2277036"/>
                <a:gd name="connsiteY2" fmla="*/ 1165412 h 1165412"/>
                <a:gd name="connsiteX3" fmla="*/ 1039906 w 2277036"/>
                <a:gd name="connsiteY3" fmla="*/ 1165412 h 1165412"/>
                <a:gd name="connsiteX4" fmla="*/ 1039906 w 2277036"/>
                <a:gd name="connsiteY4" fmla="*/ 555812 h 1165412"/>
                <a:gd name="connsiteX5" fmla="*/ 1326777 w 2277036"/>
                <a:gd name="connsiteY5" fmla="*/ 555812 h 1165412"/>
                <a:gd name="connsiteX6" fmla="*/ 1326777 w 2277036"/>
                <a:gd name="connsiteY6" fmla="*/ 1165412 h 1165412"/>
                <a:gd name="connsiteX7" fmla="*/ 1721224 w 2277036"/>
                <a:gd name="connsiteY7" fmla="*/ 1165412 h 1165412"/>
                <a:gd name="connsiteX8" fmla="*/ 1721224 w 2277036"/>
                <a:gd name="connsiteY8" fmla="*/ 0 h 1165412"/>
                <a:gd name="connsiteX9" fmla="*/ 2277036 w 2277036"/>
                <a:gd name="connsiteY9" fmla="*/ 0 h 1165412"/>
                <a:gd name="connsiteX10" fmla="*/ 2277036 w 2277036"/>
                <a:gd name="connsiteY10" fmla="*/ 0 h 116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77036" h="1165412">
                  <a:moveTo>
                    <a:pt x="0" y="0"/>
                  </a:moveTo>
                  <a:lnTo>
                    <a:pt x="582706" y="0"/>
                  </a:lnTo>
                  <a:lnTo>
                    <a:pt x="582706" y="1165412"/>
                  </a:lnTo>
                  <a:lnTo>
                    <a:pt x="1039906" y="1165412"/>
                  </a:lnTo>
                  <a:lnTo>
                    <a:pt x="1039906" y="555812"/>
                  </a:lnTo>
                  <a:lnTo>
                    <a:pt x="1326777" y="555812"/>
                  </a:lnTo>
                  <a:lnTo>
                    <a:pt x="1326777" y="1165412"/>
                  </a:lnTo>
                  <a:lnTo>
                    <a:pt x="1721224" y="1165412"/>
                  </a:lnTo>
                  <a:lnTo>
                    <a:pt x="1721224" y="0"/>
                  </a:lnTo>
                  <a:lnTo>
                    <a:pt x="2277036" y="0"/>
                  </a:lnTo>
                  <a:lnTo>
                    <a:pt x="2277036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85397D-404E-4A5F-B65F-71DF6131CA0F}"/>
              </a:ext>
            </a:extLst>
          </p:cNvPr>
          <p:cNvGrpSpPr/>
          <p:nvPr/>
        </p:nvGrpSpPr>
        <p:grpSpPr>
          <a:xfrm>
            <a:off x="5874656" y="783456"/>
            <a:ext cx="2161560" cy="2879268"/>
            <a:chOff x="1864612" y="442014"/>
            <a:chExt cx="2161560" cy="287926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4531E21-3DB3-4A36-8253-3C1154319820}"/>
                </a:ext>
              </a:extLst>
            </p:cNvPr>
            <p:cNvSpPr/>
            <p:nvPr/>
          </p:nvSpPr>
          <p:spPr>
            <a:xfrm rot="16200000">
              <a:off x="1646696" y="941806"/>
              <a:ext cx="2597392" cy="2161560"/>
            </a:xfrm>
            <a:prstGeom prst="rect">
              <a:avLst/>
            </a:prstGeom>
            <a:solidFill>
              <a:schemeClr val="tx2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14CE188-D97A-4640-9647-DFB85D4093D6}"/>
                </a:ext>
              </a:extLst>
            </p:cNvPr>
            <p:cNvSpPr/>
            <p:nvPr/>
          </p:nvSpPr>
          <p:spPr>
            <a:xfrm rot="16200000">
              <a:off x="1646696" y="1086905"/>
              <a:ext cx="2597392" cy="1307610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15DF2AC-4CD7-42CA-9558-9C06340F55D3}"/>
                </a:ext>
              </a:extLst>
            </p:cNvPr>
            <p:cNvCxnSpPr/>
            <p:nvPr/>
          </p:nvCxnSpPr>
          <p:spPr>
            <a:xfrm flipV="1">
              <a:off x="2985419" y="1000644"/>
              <a:ext cx="0" cy="1233184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arrow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50D9D8-1809-4E06-94DA-A34F1F4B1EA6}"/>
                </a:ext>
              </a:extLst>
            </p:cNvPr>
            <p:cNvSpPr/>
            <p:nvPr/>
          </p:nvSpPr>
          <p:spPr>
            <a:xfrm rot="16200000">
              <a:off x="2778029" y="1412660"/>
              <a:ext cx="334726" cy="1307610"/>
            </a:xfrm>
            <a:prstGeom prst="rect">
              <a:avLst/>
            </a:prstGeom>
            <a:solidFill>
              <a:schemeClr val="accent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A502595-34E3-47A2-ADFD-7EBDD78A174E}"/>
                </a:ext>
              </a:extLst>
            </p:cNvPr>
            <p:cNvSpPr/>
            <p:nvPr/>
          </p:nvSpPr>
          <p:spPr>
            <a:xfrm rot="16200000">
              <a:off x="2672898" y="1488293"/>
              <a:ext cx="638908" cy="227349"/>
            </a:xfrm>
            <a:prstGeom prst="rect">
              <a:avLst/>
            </a:prstGeom>
            <a:solidFill>
              <a:schemeClr val="accent5"/>
            </a:solid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444B73F-BC0C-4383-A09D-D37FA871370B}"/>
                </a:ext>
              </a:extLst>
            </p:cNvPr>
            <p:cNvSpPr txBox="1"/>
            <p:nvPr/>
          </p:nvSpPr>
          <p:spPr>
            <a:xfrm>
              <a:off x="2532229" y="1883302"/>
              <a:ext cx="11479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piston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8B63921-7F93-421F-B47C-F7D853DA89D8}"/>
                </a:ext>
              </a:extLst>
            </p:cNvPr>
            <p:cNvSpPr/>
            <p:nvPr/>
          </p:nvSpPr>
          <p:spPr>
            <a:xfrm>
              <a:off x="2330434" y="2279529"/>
              <a:ext cx="1224074" cy="7146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CE1482-2F9D-430C-AD95-BA9716FD5FAB}"/>
                  </a:ext>
                </a:extLst>
              </p:cNvPr>
              <p:cNvSpPr txBox="1"/>
              <p:nvPr/>
            </p:nvSpPr>
            <p:spPr>
              <a:xfrm>
                <a:off x="1209294" y="4331776"/>
                <a:ext cx="1390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CE1482-2F9D-430C-AD95-BA9716FD5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294" y="4331776"/>
                <a:ext cx="1390573" cy="276999"/>
              </a:xfrm>
              <a:prstGeom prst="rect">
                <a:avLst/>
              </a:prstGeom>
              <a:blipFill>
                <a:blip r:embed="rId4"/>
                <a:stretch>
                  <a:fillRect l="-3509" r="-3509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DF621B-4BFE-45A0-99ED-6D24F08897BC}"/>
                  </a:ext>
                </a:extLst>
              </p:cNvPr>
              <p:cNvSpPr txBox="1"/>
              <p:nvPr/>
            </p:nvSpPr>
            <p:spPr>
              <a:xfrm>
                <a:off x="1319102" y="4790679"/>
                <a:ext cx="14710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=(100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kPa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DF621B-4BFE-45A0-99ED-6D24F0889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102" y="4790679"/>
                <a:ext cx="1471041" cy="369332"/>
              </a:xfrm>
              <a:prstGeom prst="rect">
                <a:avLst/>
              </a:prstGeom>
              <a:blipFill>
                <a:blip r:embed="rId5"/>
                <a:stretch>
                  <a:fillRect r="-3099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1AC8D8F-8748-4538-BAE9-E24AD0985A70}"/>
                  </a:ext>
                </a:extLst>
              </p:cNvPr>
              <p:cNvSpPr txBox="1"/>
              <p:nvPr/>
            </p:nvSpPr>
            <p:spPr>
              <a:xfrm>
                <a:off x="5919978" y="4263513"/>
                <a:ext cx="1071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1AC8D8F-8748-4538-BAE9-E24AD0985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978" y="4263513"/>
                <a:ext cx="1071960" cy="276999"/>
              </a:xfrm>
              <a:prstGeom prst="rect">
                <a:avLst/>
              </a:prstGeom>
              <a:blipFill>
                <a:blip r:embed="rId6"/>
                <a:stretch>
                  <a:fillRect l="-4545" r="-454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D7F4E58-E405-4009-8A12-7615B791B6C8}"/>
                  </a:ext>
                </a:extLst>
              </p:cNvPr>
              <p:cNvSpPr txBox="1"/>
              <p:nvPr/>
            </p:nvSpPr>
            <p:spPr>
              <a:xfrm>
                <a:off x="1383030" y="5640934"/>
                <a:ext cx="10256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 [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D7F4E58-E405-4009-8A12-7615B791B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030" y="5640934"/>
                <a:ext cx="1025602" cy="276999"/>
              </a:xfrm>
              <a:prstGeom prst="rect">
                <a:avLst/>
              </a:prstGeom>
              <a:blipFill>
                <a:blip r:embed="rId7"/>
                <a:stretch>
                  <a:fillRect l="-1190" t="-2174" r="-7143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2B8787-F9D7-4741-BC1B-69F0EF372C6E}"/>
                  </a:ext>
                </a:extLst>
              </p:cNvPr>
              <p:cNvSpPr txBox="1"/>
              <p:nvPr/>
            </p:nvSpPr>
            <p:spPr>
              <a:xfrm>
                <a:off x="1377305" y="5261973"/>
                <a:ext cx="30969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=(100 [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kPa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])(0.02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∙0.1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2B8787-F9D7-4741-BC1B-69F0EF372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305" y="5261973"/>
                <a:ext cx="3096937" cy="276999"/>
              </a:xfrm>
              <a:prstGeom prst="rect">
                <a:avLst/>
              </a:prstGeom>
              <a:blipFill>
                <a:blip r:embed="rId8"/>
                <a:stretch>
                  <a:fillRect t="-4348" r="-1772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F28799E-AB64-49A5-BEB4-F82CE2A9F4E5}"/>
                  </a:ext>
                </a:extLst>
              </p:cNvPr>
              <p:cNvSpPr txBox="1"/>
              <p:nvPr/>
            </p:nvSpPr>
            <p:spPr>
              <a:xfrm>
                <a:off x="6220206" y="4640539"/>
                <a:ext cx="1895006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𝑎𝑡𝑚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mg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F28799E-AB64-49A5-BEB4-F82CE2A9F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206" y="4640539"/>
                <a:ext cx="1895006" cy="4898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4DF9775-7EBC-46B9-9291-976F29E04E28}"/>
                  </a:ext>
                </a:extLst>
              </p:cNvPr>
              <p:cNvSpPr txBox="1"/>
              <p:nvPr/>
            </p:nvSpPr>
            <p:spPr>
              <a:xfrm>
                <a:off x="6220206" y="5293291"/>
                <a:ext cx="11538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=0.24 [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4DF9775-7EBC-46B9-9291-976F29E04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206" y="5293291"/>
                <a:ext cx="1153842" cy="276999"/>
              </a:xfrm>
              <a:prstGeom prst="rect">
                <a:avLst/>
              </a:prstGeom>
              <a:blipFill>
                <a:blip r:embed="rId10"/>
                <a:stretch>
                  <a:fillRect l="-526" t="-2174" r="-6316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D3BC26A-BDE2-4926-BCC5-250A72BAB3C7}"/>
                  </a:ext>
                </a:extLst>
              </p:cNvPr>
              <p:cNvSpPr txBox="1"/>
              <p:nvPr/>
            </p:nvSpPr>
            <p:spPr>
              <a:xfrm>
                <a:off x="5246625" y="5838262"/>
                <a:ext cx="3583352" cy="472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𝑚𝑔h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=0.04 [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kJ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D3BC26A-BDE2-4926-BCC5-250A72BAB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625" y="5838262"/>
                <a:ext cx="3583352" cy="4725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724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8839</TotalTime>
  <Words>1316</Words>
  <Application>Microsoft Office PowerPoint</Application>
  <PresentationFormat>全屏显示(4:3)</PresentationFormat>
  <Paragraphs>207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Office Theme</vt:lpstr>
      <vt:lpstr>ME 200 Thermodynamics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400 Energy Conversion Systems</dc:title>
  <dc:creator>tim</dc:creator>
  <cp:lastModifiedBy>Liu, Yang</cp:lastModifiedBy>
  <cp:revision>868</cp:revision>
  <cp:lastPrinted>2020-12-05T11:29:22Z</cp:lastPrinted>
  <dcterms:created xsi:type="dcterms:W3CDTF">2020-09-13T00:30:36Z</dcterms:created>
  <dcterms:modified xsi:type="dcterms:W3CDTF">2026-03-12T10:26:18Z</dcterms:modified>
</cp:coreProperties>
</file>