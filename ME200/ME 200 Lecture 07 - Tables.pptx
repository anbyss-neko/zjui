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6"/>
  </p:notesMasterIdLst>
  <p:handoutMasterIdLst>
    <p:handoutMasterId r:id="rId17"/>
  </p:handoutMasterIdLst>
  <p:sldIdLst>
    <p:sldId id="256" r:id="rId2"/>
    <p:sldId id="478" r:id="rId3"/>
    <p:sldId id="479" r:id="rId4"/>
    <p:sldId id="483" r:id="rId5"/>
    <p:sldId id="489" r:id="rId6"/>
    <p:sldId id="492" r:id="rId7"/>
    <p:sldId id="495" r:id="rId8"/>
    <p:sldId id="499" r:id="rId9"/>
    <p:sldId id="500" r:id="rId10"/>
    <p:sldId id="501" r:id="rId11"/>
    <p:sldId id="502" r:id="rId12"/>
    <p:sldId id="504" r:id="rId13"/>
    <p:sldId id="503" r:id="rId14"/>
    <p:sldId id="50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E7BB73-C0E1-A24E-8CD8-5E152EB88129}" v="1" dt="2025-03-02T15:33:20.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87" autoAdjust="0"/>
    <p:restoredTop sz="92449" autoAdjust="0"/>
  </p:normalViewPr>
  <p:slideViewPr>
    <p:cSldViewPr snapToGrid="0">
      <p:cViewPr varScale="1">
        <p:scale>
          <a:sx n="113" d="100"/>
          <a:sy n="113" d="100"/>
        </p:scale>
        <p:origin x="1440" y="19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ui, Jiahuan" userId="74189dc3-7c4e-4658-a955-b1919aec75a3" providerId="ADAL" clId="{CAE7BB73-C0E1-A24E-8CD8-5E152EB88129}"/>
    <pc:docChg chg="undo custSel addSld delSld modSld">
      <pc:chgData name="Cui, Jiahuan" userId="74189dc3-7c4e-4658-a955-b1919aec75a3" providerId="ADAL" clId="{CAE7BB73-C0E1-A24E-8CD8-5E152EB88129}" dt="2025-03-02T15:48:36.665" v="37" actId="2696"/>
      <pc:docMkLst>
        <pc:docMk/>
      </pc:docMkLst>
      <pc:sldChg chg="modSp mod">
        <pc:chgData name="Cui, Jiahuan" userId="74189dc3-7c4e-4658-a955-b1919aec75a3" providerId="ADAL" clId="{CAE7BB73-C0E1-A24E-8CD8-5E152EB88129}" dt="2025-03-02T15:25:23.834" v="1" actId="27636"/>
        <pc:sldMkLst>
          <pc:docMk/>
          <pc:sldMk cId="2943049344" sldId="256"/>
        </pc:sldMkLst>
        <pc:spChg chg="mod">
          <ac:chgData name="Cui, Jiahuan" userId="74189dc3-7c4e-4658-a955-b1919aec75a3" providerId="ADAL" clId="{CAE7BB73-C0E1-A24E-8CD8-5E152EB88129}" dt="2025-03-02T15:25:23.834" v="1" actId="27636"/>
          <ac:spMkLst>
            <pc:docMk/>
            <pc:sldMk cId="2943049344" sldId="256"/>
            <ac:spMk id="3" creationId="{00000000-0000-0000-0000-000000000000}"/>
          </ac:spMkLst>
        </pc:spChg>
      </pc:sldChg>
      <pc:sldChg chg="del">
        <pc:chgData name="Cui, Jiahuan" userId="74189dc3-7c4e-4658-a955-b1919aec75a3" providerId="ADAL" clId="{CAE7BB73-C0E1-A24E-8CD8-5E152EB88129}" dt="2025-03-02T15:25:37.850" v="2" actId="2696"/>
        <pc:sldMkLst>
          <pc:docMk/>
          <pc:sldMk cId="2566521072" sldId="346"/>
        </pc:sldMkLst>
      </pc:sldChg>
      <pc:sldChg chg="del">
        <pc:chgData name="Cui, Jiahuan" userId="74189dc3-7c4e-4658-a955-b1919aec75a3" providerId="ADAL" clId="{CAE7BB73-C0E1-A24E-8CD8-5E152EB88129}" dt="2025-03-02T15:25:40.613" v="3" actId="2696"/>
        <pc:sldMkLst>
          <pc:docMk/>
          <pc:sldMk cId="2243493517" sldId="468"/>
        </pc:sldMkLst>
      </pc:sldChg>
      <pc:sldChg chg="del">
        <pc:chgData name="Cui, Jiahuan" userId="74189dc3-7c4e-4658-a955-b1919aec75a3" providerId="ADAL" clId="{CAE7BB73-C0E1-A24E-8CD8-5E152EB88129}" dt="2025-03-02T15:25:41.752" v="4" actId="2696"/>
        <pc:sldMkLst>
          <pc:docMk/>
          <pc:sldMk cId="33475796" sldId="469"/>
        </pc:sldMkLst>
      </pc:sldChg>
      <pc:sldChg chg="add">
        <pc:chgData name="Cui, Jiahuan" userId="74189dc3-7c4e-4658-a955-b1919aec75a3" providerId="ADAL" clId="{CAE7BB73-C0E1-A24E-8CD8-5E152EB88129}" dt="2025-03-02T15:33:20.047" v="35"/>
        <pc:sldMkLst>
          <pc:docMk/>
          <pc:sldMk cId="1534363106" sldId="478"/>
        </pc:sldMkLst>
      </pc:sldChg>
      <pc:sldChg chg="add">
        <pc:chgData name="Cui, Jiahuan" userId="74189dc3-7c4e-4658-a955-b1919aec75a3" providerId="ADAL" clId="{CAE7BB73-C0E1-A24E-8CD8-5E152EB88129}" dt="2025-03-02T15:33:20.047" v="35"/>
        <pc:sldMkLst>
          <pc:docMk/>
          <pc:sldMk cId="2544928290" sldId="479"/>
        </pc:sldMkLst>
      </pc:sldChg>
      <pc:sldChg chg="add">
        <pc:chgData name="Cui, Jiahuan" userId="74189dc3-7c4e-4658-a955-b1919aec75a3" providerId="ADAL" clId="{CAE7BB73-C0E1-A24E-8CD8-5E152EB88129}" dt="2025-03-02T15:33:20.047" v="35"/>
        <pc:sldMkLst>
          <pc:docMk/>
          <pc:sldMk cId="2014665250" sldId="483"/>
        </pc:sldMkLst>
      </pc:sldChg>
      <pc:sldChg chg="del">
        <pc:chgData name="Cui, Jiahuan" userId="74189dc3-7c4e-4658-a955-b1919aec75a3" providerId="ADAL" clId="{CAE7BB73-C0E1-A24E-8CD8-5E152EB88129}" dt="2025-03-02T15:25:56.310" v="8" actId="2696"/>
        <pc:sldMkLst>
          <pc:docMk/>
          <pc:sldMk cId="2888766575" sldId="486"/>
        </pc:sldMkLst>
      </pc:sldChg>
      <pc:sldChg chg="del">
        <pc:chgData name="Cui, Jiahuan" userId="74189dc3-7c4e-4658-a955-b1919aec75a3" providerId="ADAL" clId="{CAE7BB73-C0E1-A24E-8CD8-5E152EB88129}" dt="2025-03-02T15:25:43.005" v="5" actId="2696"/>
        <pc:sldMkLst>
          <pc:docMk/>
          <pc:sldMk cId="3380283352" sldId="487"/>
        </pc:sldMkLst>
      </pc:sldChg>
      <pc:sldChg chg="del">
        <pc:chgData name="Cui, Jiahuan" userId="74189dc3-7c4e-4658-a955-b1919aec75a3" providerId="ADAL" clId="{CAE7BB73-C0E1-A24E-8CD8-5E152EB88129}" dt="2025-03-02T15:25:43.692" v="6" actId="2696"/>
        <pc:sldMkLst>
          <pc:docMk/>
          <pc:sldMk cId="2604174391" sldId="488"/>
        </pc:sldMkLst>
      </pc:sldChg>
      <pc:sldChg chg="del">
        <pc:chgData name="Cui, Jiahuan" userId="74189dc3-7c4e-4658-a955-b1919aec75a3" providerId="ADAL" clId="{CAE7BB73-C0E1-A24E-8CD8-5E152EB88129}" dt="2025-03-02T15:25:47.273" v="7" actId="2696"/>
        <pc:sldMkLst>
          <pc:docMk/>
          <pc:sldMk cId="2786700411" sldId="490"/>
        </pc:sldMkLst>
      </pc:sldChg>
      <pc:sldChg chg="del">
        <pc:chgData name="Cui, Jiahuan" userId="74189dc3-7c4e-4658-a955-b1919aec75a3" providerId="ADAL" clId="{CAE7BB73-C0E1-A24E-8CD8-5E152EB88129}" dt="2025-03-02T15:26:04.926" v="9" actId="2696"/>
        <pc:sldMkLst>
          <pc:docMk/>
          <pc:sldMk cId="3688866494" sldId="491"/>
        </pc:sldMkLst>
      </pc:sldChg>
      <pc:sldChg chg="del">
        <pc:chgData name="Cui, Jiahuan" userId="74189dc3-7c4e-4658-a955-b1919aec75a3" providerId="ADAL" clId="{CAE7BB73-C0E1-A24E-8CD8-5E152EB88129}" dt="2025-03-02T15:26:08.991" v="10" actId="2696"/>
        <pc:sldMkLst>
          <pc:docMk/>
          <pc:sldMk cId="1187411807" sldId="493"/>
        </pc:sldMkLst>
      </pc:sldChg>
      <pc:sldChg chg="del">
        <pc:chgData name="Cui, Jiahuan" userId="74189dc3-7c4e-4658-a955-b1919aec75a3" providerId="ADAL" clId="{CAE7BB73-C0E1-A24E-8CD8-5E152EB88129}" dt="2025-03-02T15:28:03.685" v="11" actId="2696"/>
        <pc:sldMkLst>
          <pc:docMk/>
          <pc:sldMk cId="3676533286" sldId="496"/>
        </pc:sldMkLst>
      </pc:sldChg>
      <pc:sldChg chg="del">
        <pc:chgData name="Cui, Jiahuan" userId="74189dc3-7c4e-4658-a955-b1919aec75a3" providerId="ADAL" clId="{CAE7BB73-C0E1-A24E-8CD8-5E152EB88129}" dt="2025-03-02T15:28:13.085" v="12" actId="2696"/>
        <pc:sldMkLst>
          <pc:docMk/>
          <pc:sldMk cId="3289690804" sldId="497"/>
        </pc:sldMkLst>
      </pc:sldChg>
      <pc:sldChg chg="del">
        <pc:chgData name="Cui, Jiahuan" userId="74189dc3-7c4e-4658-a955-b1919aec75a3" providerId="ADAL" clId="{CAE7BB73-C0E1-A24E-8CD8-5E152EB88129}" dt="2025-03-02T15:28:30.957" v="13" actId="2696"/>
        <pc:sldMkLst>
          <pc:docMk/>
          <pc:sldMk cId="1849613770" sldId="498"/>
        </pc:sldMkLst>
      </pc:sldChg>
      <pc:sldChg chg="addSp delSp modSp mod">
        <pc:chgData name="Cui, Jiahuan" userId="74189dc3-7c4e-4658-a955-b1919aec75a3" providerId="ADAL" clId="{CAE7BB73-C0E1-A24E-8CD8-5E152EB88129}" dt="2025-03-02T15:31:29.473" v="34" actId="478"/>
        <pc:sldMkLst>
          <pc:docMk/>
          <pc:sldMk cId="1641703535" sldId="503"/>
        </pc:sldMkLst>
        <pc:spChg chg="mod">
          <ac:chgData name="Cui, Jiahuan" userId="74189dc3-7c4e-4658-a955-b1919aec75a3" providerId="ADAL" clId="{CAE7BB73-C0E1-A24E-8CD8-5E152EB88129}" dt="2025-03-02T15:31:28.052" v="33" actId="20577"/>
          <ac:spMkLst>
            <pc:docMk/>
            <pc:sldMk cId="1641703535" sldId="503"/>
            <ac:spMk id="16" creationId="{793E31FF-0F45-4567-AD7E-A8BDF62E43C0}"/>
          </ac:spMkLst>
        </pc:spChg>
        <pc:spChg chg="add del">
          <ac:chgData name="Cui, Jiahuan" userId="74189dc3-7c4e-4658-a955-b1919aec75a3" providerId="ADAL" clId="{CAE7BB73-C0E1-A24E-8CD8-5E152EB88129}" dt="2025-03-02T15:31:29.473" v="34" actId="478"/>
          <ac:spMkLst>
            <pc:docMk/>
            <pc:sldMk cId="1641703535" sldId="503"/>
            <ac:spMk id="17" creationId="{ABBFF0EB-10C0-49F8-9A86-8DB64537EF81}"/>
          </ac:spMkLst>
        </pc:spChg>
      </pc:sldChg>
      <pc:sldChg chg="del">
        <pc:chgData name="Cui, Jiahuan" userId="74189dc3-7c4e-4658-a955-b1919aec75a3" providerId="ADAL" clId="{CAE7BB73-C0E1-A24E-8CD8-5E152EB88129}" dt="2025-03-02T15:48:36.573" v="36" actId="2696"/>
        <pc:sldMkLst>
          <pc:docMk/>
          <pc:sldMk cId="2707503243" sldId="506"/>
        </pc:sldMkLst>
      </pc:sldChg>
      <pc:sldChg chg="del">
        <pc:chgData name="Cui, Jiahuan" userId="74189dc3-7c4e-4658-a955-b1919aec75a3" providerId="ADAL" clId="{CAE7BB73-C0E1-A24E-8CD8-5E152EB88129}" dt="2025-03-02T15:48:36.665" v="37" actId="2696"/>
        <pc:sldMkLst>
          <pc:docMk/>
          <pc:sldMk cId="3831843317" sldId="50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Lecture 05 - Quality</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1/20/2021</a:t>
            </a: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EE6E16-4E3A-4AD1-BF8F-40C768BA13BD}" type="slidenum">
              <a:rPr lang="en-US" smtClean="0"/>
              <a:t>‹#›</a:t>
            </a:fld>
            <a:endParaRPr lang="en-US"/>
          </a:p>
        </p:txBody>
      </p:sp>
    </p:spTree>
    <p:extLst>
      <p:ext uri="{BB962C8B-B14F-4D97-AF65-F5344CB8AC3E}">
        <p14:creationId xmlns:p14="http://schemas.microsoft.com/office/powerpoint/2010/main" val="2078153898"/>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Lecture 05 - Quality</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a:t>1/20/2021</a:t>
            </a: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9A199-9094-412E-AD92-571A1458CB65}" type="slidenum">
              <a:rPr lang="en-US" smtClean="0"/>
              <a:t>‹#›</a:t>
            </a:fld>
            <a:endParaRPr lang="en-US"/>
          </a:p>
        </p:txBody>
      </p:sp>
    </p:spTree>
    <p:extLst>
      <p:ext uri="{BB962C8B-B14F-4D97-AF65-F5344CB8AC3E}">
        <p14:creationId xmlns:p14="http://schemas.microsoft.com/office/powerpoint/2010/main" val="2694311318"/>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Lecture 05 - Quality</a:t>
            </a:r>
          </a:p>
        </p:txBody>
      </p:sp>
      <p:sp>
        <p:nvSpPr>
          <p:cNvPr id="5" name="Slide Number Placeholder 4"/>
          <p:cNvSpPr>
            <a:spLocks noGrp="1"/>
          </p:cNvSpPr>
          <p:nvPr>
            <p:ph type="sldNum" sz="quarter" idx="11"/>
          </p:nvPr>
        </p:nvSpPr>
        <p:spPr/>
        <p:txBody>
          <a:bodyPr/>
          <a:lstStyle/>
          <a:p>
            <a:fld id="{FFC9A199-9094-412E-AD92-571A1458CB65}" type="slidenum">
              <a:rPr lang="en-US" smtClean="0"/>
              <a:t>1</a:t>
            </a:fld>
            <a:endParaRPr lang="en-US"/>
          </a:p>
        </p:txBody>
      </p:sp>
      <p:sp>
        <p:nvSpPr>
          <p:cNvPr id="6" name="Date Placeholder 5">
            <a:extLst>
              <a:ext uri="{FF2B5EF4-FFF2-40B4-BE49-F238E27FC236}">
                <a16:creationId xmlns:a16="http://schemas.microsoft.com/office/drawing/2014/main" id="{2DDEAD59-3789-4136-9022-85F70FDD1C58}"/>
              </a:ext>
            </a:extLst>
          </p:cNvPr>
          <p:cNvSpPr>
            <a:spLocks noGrp="1"/>
          </p:cNvSpPr>
          <p:nvPr>
            <p:ph type="dt" idx="1"/>
          </p:nvPr>
        </p:nvSpPr>
        <p:spPr/>
        <p:txBody>
          <a:bodyPr/>
          <a:lstStyle/>
          <a:p>
            <a:r>
              <a:rPr lang="en-US"/>
              <a:t>1/20/2021</a:t>
            </a:r>
          </a:p>
        </p:txBody>
      </p:sp>
    </p:spTree>
    <p:extLst>
      <p:ext uri="{BB962C8B-B14F-4D97-AF65-F5344CB8AC3E}">
        <p14:creationId xmlns:p14="http://schemas.microsoft.com/office/powerpoint/2010/main" val="3783599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3078B6D-2E72-4F17-AFB8-B16E60D186E2}"/>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When was the pressure cooker invented? </a:t>
            </a:r>
            <a:br>
              <a:rPr lang="en-US" sz="1200" b="1"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was invented in the 1600s by a Frenchman by Denis </a:t>
            </a:r>
            <a:r>
              <a:rPr lang="en-US" sz="1200" b="0" i="0" kern="1200" dirty="0" err="1">
                <a:solidFill>
                  <a:schemeClr val="tx1"/>
                </a:solidFill>
                <a:effectLst/>
                <a:latin typeface="+mn-lt"/>
                <a:ea typeface="+mn-ea"/>
                <a:cs typeface="+mn-cs"/>
              </a:rPr>
              <a:t>Papin</a:t>
            </a:r>
            <a:r>
              <a:rPr lang="en-US" sz="1200" b="0" i="0" kern="1200" dirty="0">
                <a:solidFill>
                  <a:schemeClr val="tx1"/>
                </a:solidFill>
                <a:effectLst/>
                <a:latin typeface="+mn-lt"/>
                <a:ea typeface="+mn-ea"/>
                <a:cs typeface="+mn-cs"/>
              </a:rPr>
              <a:t>, who wanted to translate new discoveries in physics about pressure and steam into cooking. He called his pot the “Digester” but it took quite a while before better manufacturing standards and technology could make these high pressure pots safe.</a:t>
            </a:r>
          </a:p>
          <a:p>
            <a:r>
              <a:rPr lang="en-US" sz="1200" b="0" i="1" kern="1200" dirty="0">
                <a:solidFill>
                  <a:schemeClr val="tx1"/>
                </a:solidFill>
                <a:effectLst/>
                <a:latin typeface="+mn-lt"/>
                <a:ea typeface="+mn-ea"/>
                <a:cs typeface="+mn-cs"/>
              </a:rPr>
              <a:t>A short video intended to show kids how pressure cooking works.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How does a pressure cooker work?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pressure cooker is a sealed pot with a valve that controls the steam pressure inside. As the pot heats up, the liquid inside forms steam, which raises the pressure in the pot. This high pressure steam has two major effects:</a:t>
            </a:r>
          </a:p>
          <a:p>
            <a:r>
              <a:rPr lang="en-US" sz="1200" b="1" i="0" kern="1200" dirty="0">
                <a:solidFill>
                  <a:schemeClr val="tx1"/>
                </a:solidFill>
                <a:effectLst/>
                <a:latin typeface="+mn-lt"/>
                <a:ea typeface="+mn-ea"/>
                <a:cs typeface="+mn-cs"/>
              </a:rPr>
              <a:t>Raises the boiling point of the water in the pot.</a:t>
            </a:r>
            <a:r>
              <a:rPr lang="en-US" sz="1200" b="0" i="0" kern="1200" dirty="0">
                <a:solidFill>
                  <a:schemeClr val="tx1"/>
                </a:solidFill>
                <a:effectLst/>
                <a:latin typeface="+mn-lt"/>
                <a:ea typeface="+mn-ea"/>
                <a:cs typeface="+mn-cs"/>
              </a:rPr>
              <a:t> When cooking something wet, like a stew or steamed vegetables, the heat of your cooking is limited to the boiling point of water (212°F). But with the steam’s pressure now the boiling point can get as high as 250°F. This higher heat helps the food to cook faster.</a:t>
            </a:r>
          </a:p>
          <a:p>
            <a:r>
              <a:rPr lang="en-US" sz="1200" b="1" i="0" kern="1200" dirty="0">
                <a:solidFill>
                  <a:schemeClr val="tx1"/>
                </a:solidFill>
                <a:effectLst/>
                <a:latin typeface="+mn-lt"/>
                <a:ea typeface="+mn-ea"/>
                <a:cs typeface="+mn-cs"/>
              </a:rPr>
              <a:t>Raises the pressure, forcing liquid into the food.</a:t>
            </a:r>
            <a:r>
              <a:rPr lang="en-US" sz="1200" b="0" i="0" kern="1200" dirty="0">
                <a:solidFill>
                  <a:schemeClr val="tx1"/>
                </a:solidFill>
                <a:effectLst/>
                <a:latin typeface="+mn-lt"/>
                <a:ea typeface="+mn-ea"/>
                <a:cs typeface="+mn-cs"/>
              </a:rPr>
              <a:t> The high pressure also helps force liquid and moisture into the food quickly, which helps it cook faster and also helps certain foods, like tough meat, get very tender very quickly.</a:t>
            </a:r>
          </a:p>
          <a:p>
            <a:r>
              <a:rPr lang="en-US" sz="1200" b="0" i="0" kern="1200" dirty="0">
                <a:solidFill>
                  <a:schemeClr val="tx1"/>
                </a:solidFill>
                <a:effectLst/>
                <a:latin typeface="+mn-lt"/>
                <a:ea typeface="+mn-ea"/>
                <a:cs typeface="+mn-cs"/>
              </a:rPr>
              <a:t>The extra-high heat of the pressure cooker also promotes caramelization and browning in a surprising way — we’re not used to food caramelizing when it is cooking in liquid. But the flavors created in a pressure cooker can be really deep and complex — unlike regular steamed foods.</a:t>
            </a:r>
          </a:p>
        </p:txBody>
      </p:sp>
    </p:spTree>
    <p:extLst>
      <p:ext uri="{BB962C8B-B14F-4D97-AF65-F5344CB8AC3E}">
        <p14:creationId xmlns:p14="http://schemas.microsoft.com/office/powerpoint/2010/main" val="2529514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429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CA37EFF3-069E-402B-B728-D6718965AE3F}"/>
              </a:ext>
            </a:extLst>
          </p:cNvPr>
          <p:cNvSpPr>
            <a:spLocks noGrp="1"/>
          </p:cNvSpPr>
          <p:nvPr>
            <p:ph type="body" idx="1"/>
          </p:nvPr>
        </p:nvSpPr>
        <p:spPr/>
        <p:txBody>
          <a:bodyPr/>
          <a:lstStyle/>
          <a:p>
            <a:r>
              <a:rPr lang="en-US" dirty="0"/>
              <a:t>Start with temperature table, smaller than saturated vapor and gas</a:t>
            </a:r>
          </a:p>
        </p:txBody>
      </p:sp>
    </p:spTree>
    <p:extLst>
      <p:ext uri="{BB962C8B-B14F-4D97-AF65-F5344CB8AC3E}">
        <p14:creationId xmlns:p14="http://schemas.microsoft.com/office/powerpoint/2010/main" val="443389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5216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minutes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 and C are quite close… LOOK at TABLE</a:t>
            </a:r>
          </a:p>
          <a:p>
            <a:endParaRPr lang="en-US" dirty="0"/>
          </a:p>
        </p:txBody>
      </p:sp>
    </p:spTree>
    <p:extLst>
      <p:ext uri="{BB962C8B-B14F-4D97-AF65-F5344CB8AC3E}">
        <p14:creationId xmlns:p14="http://schemas.microsoft.com/office/powerpoint/2010/main" val="3176004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3 minutes…Note Table A-2</a:t>
            </a:r>
          </a:p>
        </p:txBody>
      </p:sp>
    </p:spTree>
    <p:extLst>
      <p:ext uri="{BB962C8B-B14F-4D97-AF65-F5344CB8AC3E}">
        <p14:creationId xmlns:p14="http://schemas.microsoft.com/office/powerpoint/2010/main" val="4028665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Table A-7</a:t>
            </a:r>
          </a:p>
        </p:txBody>
      </p:sp>
    </p:spTree>
    <p:extLst>
      <p:ext uri="{BB962C8B-B14F-4D97-AF65-F5344CB8AC3E}">
        <p14:creationId xmlns:p14="http://schemas.microsoft.com/office/powerpoint/2010/main" val="2514968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Table A-7</a:t>
            </a:r>
          </a:p>
        </p:txBody>
      </p:sp>
    </p:spTree>
    <p:extLst>
      <p:ext uri="{BB962C8B-B14F-4D97-AF65-F5344CB8AC3E}">
        <p14:creationId xmlns:p14="http://schemas.microsoft.com/office/powerpoint/2010/main" val="1047761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Table A-7</a:t>
            </a:r>
          </a:p>
        </p:txBody>
      </p:sp>
    </p:spTree>
    <p:extLst>
      <p:ext uri="{BB962C8B-B14F-4D97-AF65-F5344CB8AC3E}">
        <p14:creationId xmlns:p14="http://schemas.microsoft.com/office/powerpoint/2010/main" val="2129252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Outside of saturated dome, x means NOTHING</a:t>
            </a:r>
          </a:p>
        </p:txBody>
      </p:sp>
    </p:spTree>
    <p:extLst>
      <p:ext uri="{BB962C8B-B14F-4D97-AF65-F5344CB8AC3E}">
        <p14:creationId xmlns:p14="http://schemas.microsoft.com/office/powerpoint/2010/main" val="2899570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Outside of saturated dome, x means NOTHING</a:t>
            </a:r>
          </a:p>
        </p:txBody>
      </p:sp>
    </p:spTree>
    <p:extLst>
      <p:ext uri="{BB962C8B-B14F-4D97-AF65-F5344CB8AC3E}">
        <p14:creationId xmlns:p14="http://schemas.microsoft.com/office/powerpoint/2010/main" val="1664929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1 minute to THONK</a:t>
            </a:r>
          </a:p>
        </p:txBody>
      </p:sp>
    </p:spTree>
    <p:extLst>
      <p:ext uri="{BB962C8B-B14F-4D97-AF65-F5344CB8AC3E}">
        <p14:creationId xmlns:p14="http://schemas.microsoft.com/office/powerpoint/2010/main" val="3487203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1 minute to THONK</a:t>
            </a:r>
          </a:p>
        </p:txBody>
      </p:sp>
    </p:spTree>
    <p:extLst>
      <p:ext uri="{BB962C8B-B14F-4D97-AF65-F5344CB8AC3E}">
        <p14:creationId xmlns:p14="http://schemas.microsoft.com/office/powerpoint/2010/main" val="3405212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5C5A85-BA68-4A6E-89EC-89F77F1DBAA3}" type="datetime1">
              <a:rPr lang="en-US" smtClean="0"/>
              <a:t>3/2/25</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2058352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01F983-55B3-4486-B781-620F6DBD51A8}" type="datetime1">
              <a:rPr lang="en-US" smtClean="0"/>
              <a:t>3/2/25</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027307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B796A44-F112-465B-9F17-6AEA6575836A}" type="datetime1">
              <a:rPr lang="en-US" smtClean="0"/>
              <a:t>3/2/25</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4133127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280868-52FB-4F0E-9E4D-CD408078E6C2}" type="datetime1">
              <a:rPr lang="en-US" smtClean="0"/>
              <a:t>3/2/25</a:t>
            </a:fld>
            <a:endParaRPr lang="en-US"/>
          </a:p>
        </p:txBody>
      </p:sp>
      <p:sp>
        <p:nvSpPr>
          <p:cNvPr id="6" name="Footer Placeholder 5"/>
          <p:cNvSpPr>
            <a:spLocks noGrp="1"/>
          </p:cNvSpPr>
          <p:nvPr>
            <p:ph type="ftr" sz="quarter" idx="11"/>
          </p:nvPr>
        </p:nvSpPr>
        <p:spPr/>
        <p:txBody>
          <a:bodyPr/>
          <a:lstStyle/>
          <a:p>
            <a:r>
              <a:rPr lang="en-US"/>
              <a:t>ME 270: Design for Manufacturability | 2020 Fall | UIUC-ZJU | Timothy H. Lee </a:t>
            </a:r>
          </a:p>
        </p:txBody>
      </p:sp>
      <p:sp>
        <p:nvSpPr>
          <p:cNvPr id="7" name="Slide Number Placeholder 6"/>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242318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BFD7E3-7B3F-4FC2-A5AD-80CAB07EB05E}" type="datetime1">
              <a:rPr lang="en-US" smtClean="0"/>
              <a:t>3/2/25</a:t>
            </a:fld>
            <a:endParaRPr lang="en-US"/>
          </a:p>
        </p:txBody>
      </p:sp>
      <p:sp>
        <p:nvSpPr>
          <p:cNvPr id="8" name="Footer Placeholder 7"/>
          <p:cNvSpPr>
            <a:spLocks noGrp="1"/>
          </p:cNvSpPr>
          <p:nvPr>
            <p:ph type="ftr" sz="quarter" idx="11"/>
          </p:nvPr>
        </p:nvSpPr>
        <p:spPr/>
        <p:txBody>
          <a:bodyPr/>
          <a:lstStyle/>
          <a:p>
            <a:r>
              <a:rPr lang="en-US"/>
              <a:t>ME 270: Design for Manufacturability | 2020 Fall | UIUC-ZJU | Timothy H. Lee </a:t>
            </a:r>
          </a:p>
        </p:txBody>
      </p:sp>
      <p:sp>
        <p:nvSpPr>
          <p:cNvPr id="9" name="Slide Number Placeholder 8"/>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2915982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4AB53F-12C9-4728-B471-936897AB026F}" type="datetime1">
              <a:rPr lang="en-US" smtClean="0"/>
              <a:t>3/2/25</a:t>
            </a:fld>
            <a:endParaRPr lang="en-US"/>
          </a:p>
        </p:txBody>
      </p:sp>
      <p:sp>
        <p:nvSpPr>
          <p:cNvPr id="4" name="Footer Placeholder 3"/>
          <p:cNvSpPr>
            <a:spLocks noGrp="1"/>
          </p:cNvSpPr>
          <p:nvPr>
            <p:ph type="ftr" sz="quarter" idx="11"/>
          </p:nvPr>
        </p:nvSpPr>
        <p:spPr/>
        <p:txBody>
          <a:bodyPr/>
          <a:lstStyle/>
          <a:p>
            <a:r>
              <a:rPr lang="en-US"/>
              <a:t>ME 270: Design for Manufacturability | 2020 Fall | UIUC-ZJU | Timothy H. Lee </a:t>
            </a:r>
          </a:p>
        </p:txBody>
      </p:sp>
      <p:sp>
        <p:nvSpPr>
          <p:cNvPr id="5" name="Slide Number Placeholder 4"/>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878513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CD25B4-0C05-495D-A3E2-85B0ED0F6FCD}" type="datetime1">
              <a:rPr lang="en-US" smtClean="0"/>
              <a:t>3/2/25</a:t>
            </a:fld>
            <a:endParaRPr lang="en-US"/>
          </a:p>
        </p:txBody>
      </p:sp>
      <p:sp>
        <p:nvSpPr>
          <p:cNvPr id="3" name="Footer Placeholder 2"/>
          <p:cNvSpPr>
            <a:spLocks noGrp="1"/>
          </p:cNvSpPr>
          <p:nvPr>
            <p:ph type="ftr" sz="quarter" idx="11"/>
          </p:nvPr>
        </p:nvSpPr>
        <p:spPr/>
        <p:txBody>
          <a:bodyPr/>
          <a:lstStyle/>
          <a:p>
            <a:r>
              <a:rPr lang="en-US"/>
              <a:t>ME 270: Design for Manufacturability | 2020 Fall | UIUC-ZJU | Timothy H. Lee </a:t>
            </a:r>
          </a:p>
        </p:txBody>
      </p:sp>
      <p:sp>
        <p:nvSpPr>
          <p:cNvPr id="4" name="Slide Number Placeholder 3"/>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573580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E80CB2-E014-4BC5-8CDD-632662D6D7CF}" type="datetime1">
              <a:rPr lang="en-US" smtClean="0"/>
              <a:t>3/2/25</a:t>
            </a:fld>
            <a:endParaRPr lang="en-US"/>
          </a:p>
        </p:txBody>
      </p:sp>
      <p:sp>
        <p:nvSpPr>
          <p:cNvPr id="6" name="Footer Placeholder 5"/>
          <p:cNvSpPr>
            <a:spLocks noGrp="1"/>
          </p:cNvSpPr>
          <p:nvPr>
            <p:ph type="ftr" sz="quarter" idx="11"/>
          </p:nvPr>
        </p:nvSpPr>
        <p:spPr/>
        <p:txBody>
          <a:bodyPr/>
          <a:lstStyle/>
          <a:p>
            <a:r>
              <a:rPr lang="en-US"/>
              <a:t>ME 270: Design for Manufacturability | 2020 Fall | UIUC-ZJU | Timothy H. Lee </a:t>
            </a:r>
          </a:p>
        </p:txBody>
      </p:sp>
      <p:sp>
        <p:nvSpPr>
          <p:cNvPr id="7" name="Slide Number Placeholder 6"/>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128952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4A8DCFA-11BF-42B2-BD96-FC517D0EB8FE}" type="datetime1">
              <a:rPr lang="en-US" smtClean="0"/>
              <a:t>3/2/25</a:t>
            </a:fld>
            <a:endParaRPr lang="en-US"/>
          </a:p>
        </p:txBody>
      </p:sp>
      <p:sp>
        <p:nvSpPr>
          <p:cNvPr id="6" name="Footer Placeholder 5"/>
          <p:cNvSpPr>
            <a:spLocks noGrp="1"/>
          </p:cNvSpPr>
          <p:nvPr>
            <p:ph type="ftr" sz="quarter" idx="11"/>
          </p:nvPr>
        </p:nvSpPr>
        <p:spPr/>
        <p:txBody>
          <a:bodyPr/>
          <a:lstStyle/>
          <a:p>
            <a:r>
              <a:rPr lang="en-US"/>
              <a:t>ME 270: Design for Manufacturability | 2020 Fall | UIUC-ZJU | Timothy H. Lee </a:t>
            </a:r>
          </a:p>
        </p:txBody>
      </p:sp>
      <p:sp>
        <p:nvSpPr>
          <p:cNvPr id="7" name="Slide Number Placeholder 6"/>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113785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2D60C0-9620-432C-8D8D-9C06BB5BB575}" type="datetime1">
              <a:rPr lang="en-US" smtClean="0"/>
              <a:t>3/2/25</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125093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16AE5B-EB16-47B8-B0BB-3B146A954241}" type="datetime1">
              <a:rPr lang="en-US" smtClean="0"/>
              <a:t>3/2/25</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891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D812EF-7246-4ADC-BC0E-7B12542E4010}" type="datetime1">
              <a:rPr lang="en-US" smtClean="0"/>
              <a:t>3/2/25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ME 270: Design for Manufacturability | 2020 Fall | UIUC-ZJU | Timothy H. Lee </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02D253-2F6D-41B8-95AA-96C9BA5D69B2}" type="slidenum">
              <a:rPr lang="en-US" smtClean="0"/>
              <a:t>‹#›</a:t>
            </a:fld>
            <a:endParaRPr lang="en-US"/>
          </a:p>
        </p:txBody>
      </p:sp>
    </p:spTree>
    <p:extLst>
      <p:ext uri="{BB962C8B-B14F-4D97-AF65-F5344CB8AC3E}">
        <p14:creationId xmlns:p14="http://schemas.microsoft.com/office/powerpoint/2010/main" val="33346442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tiff"/><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40.png"/><Relationship Id="rId4" Type="http://schemas.openxmlformats.org/officeDocument/2006/relationships/image" Target="../media/image11.png"/><Relationship Id="rId9"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ME 200</a:t>
            </a:r>
            <a:br>
              <a:rPr lang="en-US" b="1" dirty="0"/>
            </a:br>
            <a:r>
              <a:rPr lang="en-US" sz="5300" b="1" dirty="0"/>
              <a:t>Thermodynamics</a:t>
            </a:r>
          </a:p>
        </p:txBody>
      </p:sp>
      <p:sp>
        <p:nvSpPr>
          <p:cNvPr id="3" name="Subtitle 2"/>
          <p:cNvSpPr>
            <a:spLocks noGrp="1"/>
          </p:cNvSpPr>
          <p:nvPr>
            <p:ph type="subTitle" idx="1"/>
          </p:nvPr>
        </p:nvSpPr>
        <p:spPr/>
        <p:txBody>
          <a:bodyPr>
            <a:normAutofit/>
          </a:bodyPr>
          <a:lstStyle/>
          <a:p>
            <a:endParaRPr lang="en-US" dirty="0"/>
          </a:p>
          <a:p>
            <a:r>
              <a:rPr lang="en-US" dirty="0"/>
              <a:t>Lecture 07 – Tables</a:t>
            </a:r>
          </a:p>
        </p:txBody>
      </p:sp>
      <p:pic>
        <p:nvPicPr>
          <p:cNvPr id="4" name="Picture 3"/>
          <p:cNvPicPr>
            <a:picLocks noChangeAspect="1"/>
          </p:cNvPicPr>
          <p:nvPr/>
        </p:nvPicPr>
        <p:blipFill>
          <a:blip r:embed="rId3"/>
          <a:stretch>
            <a:fillRect/>
          </a:stretch>
        </p:blipFill>
        <p:spPr>
          <a:xfrm>
            <a:off x="99389" y="26081"/>
            <a:ext cx="8945223" cy="1286054"/>
          </a:xfrm>
          <a:prstGeom prst="rect">
            <a:avLst/>
          </a:prstGeom>
        </p:spPr>
      </p:pic>
    </p:spTree>
    <p:extLst>
      <p:ext uri="{BB962C8B-B14F-4D97-AF65-F5344CB8AC3E}">
        <p14:creationId xmlns:p14="http://schemas.microsoft.com/office/powerpoint/2010/main" val="294304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Pressure Cooker</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pic>
        <p:nvPicPr>
          <p:cNvPr id="7" name="Picture 2" descr="C:\Users\cflee\Pictures\0012279_6-quart-qt-aluminum-pressure-cooker-fast-cooker-pot-kitchen.jpeg">
            <a:extLst>
              <a:ext uri="{FF2B5EF4-FFF2-40B4-BE49-F238E27FC236}">
                <a16:creationId xmlns:a16="http://schemas.microsoft.com/office/drawing/2014/main" id="{7F1C5F9B-EA06-4FA3-818A-47086B8245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8665" y="983198"/>
            <a:ext cx="4762500" cy="4762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F23DF53-7091-4EC1-9DB3-4CCE5A97443D}"/>
              </a:ext>
            </a:extLst>
          </p:cNvPr>
          <p:cNvPicPr>
            <a:picLocks noChangeAspect="1"/>
          </p:cNvPicPr>
          <p:nvPr/>
        </p:nvPicPr>
        <p:blipFill>
          <a:blip r:embed="rId5"/>
          <a:stretch>
            <a:fillRect/>
          </a:stretch>
        </p:blipFill>
        <p:spPr>
          <a:xfrm>
            <a:off x="142015" y="611723"/>
            <a:ext cx="2876550" cy="2752725"/>
          </a:xfrm>
          <a:prstGeom prst="rect">
            <a:avLst/>
          </a:prstGeom>
        </p:spPr>
      </p:pic>
      <p:pic>
        <p:nvPicPr>
          <p:cNvPr id="9" name="Picture 2">
            <a:extLst>
              <a:ext uri="{FF2B5EF4-FFF2-40B4-BE49-F238E27FC236}">
                <a16:creationId xmlns:a16="http://schemas.microsoft.com/office/drawing/2014/main" id="{C4DABAD5-812A-459E-A8AA-D5A9FA9F54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015" y="3487690"/>
            <a:ext cx="4200525" cy="2948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a:extLst>
              <a:ext uri="{FF2B5EF4-FFF2-40B4-BE49-F238E27FC236}">
                <a16:creationId xmlns:a16="http://schemas.microsoft.com/office/drawing/2014/main" id="{46F561A0-FB4A-4AA5-8F52-D70FA1EEA240}"/>
              </a:ext>
            </a:extLst>
          </p:cNvPr>
          <p:cNvSpPr/>
          <p:nvPr/>
        </p:nvSpPr>
        <p:spPr>
          <a:xfrm>
            <a:off x="5248570" y="5783453"/>
            <a:ext cx="3753415" cy="369332"/>
          </a:xfrm>
          <a:prstGeom prst="rect">
            <a:avLst/>
          </a:prstGeom>
        </p:spPr>
        <p:txBody>
          <a:bodyPr wrap="square">
            <a:spAutoFit/>
          </a:bodyPr>
          <a:lstStyle/>
          <a:p>
            <a:r>
              <a:rPr lang="en-US" altLang="zh-CN" b="1" dirty="0">
                <a:solidFill>
                  <a:srgbClr val="FF0000"/>
                </a:solidFill>
              </a:rPr>
              <a:t>What controls the cooking pressure?</a:t>
            </a:r>
            <a:endParaRPr lang="en-US" dirty="0">
              <a:solidFill>
                <a:srgbClr val="FF0000"/>
              </a:solidFill>
            </a:endParaRPr>
          </a:p>
        </p:txBody>
      </p:sp>
      <p:sp>
        <p:nvSpPr>
          <p:cNvPr id="11" name="Oval 10">
            <a:extLst>
              <a:ext uri="{FF2B5EF4-FFF2-40B4-BE49-F238E27FC236}">
                <a16:creationId xmlns:a16="http://schemas.microsoft.com/office/drawing/2014/main" id="{09BD4341-6095-4171-9D93-1EC43905E2A9}"/>
              </a:ext>
            </a:extLst>
          </p:cNvPr>
          <p:cNvSpPr/>
          <p:nvPr/>
        </p:nvSpPr>
        <p:spPr>
          <a:xfrm>
            <a:off x="6346586" y="1112302"/>
            <a:ext cx="1082914" cy="154403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4363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3" name="TextBox 12">
            <a:extLst>
              <a:ext uri="{FF2B5EF4-FFF2-40B4-BE49-F238E27FC236}">
                <a16:creationId xmlns:a16="http://schemas.microsoft.com/office/drawing/2014/main" id="{2A7BD133-E38D-4D35-B5CE-24F2FABADAE0}"/>
              </a:ext>
            </a:extLst>
          </p:cNvPr>
          <p:cNvSpPr txBox="1"/>
          <p:nvPr/>
        </p:nvSpPr>
        <p:spPr>
          <a:xfrm>
            <a:off x="165734" y="705535"/>
            <a:ext cx="8886826" cy="1200329"/>
          </a:xfrm>
          <a:prstGeom prst="rect">
            <a:avLst/>
          </a:prstGeom>
          <a:noFill/>
        </p:spPr>
        <p:txBody>
          <a:bodyPr wrap="square">
            <a:spAutoFit/>
          </a:bodyPr>
          <a:lstStyle/>
          <a:p>
            <a:pPr>
              <a:spcAft>
                <a:spcPts val="1800"/>
              </a:spcAft>
            </a:pPr>
            <a:r>
              <a:rPr lang="en-US" altLang="zh-CN" sz="2400" b="1" dirty="0"/>
              <a:t>A pressure cooker has a weight that is 0.5 kg that rests on a 5 mm diameter hole.  What is the cooking temperature and pressure for the cooker?</a:t>
            </a:r>
          </a:p>
        </p:txBody>
      </p:sp>
      <p:sp>
        <p:nvSpPr>
          <p:cNvPr id="9" name="TextBox 8">
            <a:extLst>
              <a:ext uri="{FF2B5EF4-FFF2-40B4-BE49-F238E27FC236}">
                <a16:creationId xmlns:a16="http://schemas.microsoft.com/office/drawing/2014/main" id="{DB971A8B-A3FA-48F7-8CCE-F80A31D600FC}"/>
              </a:ext>
            </a:extLst>
          </p:cNvPr>
          <p:cNvSpPr txBox="1"/>
          <p:nvPr/>
        </p:nvSpPr>
        <p:spPr>
          <a:xfrm>
            <a:off x="271128" y="2089815"/>
            <a:ext cx="1834156" cy="2862322"/>
          </a:xfrm>
          <a:prstGeom prst="rect">
            <a:avLst/>
          </a:prstGeom>
          <a:noFill/>
        </p:spPr>
        <p:txBody>
          <a:bodyPr wrap="none" rtlCol="0">
            <a:spAutoFit/>
          </a:bodyPr>
          <a:lstStyle/>
          <a:p>
            <a:pPr marL="342900" indent="-342900">
              <a:spcAft>
                <a:spcPts val="1200"/>
              </a:spcAft>
              <a:buFont typeface="+mj-lt"/>
              <a:buAutoNum type="alphaUcPeriod"/>
            </a:pPr>
            <a:r>
              <a:rPr lang="en-US" sz="2800" dirty="0"/>
              <a:t>99.6 </a:t>
            </a:r>
            <a:r>
              <a:rPr lang="en-US" altLang="zh-CN" sz="2800" baseline="30000" dirty="0" err="1"/>
              <a:t>o</a:t>
            </a:r>
            <a:r>
              <a:rPr lang="en-US" altLang="zh-CN" sz="2800" dirty="0" err="1"/>
              <a:t>C</a:t>
            </a:r>
            <a:endParaRPr lang="en-US" sz="2800" dirty="0"/>
          </a:p>
          <a:p>
            <a:pPr marL="342900" indent="-342900">
              <a:spcAft>
                <a:spcPts val="1200"/>
              </a:spcAft>
              <a:buFont typeface="+mj-lt"/>
              <a:buAutoNum type="alphaUcPeriod"/>
            </a:pPr>
            <a:r>
              <a:rPr lang="en-US" sz="2800" dirty="0"/>
              <a:t> 111.4 </a:t>
            </a:r>
            <a:r>
              <a:rPr lang="en-US" altLang="zh-CN" sz="2800" baseline="30000" dirty="0" err="1"/>
              <a:t>o</a:t>
            </a:r>
            <a:r>
              <a:rPr lang="en-US" altLang="zh-CN" sz="2800" dirty="0" err="1"/>
              <a:t>C</a:t>
            </a:r>
            <a:endParaRPr lang="en-US" sz="2800" dirty="0"/>
          </a:p>
          <a:p>
            <a:pPr marL="342900" indent="-342900">
              <a:spcAft>
                <a:spcPts val="1200"/>
              </a:spcAft>
              <a:buFont typeface="+mj-lt"/>
              <a:buAutoNum type="alphaUcPeriod"/>
            </a:pPr>
            <a:r>
              <a:rPr lang="en-US" sz="2800" dirty="0"/>
              <a:t> 127.4 </a:t>
            </a:r>
            <a:r>
              <a:rPr lang="en-US" altLang="zh-CN" sz="2800" baseline="30000" dirty="0" err="1"/>
              <a:t>o</a:t>
            </a:r>
            <a:r>
              <a:rPr lang="en-US" altLang="zh-CN" sz="2800" dirty="0" err="1"/>
              <a:t>C</a:t>
            </a:r>
            <a:endParaRPr lang="en-US" sz="2800" dirty="0"/>
          </a:p>
          <a:p>
            <a:pPr marL="342900" indent="-342900">
              <a:spcAft>
                <a:spcPts val="1200"/>
              </a:spcAft>
              <a:buFont typeface="+mj-lt"/>
              <a:buAutoNum type="alphaUcPeriod"/>
            </a:pPr>
            <a:r>
              <a:rPr lang="en-US" sz="2800" dirty="0"/>
              <a:t> 138.9 </a:t>
            </a:r>
            <a:r>
              <a:rPr lang="en-US" altLang="zh-CN" sz="2800" baseline="30000" dirty="0" err="1"/>
              <a:t>o</a:t>
            </a:r>
            <a:r>
              <a:rPr lang="en-US" altLang="zh-CN" sz="2800" dirty="0" err="1"/>
              <a:t>C</a:t>
            </a:r>
            <a:endParaRPr lang="en-US" sz="2800" dirty="0"/>
          </a:p>
          <a:p>
            <a:pPr marL="342900" indent="-342900">
              <a:spcAft>
                <a:spcPts val="1200"/>
              </a:spcAft>
              <a:buFont typeface="+mj-lt"/>
              <a:buAutoNum type="alphaUcPeriod"/>
            </a:pPr>
            <a:r>
              <a:rPr lang="en-US" sz="2800" dirty="0"/>
              <a:t>147.9 </a:t>
            </a:r>
            <a:r>
              <a:rPr lang="en-US" altLang="zh-CN" sz="2800" baseline="30000" dirty="0" err="1"/>
              <a:t>o</a:t>
            </a:r>
            <a:r>
              <a:rPr lang="en-US" altLang="zh-CN" sz="2800" dirty="0" err="1"/>
              <a:t>C</a:t>
            </a:r>
            <a:endParaRPr lang="en-US" sz="2800" dirty="0"/>
          </a:p>
        </p:txBody>
      </p:sp>
      <p:pic>
        <p:nvPicPr>
          <p:cNvPr id="10" name="Picture 2">
            <a:extLst>
              <a:ext uri="{FF2B5EF4-FFF2-40B4-BE49-F238E27FC236}">
                <a16:creationId xmlns:a16="http://schemas.microsoft.com/office/drawing/2014/main" id="{CA0510F9-0192-43FB-8198-0ED4F7A54A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9346" y="1905864"/>
            <a:ext cx="3829050" cy="1323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a:extLst>
              <a:ext uri="{FF2B5EF4-FFF2-40B4-BE49-F238E27FC236}">
                <a16:creationId xmlns:a16="http://schemas.microsoft.com/office/drawing/2014/main" id="{07A4DA7E-B9C7-4BC4-8E59-DDF2A5EDF5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9139" y="3236589"/>
            <a:ext cx="3800475" cy="265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44928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3" name="TextBox 12">
            <a:extLst>
              <a:ext uri="{FF2B5EF4-FFF2-40B4-BE49-F238E27FC236}">
                <a16:creationId xmlns:a16="http://schemas.microsoft.com/office/drawing/2014/main" id="{2A7BD133-E38D-4D35-B5CE-24F2FABADAE0}"/>
              </a:ext>
            </a:extLst>
          </p:cNvPr>
          <p:cNvSpPr txBox="1"/>
          <p:nvPr/>
        </p:nvSpPr>
        <p:spPr>
          <a:xfrm>
            <a:off x="195604" y="666958"/>
            <a:ext cx="8886826" cy="461665"/>
          </a:xfrm>
          <a:prstGeom prst="rect">
            <a:avLst/>
          </a:prstGeom>
          <a:noFill/>
        </p:spPr>
        <p:txBody>
          <a:bodyPr wrap="square">
            <a:spAutoFit/>
          </a:bodyPr>
          <a:lstStyle/>
          <a:p>
            <a:pPr>
              <a:spcAft>
                <a:spcPts val="1800"/>
              </a:spcAft>
            </a:pPr>
            <a:r>
              <a:rPr lang="en-US" altLang="zh-CN" sz="2400" b="1" dirty="0"/>
              <a:t>Water is at 100 </a:t>
            </a:r>
            <a:r>
              <a:rPr lang="en-US" altLang="zh-CN" sz="2400" b="1" baseline="30000" dirty="0" err="1"/>
              <a:t>o</a:t>
            </a:r>
            <a:r>
              <a:rPr lang="en-US" altLang="zh-CN" sz="2400" b="1" dirty="0" err="1"/>
              <a:t>C</a:t>
            </a:r>
            <a:r>
              <a:rPr lang="en-US" altLang="zh-CN" sz="2400" b="1" dirty="0"/>
              <a:t> and </a:t>
            </a:r>
            <a:r>
              <a:rPr lang="en-US" altLang="zh-CN" sz="2400" b="1" i="1" dirty="0"/>
              <a:t>v</a:t>
            </a:r>
            <a:r>
              <a:rPr lang="en-US" altLang="zh-CN" sz="2400" b="1" dirty="0"/>
              <a:t> = 0.1 m</a:t>
            </a:r>
            <a:r>
              <a:rPr lang="en-US" altLang="zh-CN" sz="2400" b="1" baseline="30000" dirty="0"/>
              <a:t>3</a:t>
            </a:r>
            <a:r>
              <a:rPr lang="en-US" altLang="zh-CN" sz="2400" b="1" dirty="0"/>
              <a:t>/kg.  Examine the state.</a:t>
            </a:r>
          </a:p>
        </p:txBody>
      </p:sp>
    </p:spTree>
    <p:extLst>
      <p:ext uri="{BB962C8B-B14F-4D97-AF65-F5344CB8AC3E}">
        <p14:creationId xmlns:p14="http://schemas.microsoft.com/office/powerpoint/2010/main" val="2014665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Rectangle 5">
            <a:extLst>
              <a:ext uri="{FF2B5EF4-FFF2-40B4-BE49-F238E27FC236}">
                <a16:creationId xmlns:a16="http://schemas.microsoft.com/office/drawing/2014/main" id="{BE4A7AB6-40E8-441A-8D8C-46E58BCAABCC}"/>
              </a:ext>
            </a:extLst>
          </p:cNvPr>
          <p:cNvSpPr>
            <a:spLocks noChangeArrowheads="1"/>
          </p:cNvSpPr>
          <p:nvPr/>
        </p:nvSpPr>
        <p:spPr bwMode="auto">
          <a:xfrm>
            <a:off x="4511870" y="6456656"/>
            <a:ext cx="677332" cy="3640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2000">
                <a:solidFill>
                  <a:schemeClr val="tx1"/>
                </a:solidFill>
                <a:latin typeface="Times New Roman" charset="0"/>
              </a:defRPr>
            </a:lvl1pPr>
            <a:lvl2pPr marL="742950" indent="-285750" eaLnBrk="0" hangingPunct="0">
              <a:spcBef>
                <a:spcPct val="20000"/>
              </a:spcBef>
              <a:buChar char="–"/>
              <a:defRPr>
                <a:solidFill>
                  <a:schemeClr val="tx1"/>
                </a:solidFill>
                <a:latin typeface="Times New Roman" charset="0"/>
              </a:defRPr>
            </a:lvl2pPr>
            <a:lvl3pPr marL="1143000" indent="-228600" eaLnBrk="0" hangingPunct="0">
              <a:spcBef>
                <a:spcPct val="20000"/>
              </a:spcBef>
              <a:buChar char="•"/>
              <a:defRPr sz="1600">
                <a:solidFill>
                  <a:schemeClr val="tx1"/>
                </a:solidFill>
                <a:latin typeface="Times New Roman" charset="0"/>
              </a:defRPr>
            </a:lvl3pPr>
            <a:lvl4pPr marL="1600200" indent="-228600" eaLnBrk="0" hangingPunct="0">
              <a:spcBef>
                <a:spcPct val="20000"/>
              </a:spcBef>
              <a:buChar char="–"/>
              <a:defRPr sz="1400">
                <a:solidFill>
                  <a:schemeClr val="tx1"/>
                </a:solidFill>
                <a:latin typeface="Times New Roman" charset="0"/>
              </a:defRPr>
            </a:lvl4pPr>
            <a:lvl5pPr marL="2057400" indent="-228600" eaLnBrk="0" hangingPunct="0">
              <a:spcBef>
                <a:spcPct val="20000"/>
              </a:spcBef>
              <a:buChar char="»"/>
              <a:defRPr sz="1400">
                <a:solidFill>
                  <a:schemeClr val="tx1"/>
                </a:solidFill>
                <a:latin typeface="Times New Roman" charset="0"/>
              </a:defRPr>
            </a:lvl5pPr>
            <a:lvl6pPr marL="2514600" indent="-228600" eaLnBrk="0" fontAlgn="base" hangingPunct="0">
              <a:spcBef>
                <a:spcPct val="20000"/>
              </a:spcBef>
              <a:spcAft>
                <a:spcPct val="0"/>
              </a:spcAft>
              <a:buChar char="»"/>
              <a:defRPr sz="1400">
                <a:solidFill>
                  <a:schemeClr val="tx1"/>
                </a:solidFill>
                <a:latin typeface="Times New Roman" charset="0"/>
              </a:defRPr>
            </a:lvl6pPr>
            <a:lvl7pPr marL="2971800" indent="-228600" eaLnBrk="0" fontAlgn="base" hangingPunct="0">
              <a:spcBef>
                <a:spcPct val="20000"/>
              </a:spcBef>
              <a:spcAft>
                <a:spcPct val="0"/>
              </a:spcAft>
              <a:buChar char="»"/>
              <a:defRPr sz="1400">
                <a:solidFill>
                  <a:schemeClr val="tx1"/>
                </a:solidFill>
                <a:latin typeface="Times New Roman" charset="0"/>
              </a:defRPr>
            </a:lvl7pPr>
            <a:lvl8pPr marL="3429000" indent="-228600" eaLnBrk="0" fontAlgn="base" hangingPunct="0">
              <a:spcBef>
                <a:spcPct val="20000"/>
              </a:spcBef>
              <a:spcAft>
                <a:spcPct val="0"/>
              </a:spcAft>
              <a:buChar char="»"/>
              <a:defRPr sz="1400">
                <a:solidFill>
                  <a:schemeClr val="tx1"/>
                </a:solidFill>
                <a:latin typeface="Times New Roman" charset="0"/>
              </a:defRPr>
            </a:lvl8pPr>
            <a:lvl9pPr marL="3886200" indent="-228600" eaLnBrk="0" fontAlgn="base" hangingPunct="0">
              <a:spcBef>
                <a:spcPct val="20000"/>
              </a:spcBef>
              <a:spcAft>
                <a:spcPct val="0"/>
              </a:spcAft>
              <a:buChar char="»"/>
              <a:defRPr sz="1400">
                <a:solidFill>
                  <a:schemeClr val="tx1"/>
                </a:solidFill>
                <a:latin typeface="Times New Roman" charset="0"/>
              </a:defRPr>
            </a:lvl9pPr>
          </a:lstStyle>
          <a:p>
            <a:pPr eaLnBrk="1" hangingPunct="1">
              <a:spcBef>
                <a:spcPct val="0"/>
              </a:spcBef>
              <a:buFontTx/>
              <a:buNone/>
            </a:pPr>
            <a:endParaRPr lang="en-US" altLang="en-US" sz="2400"/>
          </a:p>
        </p:txBody>
      </p:sp>
      <p:sp>
        <p:nvSpPr>
          <p:cNvPr id="10" name="TextBox 9">
            <a:extLst>
              <a:ext uri="{FF2B5EF4-FFF2-40B4-BE49-F238E27FC236}">
                <a16:creationId xmlns:a16="http://schemas.microsoft.com/office/drawing/2014/main" id="{EDD30608-DE10-4250-8AA0-068F8345307A}"/>
              </a:ext>
            </a:extLst>
          </p:cNvPr>
          <p:cNvSpPr txBox="1"/>
          <p:nvPr/>
        </p:nvSpPr>
        <p:spPr>
          <a:xfrm>
            <a:off x="195604" y="666958"/>
            <a:ext cx="8886826" cy="461665"/>
          </a:xfrm>
          <a:prstGeom prst="rect">
            <a:avLst/>
          </a:prstGeom>
          <a:noFill/>
        </p:spPr>
        <p:txBody>
          <a:bodyPr wrap="square">
            <a:spAutoFit/>
          </a:bodyPr>
          <a:lstStyle/>
          <a:p>
            <a:pPr>
              <a:spcAft>
                <a:spcPts val="1800"/>
              </a:spcAft>
            </a:pPr>
            <a:r>
              <a:rPr lang="en-US" altLang="zh-CN" sz="2400" b="1" dirty="0"/>
              <a:t>Water is at 80 </a:t>
            </a:r>
            <a:r>
              <a:rPr lang="en-US" altLang="zh-CN" sz="2400" b="1" baseline="30000" dirty="0" err="1"/>
              <a:t>o</a:t>
            </a:r>
            <a:r>
              <a:rPr lang="en-US" altLang="zh-CN" sz="2400" b="1" dirty="0" err="1"/>
              <a:t>C</a:t>
            </a:r>
            <a:r>
              <a:rPr lang="en-US" altLang="zh-CN" sz="2400" b="1" dirty="0"/>
              <a:t> and 35 bars.</a:t>
            </a:r>
            <a:endParaRPr lang="en-US" altLang="zh-CN" sz="2400" dirty="0"/>
          </a:p>
        </p:txBody>
      </p:sp>
      <p:sp>
        <p:nvSpPr>
          <p:cNvPr id="11" name="TextBox 10">
            <a:extLst>
              <a:ext uri="{FF2B5EF4-FFF2-40B4-BE49-F238E27FC236}">
                <a16:creationId xmlns:a16="http://schemas.microsoft.com/office/drawing/2014/main" id="{64ADB6B1-D0C0-4289-8448-A9012B0C20A4}"/>
              </a:ext>
            </a:extLst>
          </p:cNvPr>
          <p:cNvSpPr txBox="1"/>
          <p:nvPr/>
        </p:nvSpPr>
        <p:spPr>
          <a:xfrm>
            <a:off x="648407" y="3128930"/>
            <a:ext cx="1436612" cy="1692771"/>
          </a:xfrm>
          <a:prstGeom prst="rect">
            <a:avLst/>
          </a:prstGeom>
          <a:noFill/>
        </p:spPr>
        <p:txBody>
          <a:bodyPr wrap="none" rtlCol="0">
            <a:spAutoFit/>
          </a:bodyPr>
          <a:lstStyle/>
          <a:p>
            <a:pPr marL="342900" indent="-342900">
              <a:spcAft>
                <a:spcPts val="1200"/>
              </a:spcAft>
              <a:buFont typeface="+mj-lt"/>
              <a:buAutoNum type="alphaUcPeriod"/>
            </a:pPr>
            <a:r>
              <a:rPr lang="en-US" sz="2800" b="1" dirty="0"/>
              <a:t>Liquid</a:t>
            </a:r>
          </a:p>
          <a:p>
            <a:pPr marL="342900" indent="-342900">
              <a:spcAft>
                <a:spcPts val="1200"/>
              </a:spcAft>
              <a:buFont typeface="+mj-lt"/>
              <a:buAutoNum type="alphaUcPeriod"/>
            </a:pPr>
            <a:r>
              <a:rPr lang="en-US" sz="2800" b="1" dirty="0"/>
              <a:t>L+V</a:t>
            </a:r>
          </a:p>
          <a:p>
            <a:pPr marL="342900" indent="-342900">
              <a:spcAft>
                <a:spcPts val="1200"/>
              </a:spcAft>
              <a:buFont typeface="+mj-lt"/>
              <a:buAutoNum type="alphaUcPeriod"/>
            </a:pPr>
            <a:r>
              <a:rPr lang="en-US" sz="2800" b="1" dirty="0"/>
              <a:t>vapor</a:t>
            </a:r>
          </a:p>
        </p:txBody>
      </p:sp>
      <p:sp>
        <p:nvSpPr>
          <p:cNvPr id="12" name="Title 1">
            <a:extLst>
              <a:ext uri="{FF2B5EF4-FFF2-40B4-BE49-F238E27FC236}">
                <a16:creationId xmlns:a16="http://schemas.microsoft.com/office/drawing/2014/main" id="{C739DDDC-A3AD-4FF2-9AE1-D9E3747A852E}"/>
              </a:ext>
            </a:extLst>
          </p:cNvPr>
          <p:cNvSpPr txBox="1">
            <a:spLocks/>
          </p:cNvSpPr>
          <p:nvPr/>
        </p:nvSpPr>
        <p:spPr>
          <a:xfrm>
            <a:off x="512482" y="1933108"/>
            <a:ext cx="3481294" cy="1159716"/>
          </a:xfrm>
          <a:prstGeom prst="rect">
            <a:avLst/>
          </a:prstGeom>
        </p:spPr>
        <p:txBody>
          <a:bodyPr vert="horz" lIns="91440" tIns="45720" rIns="91440" bIns="45720" rtlCol="0" anchor="ctr">
            <a:normAutofit/>
          </a:bodyPr>
          <a:lstStyle>
            <a:lvl1pPr algn="ctr" defTabSz="990570" rtl="0" eaLnBrk="1" latinLnBrk="0" hangingPunct="1">
              <a:spcBef>
                <a:spcPct val="0"/>
              </a:spcBef>
              <a:buNone/>
              <a:defRPr sz="4767" kern="1200">
                <a:solidFill>
                  <a:schemeClr val="tx1"/>
                </a:solidFill>
                <a:latin typeface="+mj-lt"/>
                <a:ea typeface="+mj-ea"/>
                <a:cs typeface="+mj-cs"/>
              </a:defRPr>
            </a:lvl1pPr>
          </a:lstStyle>
          <a:p>
            <a:pPr algn="l"/>
            <a:r>
              <a:rPr lang="en-US" altLang="zh-CN" sz="2800" b="1" dirty="0"/>
              <a:t>What phase of matter is the water?</a:t>
            </a:r>
            <a:endParaRPr lang="en-US" sz="2800" b="1" dirty="0"/>
          </a:p>
        </p:txBody>
      </p:sp>
      <p:sp>
        <p:nvSpPr>
          <p:cNvPr id="13" name="TextBox 12">
            <a:extLst>
              <a:ext uri="{FF2B5EF4-FFF2-40B4-BE49-F238E27FC236}">
                <a16:creationId xmlns:a16="http://schemas.microsoft.com/office/drawing/2014/main" id="{2A5F87E1-FC51-473C-8484-7FC928C9B225}"/>
              </a:ext>
            </a:extLst>
          </p:cNvPr>
          <p:cNvSpPr txBox="1"/>
          <p:nvPr/>
        </p:nvSpPr>
        <p:spPr>
          <a:xfrm>
            <a:off x="6109680" y="2634796"/>
            <a:ext cx="1617751" cy="2862322"/>
          </a:xfrm>
          <a:prstGeom prst="rect">
            <a:avLst/>
          </a:prstGeom>
          <a:noFill/>
        </p:spPr>
        <p:txBody>
          <a:bodyPr wrap="none" rtlCol="0">
            <a:spAutoFit/>
          </a:bodyPr>
          <a:lstStyle/>
          <a:p>
            <a:pPr marL="342900" indent="-342900">
              <a:spcAft>
                <a:spcPts val="1200"/>
              </a:spcAft>
              <a:buFont typeface="+mj-lt"/>
              <a:buAutoNum type="alphaUcPeriod"/>
            </a:pPr>
            <a:r>
              <a:rPr lang="en-US" sz="2800" b="1" dirty="0"/>
              <a:t>332.19 </a:t>
            </a:r>
          </a:p>
          <a:p>
            <a:pPr marL="342900" indent="-342900">
              <a:spcAft>
                <a:spcPts val="1200"/>
              </a:spcAft>
              <a:buFont typeface="+mj-lt"/>
              <a:buAutoNum type="alphaUcPeriod"/>
            </a:pPr>
            <a:r>
              <a:rPr lang="en-US" sz="2800" b="1" dirty="0"/>
              <a:t>333.72</a:t>
            </a:r>
          </a:p>
          <a:p>
            <a:pPr marL="342900" indent="-342900">
              <a:spcAft>
                <a:spcPts val="1200"/>
              </a:spcAft>
              <a:buFont typeface="+mj-lt"/>
              <a:buAutoNum type="alphaUcPeriod"/>
            </a:pPr>
            <a:r>
              <a:rPr lang="en-US" sz="2800" b="1" dirty="0"/>
              <a:t>333.98</a:t>
            </a:r>
          </a:p>
          <a:p>
            <a:pPr marL="342900" indent="-342900">
              <a:spcAft>
                <a:spcPts val="1200"/>
              </a:spcAft>
              <a:buFont typeface="+mj-lt"/>
              <a:buAutoNum type="alphaUcPeriod"/>
            </a:pPr>
            <a:r>
              <a:rPr lang="en-US" sz="2800" b="1" dirty="0"/>
              <a:t>334.06</a:t>
            </a:r>
          </a:p>
          <a:p>
            <a:pPr marL="342900" indent="-342900">
              <a:spcAft>
                <a:spcPts val="1200"/>
              </a:spcAft>
              <a:buFont typeface="+mj-lt"/>
              <a:buAutoNum type="alphaUcPeriod"/>
            </a:pPr>
            <a:r>
              <a:rPr lang="en-US" sz="2800" b="1" dirty="0"/>
              <a:t>334.29</a:t>
            </a:r>
          </a:p>
        </p:txBody>
      </p:sp>
      <p:sp>
        <p:nvSpPr>
          <p:cNvPr id="15" name="Title 1">
            <a:extLst>
              <a:ext uri="{FF2B5EF4-FFF2-40B4-BE49-F238E27FC236}">
                <a16:creationId xmlns:a16="http://schemas.microsoft.com/office/drawing/2014/main" id="{5440C4A8-0EE1-4BE5-A26F-086E91865407}"/>
              </a:ext>
            </a:extLst>
          </p:cNvPr>
          <p:cNvSpPr txBox="1">
            <a:spLocks/>
          </p:cNvSpPr>
          <p:nvPr/>
        </p:nvSpPr>
        <p:spPr>
          <a:xfrm>
            <a:off x="5798944" y="1949964"/>
            <a:ext cx="2764118" cy="657692"/>
          </a:xfrm>
          <a:prstGeom prst="rect">
            <a:avLst/>
          </a:prstGeom>
        </p:spPr>
        <p:txBody>
          <a:bodyPr vert="horz" lIns="91440" tIns="45720" rIns="91440" bIns="45720" rtlCol="0" anchor="ctr">
            <a:normAutofit/>
          </a:bodyPr>
          <a:lstStyle>
            <a:lvl1pPr algn="ctr" defTabSz="990570" rtl="0" eaLnBrk="1" latinLnBrk="0" hangingPunct="1">
              <a:spcBef>
                <a:spcPct val="0"/>
              </a:spcBef>
              <a:buNone/>
              <a:defRPr sz="4767" kern="1200">
                <a:solidFill>
                  <a:schemeClr val="tx1"/>
                </a:solidFill>
                <a:latin typeface="+mj-lt"/>
                <a:ea typeface="+mj-ea"/>
                <a:cs typeface="+mj-cs"/>
              </a:defRPr>
            </a:lvl1pPr>
          </a:lstStyle>
          <a:p>
            <a:pPr algn="l"/>
            <a:r>
              <a:rPr lang="en-US" altLang="zh-CN" sz="2800" b="1" dirty="0"/>
              <a:t>What is </a:t>
            </a:r>
            <a:r>
              <a:rPr lang="en-US" altLang="zh-CN" sz="2800" b="1" i="1" dirty="0"/>
              <a:t>u</a:t>
            </a:r>
            <a:r>
              <a:rPr lang="en-US" altLang="zh-CN" sz="2800" b="1" dirty="0"/>
              <a:t> (kJ/kg)?</a:t>
            </a:r>
            <a:endParaRPr lang="en-US" sz="2800" b="1" dirty="0"/>
          </a:p>
        </p:txBody>
      </p:sp>
    </p:spTree>
    <p:extLst>
      <p:ext uri="{BB962C8B-B14F-4D97-AF65-F5344CB8AC3E}">
        <p14:creationId xmlns:p14="http://schemas.microsoft.com/office/powerpoint/2010/main" val="1916005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Rectangle 5">
            <a:extLst>
              <a:ext uri="{FF2B5EF4-FFF2-40B4-BE49-F238E27FC236}">
                <a16:creationId xmlns:a16="http://schemas.microsoft.com/office/drawing/2014/main" id="{BE4A7AB6-40E8-441A-8D8C-46E58BCAABCC}"/>
              </a:ext>
            </a:extLst>
          </p:cNvPr>
          <p:cNvSpPr>
            <a:spLocks noChangeArrowheads="1"/>
          </p:cNvSpPr>
          <p:nvPr/>
        </p:nvSpPr>
        <p:spPr bwMode="auto">
          <a:xfrm>
            <a:off x="4511870" y="6456656"/>
            <a:ext cx="677332" cy="3640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2000">
                <a:solidFill>
                  <a:schemeClr val="tx1"/>
                </a:solidFill>
                <a:latin typeface="Times New Roman" charset="0"/>
              </a:defRPr>
            </a:lvl1pPr>
            <a:lvl2pPr marL="742950" indent="-285750" eaLnBrk="0" hangingPunct="0">
              <a:spcBef>
                <a:spcPct val="20000"/>
              </a:spcBef>
              <a:buChar char="–"/>
              <a:defRPr>
                <a:solidFill>
                  <a:schemeClr val="tx1"/>
                </a:solidFill>
                <a:latin typeface="Times New Roman" charset="0"/>
              </a:defRPr>
            </a:lvl2pPr>
            <a:lvl3pPr marL="1143000" indent="-228600" eaLnBrk="0" hangingPunct="0">
              <a:spcBef>
                <a:spcPct val="20000"/>
              </a:spcBef>
              <a:buChar char="•"/>
              <a:defRPr sz="1600">
                <a:solidFill>
                  <a:schemeClr val="tx1"/>
                </a:solidFill>
                <a:latin typeface="Times New Roman" charset="0"/>
              </a:defRPr>
            </a:lvl3pPr>
            <a:lvl4pPr marL="1600200" indent="-228600" eaLnBrk="0" hangingPunct="0">
              <a:spcBef>
                <a:spcPct val="20000"/>
              </a:spcBef>
              <a:buChar char="–"/>
              <a:defRPr sz="1400">
                <a:solidFill>
                  <a:schemeClr val="tx1"/>
                </a:solidFill>
                <a:latin typeface="Times New Roman" charset="0"/>
              </a:defRPr>
            </a:lvl4pPr>
            <a:lvl5pPr marL="2057400" indent="-228600" eaLnBrk="0" hangingPunct="0">
              <a:spcBef>
                <a:spcPct val="20000"/>
              </a:spcBef>
              <a:buChar char="»"/>
              <a:defRPr sz="1400">
                <a:solidFill>
                  <a:schemeClr val="tx1"/>
                </a:solidFill>
                <a:latin typeface="Times New Roman" charset="0"/>
              </a:defRPr>
            </a:lvl5pPr>
            <a:lvl6pPr marL="2514600" indent="-228600" eaLnBrk="0" fontAlgn="base" hangingPunct="0">
              <a:spcBef>
                <a:spcPct val="20000"/>
              </a:spcBef>
              <a:spcAft>
                <a:spcPct val="0"/>
              </a:spcAft>
              <a:buChar char="»"/>
              <a:defRPr sz="1400">
                <a:solidFill>
                  <a:schemeClr val="tx1"/>
                </a:solidFill>
                <a:latin typeface="Times New Roman" charset="0"/>
              </a:defRPr>
            </a:lvl6pPr>
            <a:lvl7pPr marL="2971800" indent="-228600" eaLnBrk="0" fontAlgn="base" hangingPunct="0">
              <a:spcBef>
                <a:spcPct val="20000"/>
              </a:spcBef>
              <a:spcAft>
                <a:spcPct val="0"/>
              </a:spcAft>
              <a:buChar char="»"/>
              <a:defRPr sz="1400">
                <a:solidFill>
                  <a:schemeClr val="tx1"/>
                </a:solidFill>
                <a:latin typeface="Times New Roman" charset="0"/>
              </a:defRPr>
            </a:lvl7pPr>
            <a:lvl8pPr marL="3429000" indent="-228600" eaLnBrk="0" fontAlgn="base" hangingPunct="0">
              <a:spcBef>
                <a:spcPct val="20000"/>
              </a:spcBef>
              <a:spcAft>
                <a:spcPct val="0"/>
              </a:spcAft>
              <a:buChar char="»"/>
              <a:defRPr sz="1400">
                <a:solidFill>
                  <a:schemeClr val="tx1"/>
                </a:solidFill>
                <a:latin typeface="Times New Roman" charset="0"/>
              </a:defRPr>
            </a:lvl8pPr>
            <a:lvl9pPr marL="3886200" indent="-228600" eaLnBrk="0" fontAlgn="base" hangingPunct="0">
              <a:spcBef>
                <a:spcPct val="20000"/>
              </a:spcBef>
              <a:spcAft>
                <a:spcPct val="0"/>
              </a:spcAft>
              <a:buChar char="»"/>
              <a:defRPr sz="1400">
                <a:solidFill>
                  <a:schemeClr val="tx1"/>
                </a:solidFill>
                <a:latin typeface="Times New Roman" charset="0"/>
              </a:defRPr>
            </a:lvl9pPr>
          </a:lstStyle>
          <a:p>
            <a:pPr eaLnBrk="1" hangingPunct="1">
              <a:spcBef>
                <a:spcPct val="0"/>
              </a:spcBef>
              <a:buFontTx/>
              <a:buNone/>
            </a:pPr>
            <a:endParaRPr lang="en-US" altLang="en-US" sz="2400"/>
          </a:p>
        </p:txBody>
      </p:sp>
      <p:sp>
        <p:nvSpPr>
          <p:cNvPr id="10" name="TextBox 9">
            <a:extLst>
              <a:ext uri="{FF2B5EF4-FFF2-40B4-BE49-F238E27FC236}">
                <a16:creationId xmlns:a16="http://schemas.microsoft.com/office/drawing/2014/main" id="{EDD30608-DE10-4250-8AA0-068F8345307A}"/>
              </a:ext>
            </a:extLst>
          </p:cNvPr>
          <p:cNvSpPr txBox="1"/>
          <p:nvPr/>
        </p:nvSpPr>
        <p:spPr>
          <a:xfrm>
            <a:off x="195604" y="666958"/>
            <a:ext cx="8886826" cy="461665"/>
          </a:xfrm>
          <a:prstGeom prst="rect">
            <a:avLst/>
          </a:prstGeom>
          <a:noFill/>
        </p:spPr>
        <p:txBody>
          <a:bodyPr wrap="square">
            <a:spAutoFit/>
          </a:bodyPr>
          <a:lstStyle/>
          <a:p>
            <a:pPr>
              <a:spcAft>
                <a:spcPts val="1800"/>
              </a:spcAft>
            </a:pPr>
            <a:r>
              <a:rPr lang="en-US" altLang="zh-CN" sz="2400" b="1" dirty="0"/>
              <a:t>Water is at 80 </a:t>
            </a:r>
            <a:r>
              <a:rPr lang="en-US" altLang="zh-CN" sz="2400" b="1" baseline="30000" dirty="0" err="1"/>
              <a:t>o</a:t>
            </a:r>
            <a:r>
              <a:rPr lang="en-US" altLang="zh-CN" sz="2400" b="1" dirty="0" err="1"/>
              <a:t>C</a:t>
            </a:r>
            <a:r>
              <a:rPr lang="en-US" altLang="zh-CN" sz="2400" b="1" dirty="0"/>
              <a:t> and 35 bars.</a:t>
            </a:r>
            <a:endParaRPr lang="en-US" altLang="zh-CN" sz="2400" dirty="0"/>
          </a:p>
        </p:txBody>
      </p:sp>
      <p:sp>
        <p:nvSpPr>
          <p:cNvPr id="11" name="TextBox 10">
            <a:extLst>
              <a:ext uri="{FF2B5EF4-FFF2-40B4-BE49-F238E27FC236}">
                <a16:creationId xmlns:a16="http://schemas.microsoft.com/office/drawing/2014/main" id="{64ADB6B1-D0C0-4289-8448-A9012B0C20A4}"/>
              </a:ext>
            </a:extLst>
          </p:cNvPr>
          <p:cNvSpPr txBox="1"/>
          <p:nvPr/>
        </p:nvSpPr>
        <p:spPr>
          <a:xfrm>
            <a:off x="648407" y="3128930"/>
            <a:ext cx="1436612" cy="1692771"/>
          </a:xfrm>
          <a:prstGeom prst="rect">
            <a:avLst/>
          </a:prstGeom>
          <a:noFill/>
        </p:spPr>
        <p:txBody>
          <a:bodyPr wrap="none" rtlCol="0">
            <a:spAutoFit/>
          </a:bodyPr>
          <a:lstStyle/>
          <a:p>
            <a:pPr marL="342900" indent="-342900">
              <a:spcAft>
                <a:spcPts val="1200"/>
              </a:spcAft>
              <a:buFont typeface="+mj-lt"/>
              <a:buAutoNum type="alphaUcPeriod"/>
            </a:pPr>
            <a:r>
              <a:rPr lang="en-US" sz="2800" b="1" dirty="0">
                <a:solidFill>
                  <a:schemeClr val="bg2">
                    <a:lumMod val="75000"/>
                  </a:schemeClr>
                </a:solidFill>
              </a:rPr>
              <a:t>Liquid</a:t>
            </a:r>
          </a:p>
          <a:p>
            <a:pPr marL="342900" indent="-342900">
              <a:spcAft>
                <a:spcPts val="1200"/>
              </a:spcAft>
              <a:buFont typeface="+mj-lt"/>
              <a:buAutoNum type="alphaUcPeriod"/>
            </a:pPr>
            <a:r>
              <a:rPr lang="en-US" sz="2800" b="1" dirty="0">
                <a:solidFill>
                  <a:schemeClr val="bg2">
                    <a:lumMod val="75000"/>
                  </a:schemeClr>
                </a:solidFill>
              </a:rPr>
              <a:t>L+V</a:t>
            </a:r>
          </a:p>
          <a:p>
            <a:pPr marL="342900" indent="-342900">
              <a:spcAft>
                <a:spcPts val="1200"/>
              </a:spcAft>
              <a:buFont typeface="+mj-lt"/>
              <a:buAutoNum type="alphaUcPeriod"/>
            </a:pPr>
            <a:r>
              <a:rPr lang="en-US" sz="2800" b="1" dirty="0">
                <a:solidFill>
                  <a:schemeClr val="bg2">
                    <a:lumMod val="75000"/>
                  </a:schemeClr>
                </a:solidFill>
              </a:rPr>
              <a:t>vapor</a:t>
            </a:r>
          </a:p>
        </p:txBody>
      </p:sp>
      <p:sp>
        <p:nvSpPr>
          <p:cNvPr id="12" name="Title 1">
            <a:extLst>
              <a:ext uri="{FF2B5EF4-FFF2-40B4-BE49-F238E27FC236}">
                <a16:creationId xmlns:a16="http://schemas.microsoft.com/office/drawing/2014/main" id="{C739DDDC-A3AD-4FF2-9AE1-D9E3747A852E}"/>
              </a:ext>
            </a:extLst>
          </p:cNvPr>
          <p:cNvSpPr txBox="1">
            <a:spLocks/>
          </p:cNvSpPr>
          <p:nvPr/>
        </p:nvSpPr>
        <p:spPr>
          <a:xfrm>
            <a:off x="512482" y="1933108"/>
            <a:ext cx="3481294" cy="1159716"/>
          </a:xfrm>
          <a:prstGeom prst="rect">
            <a:avLst/>
          </a:prstGeom>
        </p:spPr>
        <p:txBody>
          <a:bodyPr vert="horz" lIns="91440" tIns="45720" rIns="91440" bIns="45720" rtlCol="0" anchor="ctr">
            <a:normAutofit/>
          </a:bodyPr>
          <a:lstStyle>
            <a:lvl1pPr algn="ctr" defTabSz="990570" rtl="0" eaLnBrk="1" latinLnBrk="0" hangingPunct="1">
              <a:spcBef>
                <a:spcPct val="0"/>
              </a:spcBef>
              <a:buNone/>
              <a:defRPr sz="4767" kern="1200">
                <a:solidFill>
                  <a:schemeClr val="tx1"/>
                </a:solidFill>
                <a:latin typeface="+mj-lt"/>
                <a:ea typeface="+mj-ea"/>
                <a:cs typeface="+mj-cs"/>
              </a:defRPr>
            </a:lvl1pPr>
          </a:lstStyle>
          <a:p>
            <a:pPr algn="l"/>
            <a:r>
              <a:rPr lang="en-US" altLang="zh-CN" sz="2800" b="1" dirty="0">
                <a:solidFill>
                  <a:schemeClr val="bg2">
                    <a:lumMod val="75000"/>
                  </a:schemeClr>
                </a:solidFill>
              </a:rPr>
              <a:t>What phase of matter is the water?</a:t>
            </a:r>
            <a:endParaRPr lang="en-US" sz="2800" b="1" dirty="0">
              <a:solidFill>
                <a:schemeClr val="bg2">
                  <a:lumMod val="75000"/>
                </a:schemeClr>
              </a:solidFill>
            </a:endParaRPr>
          </a:p>
        </p:txBody>
      </p:sp>
      <p:sp>
        <p:nvSpPr>
          <p:cNvPr id="13" name="TextBox 12">
            <a:extLst>
              <a:ext uri="{FF2B5EF4-FFF2-40B4-BE49-F238E27FC236}">
                <a16:creationId xmlns:a16="http://schemas.microsoft.com/office/drawing/2014/main" id="{2A5F87E1-FC51-473C-8484-7FC928C9B225}"/>
              </a:ext>
            </a:extLst>
          </p:cNvPr>
          <p:cNvSpPr txBox="1"/>
          <p:nvPr/>
        </p:nvSpPr>
        <p:spPr>
          <a:xfrm>
            <a:off x="6109680" y="2634796"/>
            <a:ext cx="1617751" cy="2862322"/>
          </a:xfrm>
          <a:prstGeom prst="rect">
            <a:avLst/>
          </a:prstGeom>
          <a:noFill/>
        </p:spPr>
        <p:txBody>
          <a:bodyPr wrap="none" rtlCol="0">
            <a:spAutoFit/>
          </a:bodyPr>
          <a:lstStyle/>
          <a:p>
            <a:pPr marL="342900" indent="-342900">
              <a:spcAft>
                <a:spcPts val="1200"/>
              </a:spcAft>
              <a:buFont typeface="+mj-lt"/>
              <a:buAutoNum type="alphaUcPeriod"/>
            </a:pPr>
            <a:r>
              <a:rPr lang="en-US" sz="2800" b="1" dirty="0"/>
              <a:t>332.19 </a:t>
            </a:r>
          </a:p>
          <a:p>
            <a:pPr marL="342900" indent="-342900">
              <a:spcAft>
                <a:spcPts val="1200"/>
              </a:spcAft>
              <a:buFont typeface="+mj-lt"/>
              <a:buAutoNum type="alphaUcPeriod"/>
            </a:pPr>
            <a:r>
              <a:rPr lang="en-US" sz="2800" b="1" dirty="0"/>
              <a:t>333.72</a:t>
            </a:r>
          </a:p>
          <a:p>
            <a:pPr marL="342900" indent="-342900">
              <a:spcAft>
                <a:spcPts val="1200"/>
              </a:spcAft>
              <a:buFont typeface="+mj-lt"/>
              <a:buAutoNum type="alphaUcPeriod"/>
            </a:pPr>
            <a:r>
              <a:rPr lang="en-US" sz="2800" b="1" dirty="0"/>
              <a:t>333.98</a:t>
            </a:r>
          </a:p>
          <a:p>
            <a:pPr marL="342900" indent="-342900">
              <a:spcAft>
                <a:spcPts val="1200"/>
              </a:spcAft>
              <a:buFont typeface="+mj-lt"/>
              <a:buAutoNum type="alphaUcPeriod"/>
            </a:pPr>
            <a:r>
              <a:rPr lang="en-US" sz="2800" b="1" dirty="0"/>
              <a:t>334.06</a:t>
            </a:r>
          </a:p>
          <a:p>
            <a:pPr marL="342900" indent="-342900">
              <a:spcAft>
                <a:spcPts val="1200"/>
              </a:spcAft>
              <a:buFont typeface="+mj-lt"/>
              <a:buAutoNum type="alphaUcPeriod"/>
            </a:pPr>
            <a:r>
              <a:rPr lang="en-US" sz="2800" b="1" dirty="0"/>
              <a:t>334.29</a:t>
            </a:r>
          </a:p>
        </p:txBody>
      </p:sp>
      <p:sp>
        <p:nvSpPr>
          <p:cNvPr id="15" name="Title 1">
            <a:extLst>
              <a:ext uri="{FF2B5EF4-FFF2-40B4-BE49-F238E27FC236}">
                <a16:creationId xmlns:a16="http://schemas.microsoft.com/office/drawing/2014/main" id="{5440C4A8-0EE1-4BE5-A26F-086E91865407}"/>
              </a:ext>
            </a:extLst>
          </p:cNvPr>
          <p:cNvSpPr txBox="1">
            <a:spLocks/>
          </p:cNvSpPr>
          <p:nvPr/>
        </p:nvSpPr>
        <p:spPr>
          <a:xfrm>
            <a:off x="5798944" y="1949964"/>
            <a:ext cx="2764118" cy="657692"/>
          </a:xfrm>
          <a:prstGeom prst="rect">
            <a:avLst/>
          </a:prstGeom>
        </p:spPr>
        <p:txBody>
          <a:bodyPr vert="horz" lIns="91440" tIns="45720" rIns="91440" bIns="45720" rtlCol="0" anchor="ctr">
            <a:normAutofit/>
          </a:bodyPr>
          <a:lstStyle>
            <a:lvl1pPr algn="ctr" defTabSz="990570" rtl="0" eaLnBrk="1" latinLnBrk="0" hangingPunct="1">
              <a:spcBef>
                <a:spcPct val="0"/>
              </a:spcBef>
              <a:buNone/>
              <a:defRPr sz="4767" kern="1200">
                <a:solidFill>
                  <a:schemeClr val="tx1"/>
                </a:solidFill>
                <a:latin typeface="+mj-lt"/>
                <a:ea typeface="+mj-ea"/>
                <a:cs typeface="+mj-cs"/>
              </a:defRPr>
            </a:lvl1pPr>
          </a:lstStyle>
          <a:p>
            <a:pPr algn="l"/>
            <a:r>
              <a:rPr lang="en-US" altLang="zh-CN" sz="2800" b="1" dirty="0"/>
              <a:t>What is </a:t>
            </a:r>
            <a:r>
              <a:rPr lang="en-US" altLang="zh-CN" sz="2800" b="1" i="1" dirty="0"/>
              <a:t>u</a:t>
            </a:r>
            <a:r>
              <a:rPr lang="en-US" altLang="zh-CN" sz="2800" b="1" dirty="0"/>
              <a:t> (kJ/kg)?</a:t>
            </a:r>
            <a:endParaRPr lang="en-US" sz="2800" b="1" dirty="0"/>
          </a:p>
        </p:txBody>
      </p:sp>
    </p:spTree>
    <p:extLst>
      <p:ext uri="{BB962C8B-B14F-4D97-AF65-F5344CB8AC3E}">
        <p14:creationId xmlns:p14="http://schemas.microsoft.com/office/powerpoint/2010/main" val="3542958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0" name="TextBox 9">
            <a:extLst>
              <a:ext uri="{FF2B5EF4-FFF2-40B4-BE49-F238E27FC236}">
                <a16:creationId xmlns:a16="http://schemas.microsoft.com/office/drawing/2014/main" id="{EDD30608-DE10-4250-8AA0-068F8345307A}"/>
              </a:ext>
            </a:extLst>
          </p:cNvPr>
          <p:cNvSpPr txBox="1"/>
          <p:nvPr/>
        </p:nvSpPr>
        <p:spPr>
          <a:xfrm>
            <a:off x="195604" y="666958"/>
            <a:ext cx="8886826" cy="1061829"/>
          </a:xfrm>
          <a:prstGeom prst="rect">
            <a:avLst/>
          </a:prstGeom>
          <a:noFill/>
        </p:spPr>
        <p:txBody>
          <a:bodyPr wrap="square">
            <a:spAutoFit/>
          </a:bodyPr>
          <a:lstStyle/>
          <a:p>
            <a:pPr algn="ctr">
              <a:spcAft>
                <a:spcPts val="1800"/>
              </a:spcAft>
            </a:pPr>
            <a:r>
              <a:rPr lang="en-US" sz="2400" b="1" dirty="0"/>
              <a:t>What is the saturation temperature for water with </a:t>
            </a:r>
          </a:p>
          <a:p>
            <a:pPr algn="ctr">
              <a:spcAft>
                <a:spcPts val="1800"/>
              </a:spcAft>
            </a:pPr>
            <a:r>
              <a:rPr lang="en-US" sz="2400" b="1" i="1" dirty="0"/>
              <a:t>v</a:t>
            </a:r>
            <a:r>
              <a:rPr lang="en-US" sz="2400" b="1" dirty="0"/>
              <a:t> = 0.2 m</a:t>
            </a:r>
            <a:r>
              <a:rPr lang="en-US" sz="2400" b="1" baseline="30000" dirty="0"/>
              <a:t>3</a:t>
            </a:r>
            <a:r>
              <a:rPr lang="en-US" sz="2400" b="1" dirty="0"/>
              <a:t>/kg &amp; </a:t>
            </a:r>
            <a:r>
              <a:rPr lang="en-US" sz="2400" b="1" i="1" dirty="0"/>
              <a:t>u</a:t>
            </a:r>
            <a:r>
              <a:rPr lang="en-US" sz="2400" b="1" dirty="0"/>
              <a:t> = 1600 kJ/kg??</a:t>
            </a:r>
            <a:endParaRPr lang="en-US" altLang="zh-CN" sz="2400" dirty="0"/>
          </a:p>
        </p:txBody>
      </p:sp>
      <p:sp>
        <p:nvSpPr>
          <p:cNvPr id="16" name="TextBox 15">
            <a:extLst>
              <a:ext uri="{FF2B5EF4-FFF2-40B4-BE49-F238E27FC236}">
                <a16:creationId xmlns:a16="http://schemas.microsoft.com/office/drawing/2014/main" id="{D424DE3B-77C3-4F7C-9C46-ACF3AE1EDA23}"/>
              </a:ext>
            </a:extLst>
          </p:cNvPr>
          <p:cNvSpPr txBox="1"/>
          <p:nvPr/>
        </p:nvSpPr>
        <p:spPr>
          <a:xfrm>
            <a:off x="1710724" y="2349000"/>
            <a:ext cx="1476686" cy="2862322"/>
          </a:xfrm>
          <a:prstGeom prst="rect">
            <a:avLst/>
          </a:prstGeom>
          <a:noFill/>
        </p:spPr>
        <p:txBody>
          <a:bodyPr wrap="none" rtlCol="0">
            <a:spAutoFit/>
          </a:bodyPr>
          <a:lstStyle/>
          <a:p>
            <a:pPr marL="342900" indent="-342900">
              <a:spcAft>
                <a:spcPts val="1200"/>
              </a:spcAft>
              <a:buFont typeface="+mj-lt"/>
              <a:buAutoNum type="alphaUcPeriod"/>
            </a:pPr>
            <a:r>
              <a:rPr lang="en-US" sz="2800" dirty="0"/>
              <a:t>110 C </a:t>
            </a:r>
          </a:p>
          <a:p>
            <a:pPr marL="342900" indent="-342900">
              <a:spcAft>
                <a:spcPts val="1200"/>
              </a:spcAft>
              <a:buFont typeface="+mj-lt"/>
              <a:buAutoNum type="alphaUcPeriod"/>
            </a:pPr>
            <a:r>
              <a:rPr lang="en-US" sz="2800" dirty="0"/>
              <a:t>130 C</a:t>
            </a:r>
          </a:p>
          <a:p>
            <a:pPr marL="342900" indent="-342900">
              <a:spcAft>
                <a:spcPts val="1200"/>
              </a:spcAft>
              <a:buFont typeface="+mj-lt"/>
              <a:buAutoNum type="alphaUcPeriod"/>
            </a:pPr>
            <a:r>
              <a:rPr lang="en-US" sz="2800" dirty="0"/>
              <a:t>150 C</a:t>
            </a:r>
          </a:p>
          <a:p>
            <a:pPr marL="342900" indent="-342900">
              <a:spcAft>
                <a:spcPts val="1200"/>
              </a:spcAft>
              <a:buFont typeface="+mj-lt"/>
              <a:buAutoNum type="alphaUcPeriod"/>
            </a:pPr>
            <a:r>
              <a:rPr lang="en-US" sz="2800" dirty="0"/>
              <a:t>170 C</a:t>
            </a:r>
          </a:p>
          <a:p>
            <a:pPr marL="342900" indent="-342900">
              <a:spcAft>
                <a:spcPts val="1200"/>
              </a:spcAft>
              <a:buFont typeface="+mj-lt"/>
              <a:buAutoNum type="alphaUcPeriod"/>
            </a:pPr>
            <a:r>
              <a:rPr lang="en-US" sz="2800" dirty="0"/>
              <a:t>180 C</a:t>
            </a:r>
          </a:p>
        </p:txBody>
      </p:sp>
    </p:spTree>
    <p:extLst>
      <p:ext uri="{BB962C8B-B14F-4D97-AF65-F5344CB8AC3E}">
        <p14:creationId xmlns:p14="http://schemas.microsoft.com/office/powerpoint/2010/main" val="964716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0" name="TextBox 9">
            <a:extLst>
              <a:ext uri="{FF2B5EF4-FFF2-40B4-BE49-F238E27FC236}">
                <a16:creationId xmlns:a16="http://schemas.microsoft.com/office/drawing/2014/main" id="{EDD30608-DE10-4250-8AA0-068F8345307A}"/>
              </a:ext>
            </a:extLst>
          </p:cNvPr>
          <p:cNvSpPr txBox="1"/>
          <p:nvPr/>
        </p:nvSpPr>
        <p:spPr>
          <a:xfrm>
            <a:off x="195604" y="666958"/>
            <a:ext cx="8886826" cy="461665"/>
          </a:xfrm>
          <a:prstGeom prst="rect">
            <a:avLst/>
          </a:prstGeom>
          <a:noFill/>
        </p:spPr>
        <p:txBody>
          <a:bodyPr wrap="square">
            <a:spAutoFit/>
          </a:bodyPr>
          <a:lstStyle/>
          <a:p>
            <a:pPr>
              <a:spcAft>
                <a:spcPts val="1800"/>
              </a:spcAft>
            </a:pPr>
            <a:r>
              <a:rPr lang="en-US" altLang="zh-CN" sz="2400" b="1" dirty="0"/>
              <a:t>R22 with </a:t>
            </a:r>
            <a:r>
              <a:rPr lang="en-US" altLang="zh-CN" sz="2400" b="1" i="1" dirty="0"/>
              <a:t>v</a:t>
            </a:r>
            <a:r>
              <a:rPr lang="en-US" altLang="zh-CN" sz="2400" b="1" dirty="0"/>
              <a:t> = 0.0065 m</a:t>
            </a:r>
            <a:r>
              <a:rPr lang="en-US" altLang="zh-CN" sz="2400" b="1" baseline="30000" dirty="0"/>
              <a:t>3</a:t>
            </a:r>
            <a:r>
              <a:rPr lang="en-US" altLang="zh-CN" sz="2400" b="1" dirty="0"/>
              <a:t>/kg and </a:t>
            </a:r>
            <a:r>
              <a:rPr lang="en-US" altLang="zh-CN" sz="2400" b="1" i="1" dirty="0"/>
              <a:t>u</a:t>
            </a:r>
            <a:r>
              <a:rPr lang="en-US" altLang="zh-CN" sz="2400" b="1" dirty="0"/>
              <a:t> = 162 kJ/kg.  Find </a:t>
            </a:r>
            <a:r>
              <a:rPr lang="en-US" altLang="zh-CN" sz="2400" b="1" i="1" dirty="0"/>
              <a:t>T</a:t>
            </a:r>
            <a:r>
              <a:rPr lang="en-US" altLang="zh-CN" sz="2400" b="1" dirty="0"/>
              <a:t>, </a:t>
            </a:r>
            <a:r>
              <a:rPr lang="en-US" altLang="zh-CN" sz="2400" b="1" i="1" dirty="0"/>
              <a:t>p</a:t>
            </a:r>
            <a:r>
              <a:rPr lang="en-US" altLang="zh-CN" sz="2400" b="1" dirty="0"/>
              <a:t>, </a:t>
            </a:r>
            <a:r>
              <a:rPr lang="en-US" altLang="zh-CN" sz="2400" b="1" i="1" dirty="0"/>
              <a:t>x</a:t>
            </a:r>
            <a:r>
              <a:rPr lang="en-US" altLang="zh-CN" sz="2400" b="1" dirty="0"/>
              <a:t>. </a:t>
            </a:r>
          </a:p>
        </p:txBody>
      </p:sp>
      <p:sp>
        <p:nvSpPr>
          <p:cNvPr id="17" name="Rectangle 16">
            <a:extLst>
              <a:ext uri="{FF2B5EF4-FFF2-40B4-BE49-F238E27FC236}">
                <a16:creationId xmlns:a16="http://schemas.microsoft.com/office/drawing/2014/main" id="{7F719160-7F6D-4F00-AE50-C924C4E0081F}"/>
              </a:ext>
            </a:extLst>
          </p:cNvPr>
          <p:cNvSpPr/>
          <p:nvPr/>
        </p:nvSpPr>
        <p:spPr>
          <a:xfrm>
            <a:off x="1399153" y="1944610"/>
            <a:ext cx="6345693" cy="3293209"/>
          </a:xfrm>
          <a:prstGeom prst="rect">
            <a:avLst/>
          </a:prstGeom>
        </p:spPr>
        <p:txBody>
          <a:bodyPr wrap="square">
            <a:spAutoFit/>
          </a:bodyPr>
          <a:lstStyle/>
          <a:p>
            <a:r>
              <a:rPr lang="en-US" altLang="zh-CN" sz="2400" b="1" dirty="0">
                <a:solidFill>
                  <a:srgbClr val="FF0000"/>
                </a:solidFill>
              </a:rPr>
              <a:t>Need </a:t>
            </a:r>
            <a:r>
              <a:rPr lang="en-US" altLang="zh-CN" sz="2400" b="1" u="sng" dirty="0">
                <a:solidFill>
                  <a:srgbClr val="FF0000"/>
                </a:solidFill>
              </a:rPr>
              <a:t>trial and error </a:t>
            </a:r>
            <a:r>
              <a:rPr lang="en-US" altLang="zh-CN" sz="2400" b="1" dirty="0">
                <a:solidFill>
                  <a:srgbClr val="FF0000"/>
                </a:solidFill>
              </a:rPr>
              <a:t>to find the properties.</a:t>
            </a:r>
          </a:p>
          <a:p>
            <a:endParaRPr lang="en-US" altLang="zh-CN" sz="2400" b="1" dirty="0">
              <a:solidFill>
                <a:srgbClr val="FF0000"/>
              </a:solidFill>
            </a:endParaRPr>
          </a:p>
          <a:p>
            <a:r>
              <a:rPr lang="en-US" altLang="zh-CN" sz="2400" b="1" dirty="0">
                <a:solidFill>
                  <a:srgbClr val="FF0000"/>
                </a:solidFill>
              </a:rPr>
              <a:t>Guess </a:t>
            </a:r>
            <a:r>
              <a:rPr lang="en-US" altLang="zh-CN" sz="2400" b="1" i="1" dirty="0">
                <a:solidFill>
                  <a:srgbClr val="FF0000"/>
                </a:solidFill>
              </a:rPr>
              <a:t>T</a:t>
            </a:r>
            <a:r>
              <a:rPr lang="en-US" altLang="zh-CN" sz="2400" b="1" dirty="0">
                <a:solidFill>
                  <a:srgbClr val="FF0000"/>
                </a:solidFill>
              </a:rPr>
              <a:t> …</a:t>
            </a:r>
          </a:p>
          <a:p>
            <a:endParaRPr lang="en-US" altLang="zh-CN" sz="2400" b="1" dirty="0">
              <a:solidFill>
                <a:srgbClr val="FF0000"/>
              </a:solidFill>
            </a:endParaRPr>
          </a:p>
          <a:p>
            <a:endParaRPr lang="en-US" altLang="zh-CN" sz="2400" b="1" dirty="0">
              <a:solidFill>
                <a:srgbClr val="FF0000"/>
              </a:solidFill>
            </a:endParaRPr>
          </a:p>
          <a:p>
            <a:endParaRPr lang="en-US" altLang="zh-CN" sz="2400" b="1" dirty="0">
              <a:solidFill>
                <a:srgbClr val="FF0000"/>
              </a:solidFill>
            </a:endParaRPr>
          </a:p>
          <a:p>
            <a:r>
              <a:rPr lang="en-US" altLang="zh-CN" sz="2400" b="1" dirty="0">
                <a:solidFill>
                  <a:srgbClr val="FF0000"/>
                </a:solidFill>
              </a:rPr>
              <a:t>Because the tables are tabulated using </a:t>
            </a:r>
            <a:r>
              <a:rPr lang="en-US" altLang="zh-CN" sz="2400" b="1" i="1" dirty="0">
                <a:solidFill>
                  <a:srgbClr val="FF0000"/>
                </a:solidFill>
              </a:rPr>
              <a:t>T</a:t>
            </a:r>
            <a:r>
              <a:rPr lang="en-US" altLang="zh-CN" sz="2400" b="1" dirty="0">
                <a:solidFill>
                  <a:srgbClr val="FF0000"/>
                </a:solidFill>
              </a:rPr>
              <a:t> or </a:t>
            </a:r>
            <a:r>
              <a:rPr lang="en-US" altLang="zh-CN" sz="2400" b="1" i="1" dirty="0">
                <a:solidFill>
                  <a:srgbClr val="FF0000"/>
                </a:solidFill>
              </a:rPr>
              <a:t>P</a:t>
            </a:r>
            <a:r>
              <a:rPr lang="en-US" altLang="zh-CN" sz="2400" b="1" dirty="0">
                <a:solidFill>
                  <a:srgbClr val="FF0000"/>
                </a:solidFill>
              </a:rPr>
              <a:t> as the main parameters, not </a:t>
            </a:r>
            <a:r>
              <a:rPr lang="en-US" altLang="zh-CN" sz="2400" b="1" i="1" dirty="0">
                <a:solidFill>
                  <a:srgbClr val="FF0000"/>
                </a:solidFill>
              </a:rPr>
              <a:t>v</a:t>
            </a:r>
            <a:r>
              <a:rPr lang="en-US" altLang="zh-CN" sz="2400" b="1" dirty="0">
                <a:solidFill>
                  <a:srgbClr val="FF0000"/>
                </a:solidFill>
              </a:rPr>
              <a:t> or </a:t>
            </a:r>
            <a:r>
              <a:rPr lang="en-US" altLang="zh-CN" sz="2400" b="1" i="1" dirty="0">
                <a:solidFill>
                  <a:srgbClr val="FF0000"/>
                </a:solidFill>
              </a:rPr>
              <a:t>u</a:t>
            </a:r>
          </a:p>
          <a:p>
            <a:endParaRPr lang="en-US" sz="2400" b="1" baseline="-25000" dirty="0">
              <a:solidFill>
                <a:srgbClr val="FF0000"/>
              </a:solidFill>
            </a:endParaRPr>
          </a:p>
        </p:txBody>
      </p:sp>
    </p:spTree>
    <p:extLst>
      <p:ext uri="{BB962C8B-B14F-4D97-AF65-F5344CB8AC3E}">
        <p14:creationId xmlns:p14="http://schemas.microsoft.com/office/powerpoint/2010/main" val="46642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0" name="TextBox 9">
            <a:extLst>
              <a:ext uri="{FF2B5EF4-FFF2-40B4-BE49-F238E27FC236}">
                <a16:creationId xmlns:a16="http://schemas.microsoft.com/office/drawing/2014/main" id="{EDD30608-DE10-4250-8AA0-068F8345307A}"/>
              </a:ext>
            </a:extLst>
          </p:cNvPr>
          <p:cNvSpPr txBox="1"/>
          <p:nvPr/>
        </p:nvSpPr>
        <p:spPr>
          <a:xfrm>
            <a:off x="195604" y="666958"/>
            <a:ext cx="8886826" cy="461665"/>
          </a:xfrm>
          <a:prstGeom prst="rect">
            <a:avLst/>
          </a:prstGeom>
          <a:noFill/>
        </p:spPr>
        <p:txBody>
          <a:bodyPr wrap="square">
            <a:spAutoFit/>
          </a:bodyPr>
          <a:lstStyle/>
          <a:p>
            <a:pPr>
              <a:spcAft>
                <a:spcPts val="1800"/>
              </a:spcAft>
            </a:pPr>
            <a:r>
              <a:rPr lang="en-US" altLang="zh-CN" sz="2400" b="1" dirty="0"/>
              <a:t>R22 with </a:t>
            </a:r>
            <a:r>
              <a:rPr lang="en-US" altLang="zh-CN" sz="2400" b="1" i="1" dirty="0"/>
              <a:t>v</a:t>
            </a:r>
            <a:r>
              <a:rPr lang="en-US" altLang="zh-CN" sz="2400" b="1" dirty="0"/>
              <a:t> = 0.0065 m</a:t>
            </a:r>
            <a:r>
              <a:rPr lang="en-US" altLang="zh-CN" sz="2400" b="1" baseline="30000" dirty="0"/>
              <a:t>3</a:t>
            </a:r>
            <a:r>
              <a:rPr lang="en-US" altLang="zh-CN" sz="2400" b="1" dirty="0"/>
              <a:t>/kg and </a:t>
            </a:r>
            <a:r>
              <a:rPr lang="en-US" altLang="zh-CN" sz="2400" b="1" i="1" dirty="0"/>
              <a:t>u</a:t>
            </a:r>
            <a:r>
              <a:rPr lang="en-US" altLang="zh-CN" sz="2400" b="1" dirty="0"/>
              <a:t> = 162 kJ/kg.  Find </a:t>
            </a:r>
            <a:r>
              <a:rPr lang="en-US" altLang="zh-CN" sz="2400" b="1" i="1" dirty="0"/>
              <a:t>T</a:t>
            </a:r>
            <a:r>
              <a:rPr lang="en-US" altLang="zh-CN" sz="2400" b="1" dirty="0"/>
              <a:t>, </a:t>
            </a:r>
            <a:r>
              <a:rPr lang="en-US" altLang="zh-CN" sz="2400" b="1" i="1" dirty="0"/>
              <a:t>p</a:t>
            </a:r>
            <a:r>
              <a:rPr lang="en-US" altLang="zh-CN" sz="2400" b="1" dirty="0"/>
              <a:t>, </a:t>
            </a:r>
            <a:r>
              <a:rPr lang="en-US" altLang="zh-CN" sz="2400" b="1" i="1" dirty="0"/>
              <a:t>x</a:t>
            </a:r>
            <a:r>
              <a:rPr lang="en-US" altLang="zh-CN" sz="2400" b="1" dirty="0"/>
              <a:t>. </a:t>
            </a:r>
          </a:p>
        </p:txBody>
      </p:sp>
      <p:pic>
        <p:nvPicPr>
          <p:cNvPr id="7" name="Picture 2">
            <a:extLst>
              <a:ext uri="{FF2B5EF4-FFF2-40B4-BE49-F238E27FC236}">
                <a16:creationId xmlns:a16="http://schemas.microsoft.com/office/drawing/2014/main" id="{96644D24-6DAC-4DAA-B42A-0B4E50321C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802" y="1295987"/>
            <a:ext cx="8640396" cy="17280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FC04E91C-BDA4-4168-8010-45AB79C5CD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430" y="2983666"/>
            <a:ext cx="8531419" cy="2413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8103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0" name="TextBox 9">
            <a:extLst>
              <a:ext uri="{FF2B5EF4-FFF2-40B4-BE49-F238E27FC236}">
                <a16:creationId xmlns:a16="http://schemas.microsoft.com/office/drawing/2014/main" id="{EDD30608-DE10-4250-8AA0-068F8345307A}"/>
              </a:ext>
            </a:extLst>
          </p:cNvPr>
          <p:cNvSpPr txBox="1"/>
          <p:nvPr/>
        </p:nvSpPr>
        <p:spPr>
          <a:xfrm>
            <a:off x="195604" y="666958"/>
            <a:ext cx="8886826" cy="461665"/>
          </a:xfrm>
          <a:prstGeom prst="rect">
            <a:avLst/>
          </a:prstGeom>
          <a:noFill/>
        </p:spPr>
        <p:txBody>
          <a:bodyPr wrap="square">
            <a:spAutoFit/>
          </a:bodyPr>
          <a:lstStyle/>
          <a:p>
            <a:pPr>
              <a:spcAft>
                <a:spcPts val="1800"/>
              </a:spcAft>
            </a:pPr>
            <a:r>
              <a:rPr lang="en-US" altLang="zh-CN" sz="2400" b="1" dirty="0"/>
              <a:t>R22 with </a:t>
            </a:r>
            <a:r>
              <a:rPr lang="en-US" altLang="zh-CN" sz="2400" b="1" i="1" dirty="0"/>
              <a:t>v</a:t>
            </a:r>
            <a:r>
              <a:rPr lang="en-US" altLang="zh-CN" sz="2400" b="1" dirty="0"/>
              <a:t> = 0.0065 m</a:t>
            </a:r>
            <a:r>
              <a:rPr lang="en-US" altLang="zh-CN" sz="2400" b="1" baseline="30000" dirty="0"/>
              <a:t>3</a:t>
            </a:r>
            <a:r>
              <a:rPr lang="en-US" altLang="zh-CN" sz="2400" b="1" dirty="0"/>
              <a:t>/kg and </a:t>
            </a:r>
            <a:r>
              <a:rPr lang="en-US" altLang="zh-CN" sz="2400" b="1" i="1" dirty="0"/>
              <a:t>u</a:t>
            </a:r>
            <a:r>
              <a:rPr lang="en-US" altLang="zh-CN" sz="2400" b="1" dirty="0"/>
              <a:t> = 162 kJ/kg.  Find </a:t>
            </a:r>
            <a:r>
              <a:rPr lang="en-US" altLang="zh-CN" sz="2400" b="1" i="1" dirty="0"/>
              <a:t>T</a:t>
            </a:r>
            <a:r>
              <a:rPr lang="en-US" altLang="zh-CN" sz="2400" b="1" dirty="0"/>
              <a:t>, </a:t>
            </a:r>
            <a:r>
              <a:rPr lang="en-US" altLang="zh-CN" sz="2400" b="1" i="1" dirty="0"/>
              <a:t>p</a:t>
            </a:r>
            <a:r>
              <a:rPr lang="en-US" altLang="zh-CN" sz="2400" b="1" dirty="0"/>
              <a:t>, </a:t>
            </a:r>
            <a:r>
              <a:rPr lang="en-US" altLang="zh-CN" sz="2400" b="1" i="1" dirty="0"/>
              <a:t>x</a:t>
            </a:r>
            <a:r>
              <a:rPr lang="en-US" altLang="zh-CN" sz="2400" b="1" dirty="0"/>
              <a:t>. </a:t>
            </a:r>
          </a:p>
        </p:txBody>
      </p:sp>
      <p:pic>
        <p:nvPicPr>
          <p:cNvPr id="7" name="Picture 2">
            <a:extLst>
              <a:ext uri="{FF2B5EF4-FFF2-40B4-BE49-F238E27FC236}">
                <a16:creationId xmlns:a16="http://schemas.microsoft.com/office/drawing/2014/main" id="{96644D24-6DAC-4DAA-B42A-0B4E50321C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802" y="1295987"/>
            <a:ext cx="8640396" cy="17280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FC04E91C-BDA4-4168-8010-45AB79C5CD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430" y="2983666"/>
            <a:ext cx="8531419" cy="2413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DDCF5BB-49ED-4B45-BC89-04A3ACABC782}"/>
                  </a:ext>
                </a:extLst>
              </p:cNvPr>
              <p:cNvSpPr txBox="1"/>
              <p:nvPr/>
            </p:nvSpPr>
            <p:spPr>
              <a:xfrm>
                <a:off x="2939848" y="5377347"/>
                <a:ext cx="81041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find</m:t>
                      </m:r>
                      <m:r>
                        <a:rPr lang="en-US" b="0" i="1" smtClean="0">
                          <a:latin typeface="Cambria Math" panose="02040503050406030204" pitchFamily="18" charset="0"/>
                        </a:rPr>
                        <m:t> </m:t>
                      </m:r>
                      <m:r>
                        <a:rPr lang="en-US" b="0" i="1" smtClean="0">
                          <a:latin typeface="Cambria Math" panose="02040503050406030204" pitchFamily="18" charset="0"/>
                        </a:rPr>
                        <m:t>𝑥</m:t>
                      </m:r>
                    </m:oMath>
                  </m:oMathPara>
                </a14:m>
                <a:endParaRPr lang="en-US" dirty="0"/>
              </a:p>
            </p:txBody>
          </p:sp>
        </mc:Choice>
        <mc:Fallback xmlns="">
          <p:sp>
            <p:nvSpPr>
              <p:cNvPr id="2" name="TextBox 1">
                <a:extLst>
                  <a:ext uri="{FF2B5EF4-FFF2-40B4-BE49-F238E27FC236}">
                    <a16:creationId xmlns:a16="http://schemas.microsoft.com/office/drawing/2014/main" id="{CDDCF5BB-49ED-4B45-BC89-04A3ACABC782}"/>
                  </a:ext>
                </a:extLst>
              </p:cNvPr>
              <p:cNvSpPr txBox="1">
                <a:spLocks noRot="1" noChangeAspect="1" noMove="1" noResize="1" noEditPoints="1" noAdjustHandles="1" noChangeArrowheads="1" noChangeShapeType="1" noTextEdit="1"/>
              </p:cNvSpPr>
              <p:nvPr/>
            </p:nvSpPr>
            <p:spPr>
              <a:xfrm>
                <a:off x="2939848" y="5377347"/>
                <a:ext cx="81041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B4E4E5D-A5FC-4E8C-84B8-571F42E26BFA}"/>
                  </a:ext>
                </a:extLst>
              </p:cNvPr>
              <p:cNvSpPr txBox="1"/>
              <p:nvPr/>
            </p:nvSpPr>
            <p:spPr>
              <a:xfrm>
                <a:off x="354330" y="5694889"/>
                <a:ext cx="61807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@45</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m:t>
                      </m:r>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get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=0.455;     </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get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=0.449 →</m:t>
                      </m:r>
                      <m:r>
                        <m:rPr>
                          <m:sty m:val="p"/>
                        </m:rPr>
                        <a:rPr lang="en-US" b="0" i="0" smtClean="0">
                          <a:latin typeface="Cambria Math" panose="02040503050406030204" pitchFamily="18" charset="0"/>
                          <a:ea typeface="Cambria Math" panose="02040503050406030204" pitchFamily="18" charset="0"/>
                        </a:rPr>
                        <m:t>close</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enough</m:t>
                      </m:r>
                    </m:oMath>
                  </m:oMathPara>
                </a14:m>
                <a:endParaRPr lang="en-US" dirty="0"/>
              </a:p>
            </p:txBody>
          </p:sp>
        </mc:Choice>
        <mc:Fallback xmlns="">
          <p:sp>
            <p:nvSpPr>
              <p:cNvPr id="6" name="TextBox 5">
                <a:extLst>
                  <a:ext uri="{FF2B5EF4-FFF2-40B4-BE49-F238E27FC236}">
                    <a16:creationId xmlns:a16="http://schemas.microsoft.com/office/drawing/2014/main" id="{3B4E4E5D-A5FC-4E8C-84B8-571F42E26BFA}"/>
                  </a:ext>
                </a:extLst>
              </p:cNvPr>
              <p:cNvSpPr txBox="1">
                <a:spLocks noRot="1" noChangeAspect="1" noMove="1" noResize="1" noEditPoints="1" noAdjustHandles="1" noChangeArrowheads="1" noChangeShapeType="1" noTextEdit="1"/>
              </p:cNvSpPr>
              <p:nvPr/>
            </p:nvSpPr>
            <p:spPr>
              <a:xfrm>
                <a:off x="354330" y="5694889"/>
                <a:ext cx="6180731" cy="276999"/>
              </a:xfrm>
              <a:prstGeom prst="rect">
                <a:avLst/>
              </a:prstGeom>
              <a:blipFill>
                <a:blip r:embed="rId7"/>
                <a:stretch>
                  <a:fillRect t="-2174"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EAE9203-9668-4D35-AA35-BA38C99730CB}"/>
                  </a:ext>
                </a:extLst>
              </p:cNvPr>
              <p:cNvSpPr txBox="1"/>
              <p:nvPr/>
            </p:nvSpPr>
            <p:spPr>
              <a:xfrm>
                <a:off x="1328477" y="6103700"/>
                <a:ext cx="283096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=17.298 </m:t>
                      </m:r>
                      <m:r>
                        <a:rPr lang="en-US" b="0" i="1" smtClean="0">
                          <a:latin typeface="Cambria Math" panose="02040503050406030204" pitchFamily="18" charset="0"/>
                        </a:rPr>
                        <m:t>𝑏𝑎𝑟</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=0.45</m:t>
                      </m:r>
                    </m:oMath>
                  </m:oMathPara>
                </a14:m>
                <a:endParaRPr lang="en-US" dirty="0"/>
              </a:p>
            </p:txBody>
          </p:sp>
        </mc:Choice>
        <mc:Fallback xmlns="">
          <p:sp>
            <p:nvSpPr>
              <p:cNvPr id="9" name="TextBox 8">
                <a:extLst>
                  <a:ext uri="{FF2B5EF4-FFF2-40B4-BE49-F238E27FC236}">
                    <a16:creationId xmlns:a16="http://schemas.microsoft.com/office/drawing/2014/main" id="{BEAE9203-9668-4D35-AA35-BA38C99730CB}"/>
                  </a:ext>
                </a:extLst>
              </p:cNvPr>
              <p:cNvSpPr txBox="1">
                <a:spLocks noRot="1" noChangeAspect="1" noMove="1" noResize="1" noEditPoints="1" noAdjustHandles="1" noChangeArrowheads="1" noChangeShapeType="1" noTextEdit="1"/>
              </p:cNvSpPr>
              <p:nvPr/>
            </p:nvSpPr>
            <p:spPr>
              <a:xfrm>
                <a:off x="1328477" y="6103700"/>
                <a:ext cx="2830968" cy="276999"/>
              </a:xfrm>
              <a:prstGeom prst="rect">
                <a:avLst/>
              </a:prstGeom>
              <a:blipFill>
                <a:blip r:embed="rId8"/>
                <a:stretch>
                  <a:fillRect l="-1509" r="-1940" b="-13043"/>
                </a:stretch>
              </a:blipFill>
            </p:spPr>
            <p:txBody>
              <a:bodyPr/>
              <a:lstStyle/>
              <a:p>
                <a:r>
                  <a:rPr lang="en-US">
                    <a:noFill/>
                  </a:rPr>
                  <a:t> </a:t>
                </a:r>
              </a:p>
            </p:txBody>
          </p:sp>
        </mc:Fallback>
      </mc:AlternateContent>
    </p:spTree>
    <p:extLst>
      <p:ext uri="{BB962C8B-B14F-4D97-AF65-F5344CB8AC3E}">
        <p14:creationId xmlns:p14="http://schemas.microsoft.com/office/powerpoint/2010/main" val="1908790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To Find Properties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Rectangle 5">
            <a:extLst>
              <a:ext uri="{FF2B5EF4-FFF2-40B4-BE49-F238E27FC236}">
                <a16:creationId xmlns:a16="http://schemas.microsoft.com/office/drawing/2014/main" id="{BE4A7AB6-40E8-441A-8D8C-46E58BCAABCC}"/>
              </a:ext>
            </a:extLst>
          </p:cNvPr>
          <p:cNvSpPr>
            <a:spLocks noChangeArrowheads="1"/>
          </p:cNvSpPr>
          <p:nvPr/>
        </p:nvSpPr>
        <p:spPr bwMode="auto">
          <a:xfrm>
            <a:off x="4511870" y="6456656"/>
            <a:ext cx="677332" cy="3640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2000">
                <a:solidFill>
                  <a:schemeClr val="tx1"/>
                </a:solidFill>
                <a:latin typeface="Times New Roman" charset="0"/>
              </a:defRPr>
            </a:lvl1pPr>
            <a:lvl2pPr marL="742950" indent="-285750" eaLnBrk="0" hangingPunct="0">
              <a:spcBef>
                <a:spcPct val="20000"/>
              </a:spcBef>
              <a:buChar char="–"/>
              <a:defRPr>
                <a:solidFill>
                  <a:schemeClr val="tx1"/>
                </a:solidFill>
                <a:latin typeface="Times New Roman" charset="0"/>
              </a:defRPr>
            </a:lvl2pPr>
            <a:lvl3pPr marL="1143000" indent="-228600" eaLnBrk="0" hangingPunct="0">
              <a:spcBef>
                <a:spcPct val="20000"/>
              </a:spcBef>
              <a:buChar char="•"/>
              <a:defRPr sz="1600">
                <a:solidFill>
                  <a:schemeClr val="tx1"/>
                </a:solidFill>
                <a:latin typeface="Times New Roman" charset="0"/>
              </a:defRPr>
            </a:lvl3pPr>
            <a:lvl4pPr marL="1600200" indent="-228600" eaLnBrk="0" hangingPunct="0">
              <a:spcBef>
                <a:spcPct val="20000"/>
              </a:spcBef>
              <a:buChar char="–"/>
              <a:defRPr sz="1400">
                <a:solidFill>
                  <a:schemeClr val="tx1"/>
                </a:solidFill>
                <a:latin typeface="Times New Roman" charset="0"/>
              </a:defRPr>
            </a:lvl4pPr>
            <a:lvl5pPr marL="2057400" indent="-228600" eaLnBrk="0" hangingPunct="0">
              <a:spcBef>
                <a:spcPct val="20000"/>
              </a:spcBef>
              <a:buChar char="»"/>
              <a:defRPr sz="1400">
                <a:solidFill>
                  <a:schemeClr val="tx1"/>
                </a:solidFill>
                <a:latin typeface="Times New Roman" charset="0"/>
              </a:defRPr>
            </a:lvl5pPr>
            <a:lvl6pPr marL="2514600" indent="-228600" eaLnBrk="0" fontAlgn="base" hangingPunct="0">
              <a:spcBef>
                <a:spcPct val="20000"/>
              </a:spcBef>
              <a:spcAft>
                <a:spcPct val="0"/>
              </a:spcAft>
              <a:buChar char="»"/>
              <a:defRPr sz="1400">
                <a:solidFill>
                  <a:schemeClr val="tx1"/>
                </a:solidFill>
                <a:latin typeface="Times New Roman" charset="0"/>
              </a:defRPr>
            </a:lvl6pPr>
            <a:lvl7pPr marL="2971800" indent="-228600" eaLnBrk="0" fontAlgn="base" hangingPunct="0">
              <a:spcBef>
                <a:spcPct val="20000"/>
              </a:spcBef>
              <a:spcAft>
                <a:spcPct val="0"/>
              </a:spcAft>
              <a:buChar char="»"/>
              <a:defRPr sz="1400">
                <a:solidFill>
                  <a:schemeClr val="tx1"/>
                </a:solidFill>
                <a:latin typeface="Times New Roman" charset="0"/>
              </a:defRPr>
            </a:lvl7pPr>
            <a:lvl8pPr marL="3429000" indent="-228600" eaLnBrk="0" fontAlgn="base" hangingPunct="0">
              <a:spcBef>
                <a:spcPct val="20000"/>
              </a:spcBef>
              <a:spcAft>
                <a:spcPct val="0"/>
              </a:spcAft>
              <a:buChar char="»"/>
              <a:defRPr sz="1400">
                <a:solidFill>
                  <a:schemeClr val="tx1"/>
                </a:solidFill>
                <a:latin typeface="Times New Roman" charset="0"/>
              </a:defRPr>
            </a:lvl8pPr>
            <a:lvl9pPr marL="3886200" indent="-228600" eaLnBrk="0" fontAlgn="base" hangingPunct="0">
              <a:spcBef>
                <a:spcPct val="20000"/>
              </a:spcBef>
              <a:spcAft>
                <a:spcPct val="0"/>
              </a:spcAft>
              <a:buChar char="»"/>
              <a:defRPr sz="1400">
                <a:solidFill>
                  <a:schemeClr val="tx1"/>
                </a:solidFill>
                <a:latin typeface="Times New Roman" charset="0"/>
              </a:defRPr>
            </a:lvl9pPr>
          </a:lstStyle>
          <a:p>
            <a:pPr eaLnBrk="1" hangingPunct="1">
              <a:spcBef>
                <a:spcPct val="0"/>
              </a:spcBef>
              <a:buFontTx/>
              <a:buNone/>
            </a:pPr>
            <a:endParaRPr lang="en-US" altLang="en-US" sz="2400"/>
          </a:p>
        </p:txBody>
      </p:sp>
      <p:pic>
        <p:nvPicPr>
          <p:cNvPr id="16" name="Picture 1">
            <a:extLst>
              <a:ext uri="{FF2B5EF4-FFF2-40B4-BE49-F238E27FC236}">
                <a16:creationId xmlns:a16="http://schemas.microsoft.com/office/drawing/2014/main" id="{858567F1-6751-4046-9B12-809AB63015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3329" y="1554650"/>
            <a:ext cx="5657850" cy="3146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8000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To Find Properties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Rectangle 5">
            <a:extLst>
              <a:ext uri="{FF2B5EF4-FFF2-40B4-BE49-F238E27FC236}">
                <a16:creationId xmlns:a16="http://schemas.microsoft.com/office/drawing/2014/main" id="{BE4A7AB6-40E8-441A-8D8C-46E58BCAABCC}"/>
              </a:ext>
            </a:extLst>
          </p:cNvPr>
          <p:cNvSpPr>
            <a:spLocks noChangeArrowheads="1"/>
          </p:cNvSpPr>
          <p:nvPr/>
        </p:nvSpPr>
        <p:spPr bwMode="auto">
          <a:xfrm>
            <a:off x="4511870" y="6456656"/>
            <a:ext cx="677332" cy="3640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2000">
                <a:solidFill>
                  <a:schemeClr val="tx1"/>
                </a:solidFill>
                <a:latin typeface="Times New Roman" charset="0"/>
              </a:defRPr>
            </a:lvl1pPr>
            <a:lvl2pPr marL="742950" indent="-285750" eaLnBrk="0" hangingPunct="0">
              <a:spcBef>
                <a:spcPct val="20000"/>
              </a:spcBef>
              <a:buChar char="–"/>
              <a:defRPr>
                <a:solidFill>
                  <a:schemeClr val="tx1"/>
                </a:solidFill>
                <a:latin typeface="Times New Roman" charset="0"/>
              </a:defRPr>
            </a:lvl2pPr>
            <a:lvl3pPr marL="1143000" indent="-228600" eaLnBrk="0" hangingPunct="0">
              <a:spcBef>
                <a:spcPct val="20000"/>
              </a:spcBef>
              <a:buChar char="•"/>
              <a:defRPr sz="1600">
                <a:solidFill>
                  <a:schemeClr val="tx1"/>
                </a:solidFill>
                <a:latin typeface="Times New Roman" charset="0"/>
              </a:defRPr>
            </a:lvl3pPr>
            <a:lvl4pPr marL="1600200" indent="-228600" eaLnBrk="0" hangingPunct="0">
              <a:spcBef>
                <a:spcPct val="20000"/>
              </a:spcBef>
              <a:buChar char="–"/>
              <a:defRPr sz="1400">
                <a:solidFill>
                  <a:schemeClr val="tx1"/>
                </a:solidFill>
                <a:latin typeface="Times New Roman" charset="0"/>
              </a:defRPr>
            </a:lvl4pPr>
            <a:lvl5pPr marL="2057400" indent="-228600" eaLnBrk="0" hangingPunct="0">
              <a:spcBef>
                <a:spcPct val="20000"/>
              </a:spcBef>
              <a:buChar char="»"/>
              <a:defRPr sz="1400">
                <a:solidFill>
                  <a:schemeClr val="tx1"/>
                </a:solidFill>
                <a:latin typeface="Times New Roman" charset="0"/>
              </a:defRPr>
            </a:lvl5pPr>
            <a:lvl6pPr marL="2514600" indent="-228600" eaLnBrk="0" fontAlgn="base" hangingPunct="0">
              <a:spcBef>
                <a:spcPct val="20000"/>
              </a:spcBef>
              <a:spcAft>
                <a:spcPct val="0"/>
              </a:spcAft>
              <a:buChar char="»"/>
              <a:defRPr sz="1400">
                <a:solidFill>
                  <a:schemeClr val="tx1"/>
                </a:solidFill>
                <a:latin typeface="Times New Roman" charset="0"/>
              </a:defRPr>
            </a:lvl6pPr>
            <a:lvl7pPr marL="2971800" indent="-228600" eaLnBrk="0" fontAlgn="base" hangingPunct="0">
              <a:spcBef>
                <a:spcPct val="20000"/>
              </a:spcBef>
              <a:spcAft>
                <a:spcPct val="0"/>
              </a:spcAft>
              <a:buChar char="»"/>
              <a:defRPr sz="1400">
                <a:solidFill>
                  <a:schemeClr val="tx1"/>
                </a:solidFill>
                <a:latin typeface="Times New Roman" charset="0"/>
              </a:defRPr>
            </a:lvl7pPr>
            <a:lvl8pPr marL="3429000" indent="-228600" eaLnBrk="0" fontAlgn="base" hangingPunct="0">
              <a:spcBef>
                <a:spcPct val="20000"/>
              </a:spcBef>
              <a:spcAft>
                <a:spcPct val="0"/>
              </a:spcAft>
              <a:buChar char="»"/>
              <a:defRPr sz="1400">
                <a:solidFill>
                  <a:schemeClr val="tx1"/>
                </a:solidFill>
                <a:latin typeface="Times New Roman" charset="0"/>
              </a:defRPr>
            </a:lvl8pPr>
            <a:lvl9pPr marL="3886200" indent="-228600" eaLnBrk="0" fontAlgn="base" hangingPunct="0">
              <a:spcBef>
                <a:spcPct val="20000"/>
              </a:spcBef>
              <a:spcAft>
                <a:spcPct val="0"/>
              </a:spcAft>
              <a:buChar char="»"/>
              <a:defRPr sz="1400">
                <a:solidFill>
                  <a:schemeClr val="tx1"/>
                </a:solidFill>
                <a:latin typeface="Times New Roman" charset="0"/>
              </a:defRPr>
            </a:lvl9pPr>
          </a:lstStyle>
          <a:p>
            <a:pPr eaLnBrk="1" hangingPunct="1">
              <a:spcBef>
                <a:spcPct val="0"/>
              </a:spcBef>
              <a:buFontTx/>
              <a:buNone/>
            </a:pPr>
            <a:endParaRPr lang="en-US" altLang="en-US" sz="2400"/>
          </a:p>
        </p:txBody>
      </p:sp>
      <p:pic>
        <p:nvPicPr>
          <p:cNvPr id="7" name="Picture 1">
            <a:extLst>
              <a:ext uri="{FF2B5EF4-FFF2-40B4-BE49-F238E27FC236}">
                <a16:creationId xmlns:a16="http://schemas.microsoft.com/office/drawing/2014/main" id="{D462699C-B109-4BA0-B513-93307687E4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8485" y="1399291"/>
            <a:ext cx="5657850" cy="3146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a:extLst>
              <a:ext uri="{FF2B5EF4-FFF2-40B4-BE49-F238E27FC236}">
                <a16:creationId xmlns:a16="http://schemas.microsoft.com/office/drawing/2014/main" id="{C886EDF4-3A5E-4F07-99F2-766451D53F86}"/>
              </a:ext>
            </a:extLst>
          </p:cNvPr>
          <p:cNvSpPr/>
          <p:nvPr/>
        </p:nvSpPr>
        <p:spPr>
          <a:xfrm>
            <a:off x="3563825" y="2680173"/>
            <a:ext cx="1105696" cy="461665"/>
          </a:xfrm>
          <a:prstGeom prst="rect">
            <a:avLst/>
          </a:prstGeom>
        </p:spPr>
        <p:txBody>
          <a:bodyPr wrap="square">
            <a:spAutoFit/>
          </a:bodyPr>
          <a:lstStyle/>
          <a:p>
            <a:r>
              <a:rPr lang="en-US" altLang="zh-CN" sz="2400" b="1" dirty="0">
                <a:solidFill>
                  <a:srgbClr val="FF0000"/>
                </a:solidFill>
              </a:rPr>
              <a:t>direct</a:t>
            </a:r>
          </a:p>
        </p:txBody>
      </p:sp>
      <p:sp>
        <p:nvSpPr>
          <p:cNvPr id="9" name="Rectangle 8">
            <a:extLst>
              <a:ext uri="{FF2B5EF4-FFF2-40B4-BE49-F238E27FC236}">
                <a16:creationId xmlns:a16="http://schemas.microsoft.com/office/drawing/2014/main" id="{90C779FF-B6B1-4C24-A00E-B87A3549BB0F}"/>
              </a:ext>
            </a:extLst>
          </p:cNvPr>
          <p:cNvSpPr/>
          <p:nvPr/>
        </p:nvSpPr>
        <p:spPr>
          <a:xfrm>
            <a:off x="6299170" y="2691171"/>
            <a:ext cx="1105696" cy="461665"/>
          </a:xfrm>
          <a:prstGeom prst="rect">
            <a:avLst/>
          </a:prstGeom>
        </p:spPr>
        <p:txBody>
          <a:bodyPr wrap="square">
            <a:spAutoFit/>
          </a:bodyPr>
          <a:lstStyle/>
          <a:p>
            <a:r>
              <a:rPr lang="en-US" altLang="zh-CN" sz="2400" b="1" dirty="0">
                <a:solidFill>
                  <a:srgbClr val="FF0000"/>
                </a:solidFill>
              </a:rPr>
              <a:t>direct</a:t>
            </a:r>
          </a:p>
        </p:txBody>
      </p:sp>
      <p:sp>
        <p:nvSpPr>
          <p:cNvPr id="10" name="Rectangle 9">
            <a:extLst>
              <a:ext uri="{FF2B5EF4-FFF2-40B4-BE49-F238E27FC236}">
                <a16:creationId xmlns:a16="http://schemas.microsoft.com/office/drawing/2014/main" id="{0C1A7D14-0CE8-4688-A418-EFF9E50EEAAD}"/>
              </a:ext>
            </a:extLst>
          </p:cNvPr>
          <p:cNvSpPr/>
          <p:nvPr/>
        </p:nvSpPr>
        <p:spPr>
          <a:xfrm>
            <a:off x="6602398" y="3324337"/>
            <a:ext cx="1105696" cy="461665"/>
          </a:xfrm>
          <a:prstGeom prst="rect">
            <a:avLst/>
          </a:prstGeom>
        </p:spPr>
        <p:txBody>
          <a:bodyPr wrap="square">
            <a:spAutoFit/>
          </a:bodyPr>
          <a:lstStyle/>
          <a:p>
            <a:r>
              <a:rPr lang="en-US" altLang="zh-CN" sz="2400" b="1" dirty="0">
                <a:solidFill>
                  <a:srgbClr val="FF0000"/>
                </a:solidFill>
              </a:rPr>
              <a:t>direct</a:t>
            </a:r>
          </a:p>
        </p:txBody>
      </p:sp>
      <p:sp>
        <p:nvSpPr>
          <p:cNvPr id="11" name="Rectangle 10">
            <a:extLst>
              <a:ext uri="{FF2B5EF4-FFF2-40B4-BE49-F238E27FC236}">
                <a16:creationId xmlns:a16="http://schemas.microsoft.com/office/drawing/2014/main" id="{D36523B5-3EE5-45A6-A857-CF215646854C}"/>
              </a:ext>
            </a:extLst>
          </p:cNvPr>
          <p:cNvSpPr/>
          <p:nvPr/>
        </p:nvSpPr>
        <p:spPr>
          <a:xfrm>
            <a:off x="6368298" y="3976358"/>
            <a:ext cx="2609272" cy="1200329"/>
          </a:xfrm>
          <a:prstGeom prst="rect">
            <a:avLst/>
          </a:prstGeom>
        </p:spPr>
        <p:txBody>
          <a:bodyPr wrap="square">
            <a:spAutoFit/>
          </a:bodyPr>
          <a:lstStyle/>
          <a:p>
            <a:r>
              <a:rPr lang="en-US" altLang="zh-CN" sz="2400" b="1" dirty="0">
                <a:solidFill>
                  <a:srgbClr val="FF0000"/>
                </a:solidFill>
              </a:rPr>
              <a:t>direct, but usually needs double interpolation</a:t>
            </a:r>
          </a:p>
        </p:txBody>
      </p:sp>
      <p:sp>
        <p:nvSpPr>
          <p:cNvPr id="12" name="Rectangle 11">
            <a:extLst>
              <a:ext uri="{FF2B5EF4-FFF2-40B4-BE49-F238E27FC236}">
                <a16:creationId xmlns:a16="http://schemas.microsoft.com/office/drawing/2014/main" id="{DFFB21A4-1EE6-4C47-83A3-DBB73F503B4F}"/>
              </a:ext>
            </a:extLst>
          </p:cNvPr>
          <p:cNvSpPr/>
          <p:nvPr/>
        </p:nvSpPr>
        <p:spPr>
          <a:xfrm>
            <a:off x="3254311" y="3313341"/>
            <a:ext cx="1848841" cy="461665"/>
          </a:xfrm>
          <a:prstGeom prst="rect">
            <a:avLst/>
          </a:prstGeom>
        </p:spPr>
        <p:txBody>
          <a:bodyPr wrap="square">
            <a:spAutoFit/>
          </a:bodyPr>
          <a:lstStyle/>
          <a:p>
            <a:r>
              <a:rPr lang="en-US" altLang="zh-CN" sz="2400" b="1" dirty="0">
                <a:solidFill>
                  <a:srgbClr val="FF0000"/>
                </a:solidFill>
              </a:rPr>
              <a:t>trial &amp; error</a:t>
            </a:r>
          </a:p>
        </p:txBody>
      </p:sp>
      <p:sp>
        <p:nvSpPr>
          <p:cNvPr id="13" name="Rectangle 12">
            <a:extLst>
              <a:ext uri="{FF2B5EF4-FFF2-40B4-BE49-F238E27FC236}">
                <a16:creationId xmlns:a16="http://schemas.microsoft.com/office/drawing/2014/main" id="{25B54E86-77C3-4226-8DC1-64CBB178345C}"/>
              </a:ext>
            </a:extLst>
          </p:cNvPr>
          <p:cNvSpPr/>
          <p:nvPr/>
        </p:nvSpPr>
        <p:spPr>
          <a:xfrm>
            <a:off x="3369003" y="3984226"/>
            <a:ext cx="1848841" cy="461665"/>
          </a:xfrm>
          <a:prstGeom prst="rect">
            <a:avLst/>
          </a:prstGeom>
        </p:spPr>
        <p:txBody>
          <a:bodyPr wrap="square">
            <a:spAutoFit/>
          </a:bodyPr>
          <a:lstStyle/>
          <a:p>
            <a:r>
              <a:rPr lang="en-US" altLang="zh-CN" sz="2400" b="1" dirty="0">
                <a:solidFill>
                  <a:srgbClr val="FF0000"/>
                </a:solidFill>
              </a:rPr>
              <a:t>trial &amp; error</a:t>
            </a:r>
          </a:p>
        </p:txBody>
      </p:sp>
      <p:sp>
        <p:nvSpPr>
          <p:cNvPr id="15" name="Rectangle 14">
            <a:extLst>
              <a:ext uri="{FF2B5EF4-FFF2-40B4-BE49-F238E27FC236}">
                <a16:creationId xmlns:a16="http://schemas.microsoft.com/office/drawing/2014/main" id="{B585C8C8-75A0-48F5-83C1-614A3F6F0B3B}"/>
              </a:ext>
            </a:extLst>
          </p:cNvPr>
          <p:cNvSpPr/>
          <p:nvPr/>
        </p:nvSpPr>
        <p:spPr>
          <a:xfrm>
            <a:off x="2236217" y="4585954"/>
            <a:ext cx="2621839" cy="461665"/>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(T or P, z)</a:t>
            </a:r>
            <a:r>
              <a:rPr lang="en-US" altLang="zh-CN" sz="2400" b="1" dirty="0">
                <a:solidFill>
                  <a:srgbClr val="FF0000"/>
                </a:solidFill>
              </a:rPr>
              <a:t>  direct</a:t>
            </a:r>
          </a:p>
        </p:txBody>
      </p:sp>
    </p:spTree>
    <p:extLst>
      <p:ext uri="{BB962C8B-B14F-4D97-AF65-F5344CB8AC3E}">
        <p14:creationId xmlns:p14="http://schemas.microsoft.com/office/powerpoint/2010/main" val="362695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 – Cans </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Rectangle 5">
            <a:extLst>
              <a:ext uri="{FF2B5EF4-FFF2-40B4-BE49-F238E27FC236}">
                <a16:creationId xmlns:a16="http://schemas.microsoft.com/office/drawing/2014/main" id="{BE4A7AB6-40E8-441A-8D8C-46E58BCAABCC}"/>
              </a:ext>
            </a:extLst>
          </p:cNvPr>
          <p:cNvSpPr>
            <a:spLocks noChangeArrowheads="1"/>
          </p:cNvSpPr>
          <p:nvPr/>
        </p:nvSpPr>
        <p:spPr bwMode="auto">
          <a:xfrm>
            <a:off x="4511870" y="6456656"/>
            <a:ext cx="677332" cy="3640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2000">
                <a:solidFill>
                  <a:schemeClr val="tx1"/>
                </a:solidFill>
                <a:latin typeface="Times New Roman" charset="0"/>
              </a:defRPr>
            </a:lvl1pPr>
            <a:lvl2pPr marL="742950" indent="-285750" eaLnBrk="0" hangingPunct="0">
              <a:spcBef>
                <a:spcPct val="20000"/>
              </a:spcBef>
              <a:buChar char="–"/>
              <a:defRPr>
                <a:solidFill>
                  <a:schemeClr val="tx1"/>
                </a:solidFill>
                <a:latin typeface="Times New Roman" charset="0"/>
              </a:defRPr>
            </a:lvl2pPr>
            <a:lvl3pPr marL="1143000" indent="-228600" eaLnBrk="0" hangingPunct="0">
              <a:spcBef>
                <a:spcPct val="20000"/>
              </a:spcBef>
              <a:buChar char="•"/>
              <a:defRPr sz="1600">
                <a:solidFill>
                  <a:schemeClr val="tx1"/>
                </a:solidFill>
                <a:latin typeface="Times New Roman" charset="0"/>
              </a:defRPr>
            </a:lvl3pPr>
            <a:lvl4pPr marL="1600200" indent="-228600" eaLnBrk="0" hangingPunct="0">
              <a:spcBef>
                <a:spcPct val="20000"/>
              </a:spcBef>
              <a:buChar char="–"/>
              <a:defRPr sz="1400">
                <a:solidFill>
                  <a:schemeClr val="tx1"/>
                </a:solidFill>
                <a:latin typeface="Times New Roman" charset="0"/>
              </a:defRPr>
            </a:lvl4pPr>
            <a:lvl5pPr marL="2057400" indent="-228600" eaLnBrk="0" hangingPunct="0">
              <a:spcBef>
                <a:spcPct val="20000"/>
              </a:spcBef>
              <a:buChar char="»"/>
              <a:defRPr sz="1400">
                <a:solidFill>
                  <a:schemeClr val="tx1"/>
                </a:solidFill>
                <a:latin typeface="Times New Roman" charset="0"/>
              </a:defRPr>
            </a:lvl5pPr>
            <a:lvl6pPr marL="2514600" indent="-228600" eaLnBrk="0" fontAlgn="base" hangingPunct="0">
              <a:spcBef>
                <a:spcPct val="20000"/>
              </a:spcBef>
              <a:spcAft>
                <a:spcPct val="0"/>
              </a:spcAft>
              <a:buChar char="»"/>
              <a:defRPr sz="1400">
                <a:solidFill>
                  <a:schemeClr val="tx1"/>
                </a:solidFill>
                <a:latin typeface="Times New Roman" charset="0"/>
              </a:defRPr>
            </a:lvl6pPr>
            <a:lvl7pPr marL="2971800" indent="-228600" eaLnBrk="0" fontAlgn="base" hangingPunct="0">
              <a:spcBef>
                <a:spcPct val="20000"/>
              </a:spcBef>
              <a:spcAft>
                <a:spcPct val="0"/>
              </a:spcAft>
              <a:buChar char="»"/>
              <a:defRPr sz="1400">
                <a:solidFill>
                  <a:schemeClr val="tx1"/>
                </a:solidFill>
                <a:latin typeface="Times New Roman" charset="0"/>
              </a:defRPr>
            </a:lvl7pPr>
            <a:lvl8pPr marL="3429000" indent="-228600" eaLnBrk="0" fontAlgn="base" hangingPunct="0">
              <a:spcBef>
                <a:spcPct val="20000"/>
              </a:spcBef>
              <a:spcAft>
                <a:spcPct val="0"/>
              </a:spcAft>
              <a:buChar char="»"/>
              <a:defRPr sz="1400">
                <a:solidFill>
                  <a:schemeClr val="tx1"/>
                </a:solidFill>
                <a:latin typeface="Times New Roman" charset="0"/>
              </a:defRPr>
            </a:lvl8pPr>
            <a:lvl9pPr marL="3886200" indent="-228600" eaLnBrk="0" fontAlgn="base" hangingPunct="0">
              <a:spcBef>
                <a:spcPct val="20000"/>
              </a:spcBef>
              <a:spcAft>
                <a:spcPct val="0"/>
              </a:spcAft>
              <a:buChar char="»"/>
              <a:defRPr sz="1400">
                <a:solidFill>
                  <a:schemeClr val="tx1"/>
                </a:solidFill>
                <a:latin typeface="Times New Roman" charset="0"/>
              </a:defRPr>
            </a:lvl9pPr>
          </a:lstStyle>
          <a:p>
            <a:pPr eaLnBrk="1" hangingPunct="1">
              <a:spcBef>
                <a:spcPct val="0"/>
              </a:spcBef>
              <a:buFontTx/>
              <a:buNone/>
            </a:pPr>
            <a:endParaRPr lang="en-US" altLang="en-US" sz="2400"/>
          </a:p>
        </p:txBody>
      </p:sp>
      <p:sp>
        <p:nvSpPr>
          <p:cNvPr id="16" name="Title 1">
            <a:extLst>
              <a:ext uri="{FF2B5EF4-FFF2-40B4-BE49-F238E27FC236}">
                <a16:creationId xmlns:a16="http://schemas.microsoft.com/office/drawing/2014/main" id="{793E31FF-0F45-4567-AD7E-A8BDF62E43C0}"/>
              </a:ext>
            </a:extLst>
          </p:cNvPr>
          <p:cNvSpPr txBox="1">
            <a:spLocks/>
          </p:cNvSpPr>
          <p:nvPr/>
        </p:nvSpPr>
        <p:spPr>
          <a:xfrm>
            <a:off x="462643" y="402654"/>
            <a:ext cx="8218714" cy="271893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t>There are 2 aluminum cans: CAN A contains air, and CAN B has 10% water.  They were open to atmosphere and heated up from room temperature to 100 C then sealed.  After they are securely sealed, both cans were placed into a room temperature water bath (20 C) to cool them down quickly.  What would happen?</a:t>
            </a:r>
          </a:p>
        </p:txBody>
      </p:sp>
      <p:sp>
        <p:nvSpPr>
          <p:cNvPr id="17" name="TextBox 16">
            <a:extLst>
              <a:ext uri="{FF2B5EF4-FFF2-40B4-BE49-F238E27FC236}">
                <a16:creationId xmlns:a16="http://schemas.microsoft.com/office/drawing/2014/main" id="{ABBFF0EB-10C0-49F8-9A86-8DB64537EF81}"/>
              </a:ext>
            </a:extLst>
          </p:cNvPr>
          <p:cNvSpPr txBox="1"/>
          <p:nvPr/>
        </p:nvSpPr>
        <p:spPr>
          <a:xfrm>
            <a:off x="284689" y="3271077"/>
            <a:ext cx="3441135" cy="2862322"/>
          </a:xfrm>
          <a:prstGeom prst="rect">
            <a:avLst/>
          </a:prstGeom>
          <a:noFill/>
        </p:spPr>
        <p:txBody>
          <a:bodyPr wrap="none" rtlCol="0">
            <a:spAutoFit/>
          </a:bodyPr>
          <a:lstStyle/>
          <a:p>
            <a:pPr marL="342900" indent="-342900">
              <a:spcAft>
                <a:spcPts val="1200"/>
              </a:spcAft>
              <a:buFont typeface="+mj-lt"/>
              <a:buAutoNum type="alphaUcPeriod"/>
            </a:pPr>
            <a:r>
              <a:rPr lang="en-US" sz="2800" b="1" dirty="0"/>
              <a:t>CAN A will explode </a:t>
            </a:r>
          </a:p>
          <a:p>
            <a:pPr marL="342900" indent="-342900">
              <a:spcAft>
                <a:spcPts val="1200"/>
              </a:spcAft>
              <a:buFont typeface="+mj-lt"/>
              <a:buAutoNum type="alphaUcPeriod"/>
            </a:pPr>
            <a:r>
              <a:rPr lang="en-US" sz="2800" b="1" dirty="0"/>
              <a:t>CAN A will collapse</a:t>
            </a:r>
          </a:p>
          <a:p>
            <a:pPr marL="342900" indent="-342900">
              <a:spcAft>
                <a:spcPts val="1200"/>
              </a:spcAft>
              <a:buFont typeface="+mj-lt"/>
              <a:buAutoNum type="alphaUcPeriod"/>
            </a:pPr>
            <a:r>
              <a:rPr lang="en-US" sz="2800" b="1" dirty="0"/>
              <a:t>CAN B will explode</a:t>
            </a:r>
          </a:p>
          <a:p>
            <a:pPr marL="342900" indent="-342900">
              <a:spcAft>
                <a:spcPts val="1200"/>
              </a:spcAft>
              <a:buFont typeface="+mj-lt"/>
              <a:buAutoNum type="alphaUcPeriod"/>
            </a:pPr>
            <a:r>
              <a:rPr lang="en-US" sz="2800" b="1" dirty="0"/>
              <a:t>CAN B will collapse</a:t>
            </a:r>
          </a:p>
          <a:p>
            <a:pPr marL="342900" indent="-342900">
              <a:spcAft>
                <a:spcPts val="1200"/>
              </a:spcAft>
              <a:buFont typeface="+mj-lt"/>
              <a:buAutoNum type="alphaUcPeriod"/>
            </a:pPr>
            <a:r>
              <a:rPr lang="en-US" sz="2800" b="1" dirty="0"/>
              <a:t>Nothing happen</a:t>
            </a:r>
          </a:p>
        </p:txBody>
      </p:sp>
    </p:spTree>
    <p:extLst>
      <p:ext uri="{BB962C8B-B14F-4D97-AF65-F5344CB8AC3E}">
        <p14:creationId xmlns:p14="http://schemas.microsoft.com/office/powerpoint/2010/main" val="1641703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 – Cans </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6" name="Title 1">
            <a:extLst>
              <a:ext uri="{FF2B5EF4-FFF2-40B4-BE49-F238E27FC236}">
                <a16:creationId xmlns:a16="http://schemas.microsoft.com/office/drawing/2014/main" id="{793E31FF-0F45-4567-AD7E-A8BDF62E43C0}"/>
              </a:ext>
            </a:extLst>
          </p:cNvPr>
          <p:cNvSpPr txBox="1">
            <a:spLocks/>
          </p:cNvSpPr>
          <p:nvPr/>
        </p:nvSpPr>
        <p:spPr>
          <a:xfrm>
            <a:off x="462643" y="402654"/>
            <a:ext cx="8218714" cy="271893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t>There are 2 aluminum cans: CAN A contains air, and CAN B has 10% water.  They were open to atmosphere and heated up from room temperature to 100 C then sealed.  After they are securely sealed, both cans were placed into a room temperature water bath (20 C) to cool them down quickly.  What would happen?</a:t>
            </a:r>
          </a:p>
        </p:txBody>
      </p:sp>
      <p:pic>
        <p:nvPicPr>
          <p:cNvPr id="8" name="Picture 2">
            <a:extLst>
              <a:ext uri="{FF2B5EF4-FFF2-40B4-BE49-F238E27FC236}">
                <a16:creationId xmlns:a16="http://schemas.microsoft.com/office/drawing/2014/main" id="{6A7FED99-04CE-469D-B096-F0CA3F6C11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4510" b="2012"/>
          <a:stretch/>
        </p:blipFill>
        <p:spPr bwMode="auto">
          <a:xfrm>
            <a:off x="309665" y="3279173"/>
            <a:ext cx="4171950" cy="274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extLst>
              <a:ext uri="{FF2B5EF4-FFF2-40B4-BE49-F238E27FC236}">
                <a16:creationId xmlns:a16="http://schemas.microsoft.com/office/drawing/2014/main" id="{09100C54-EBF1-4EB8-8776-1F584A9DFF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195" y="3604087"/>
            <a:ext cx="4257675" cy="300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extLst>
              <a:ext uri="{FF2B5EF4-FFF2-40B4-BE49-F238E27FC236}">
                <a16:creationId xmlns:a16="http://schemas.microsoft.com/office/drawing/2014/main" id="{099C6CFF-D1DA-4EAF-9FD7-A340886AF3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268" y="3965477"/>
            <a:ext cx="4114800" cy="385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9256217-8F9C-485B-9B02-9F6EB1FCF43E}"/>
                  </a:ext>
                </a:extLst>
              </p:cNvPr>
              <p:cNvSpPr txBox="1"/>
              <p:nvPr/>
            </p:nvSpPr>
            <p:spPr>
              <a:xfrm>
                <a:off x="760322" y="4707140"/>
                <a:ext cx="2267223" cy="516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Air</m:t>
                      </m:r>
                      <m:r>
                        <a:rPr lang="en-US" b="0" i="0"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𝑃𝑣</m:t>
                          </m:r>
                        </m:num>
                        <m:den>
                          <m:r>
                            <a:rPr lang="en-US" b="0" i="1" smtClean="0">
                              <a:latin typeface="Cambria Math" panose="02040503050406030204" pitchFamily="18" charset="0"/>
                            </a:rPr>
                            <m:t>𝑇</m:t>
                          </m:r>
                        </m:den>
                      </m:f>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2" name="TextBox 1">
                <a:extLst>
                  <a:ext uri="{FF2B5EF4-FFF2-40B4-BE49-F238E27FC236}">
                    <a16:creationId xmlns:a16="http://schemas.microsoft.com/office/drawing/2014/main" id="{79256217-8F9C-485B-9B02-9F6EB1FCF43E}"/>
                  </a:ext>
                </a:extLst>
              </p:cNvPr>
              <p:cNvSpPr txBox="1">
                <a:spLocks noRot="1" noChangeAspect="1" noMove="1" noResize="1" noEditPoints="1" noAdjustHandles="1" noChangeArrowheads="1" noChangeShapeType="1" noTextEdit="1"/>
              </p:cNvSpPr>
              <p:nvPr/>
            </p:nvSpPr>
            <p:spPr>
              <a:xfrm>
                <a:off x="760322" y="4707140"/>
                <a:ext cx="2267223" cy="51674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6D588E1-8F7F-401D-A935-8D6B1B6CC9C1}"/>
                  </a:ext>
                </a:extLst>
              </p:cNvPr>
              <p:cNvSpPr txBox="1"/>
              <p:nvPr/>
            </p:nvSpPr>
            <p:spPr>
              <a:xfrm>
                <a:off x="704852" y="5461924"/>
                <a:ext cx="3867148" cy="5657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293</m:t>
                          </m:r>
                        </m:num>
                        <m:den>
                          <m:r>
                            <a:rPr lang="en-US" b="0" i="1" smtClean="0">
                              <a:latin typeface="Cambria Math" panose="02040503050406030204" pitchFamily="18" charset="0"/>
                            </a:rPr>
                            <m:t>373</m:t>
                          </m:r>
                        </m:den>
                      </m:f>
                      <m:r>
                        <a:rPr lang="en-US" b="0" i="1" smtClean="0">
                          <a:latin typeface="Cambria Math" panose="02040503050406030204" pitchFamily="18" charset="0"/>
                        </a:rPr>
                        <m:t>101</m:t>
                      </m:r>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kPa</m:t>
                          </m:r>
                        </m:e>
                      </m:d>
                      <m:r>
                        <a:rPr lang="en-US" b="0" i="1" smtClean="0">
                          <a:latin typeface="Cambria Math" panose="02040503050406030204" pitchFamily="18" charset="0"/>
                        </a:rPr>
                        <m:t>=79 [</m:t>
                      </m:r>
                      <m:r>
                        <m:rPr>
                          <m:sty m:val="p"/>
                        </m:rPr>
                        <a:rPr lang="en-US" b="0" i="0" smtClean="0">
                          <a:latin typeface="Cambria Math" panose="02040503050406030204" pitchFamily="18" charset="0"/>
                        </a:rPr>
                        <m:t>kPa</m:t>
                      </m:r>
                      <m:r>
                        <a:rPr lang="en-US" b="0" i="1" smtClean="0">
                          <a:latin typeface="Cambria Math" panose="02040503050406030204" pitchFamily="18" charset="0"/>
                        </a:rPr>
                        <m:t>]</m:t>
                      </m:r>
                    </m:oMath>
                  </m:oMathPara>
                </a14:m>
                <a:endParaRPr lang="en-US" dirty="0"/>
              </a:p>
            </p:txBody>
          </p:sp>
        </mc:Choice>
        <mc:Fallback xmlns="">
          <p:sp>
            <p:nvSpPr>
              <p:cNvPr id="4" name="TextBox 3">
                <a:extLst>
                  <a:ext uri="{FF2B5EF4-FFF2-40B4-BE49-F238E27FC236}">
                    <a16:creationId xmlns:a16="http://schemas.microsoft.com/office/drawing/2014/main" id="{16D588E1-8F7F-401D-A935-8D6B1B6CC9C1}"/>
                  </a:ext>
                </a:extLst>
              </p:cNvPr>
              <p:cNvSpPr txBox="1">
                <a:spLocks noRot="1" noChangeAspect="1" noMove="1" noResize="1" noEditPoints="1" noAdjustHandles="1" noChangeArrowheads="1" noChangeShapeType="1" noTextEdit="1"/>
              </p:cNvSpPr>
              <p:nvPr/>
            </p:nvSpPr>
            <p:spPr>
              <a:xfrm>
                <a:off x="704852" y="5461924"/>
                <a:ext cx="3867148" cy="5657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79D8D0D-D3C3-4F79-92AC-B693D283018C}"/>
                  </a:ext>
                </a:extLst>
              </p:cNvPr>
              <p:cNvSpPr txBox="1"/>
              <p:nvPr/>
            </p:nvSpPr>
            <p:spPr>
              <a:xfrm>
                <a:off x="5189202" y="4744548"/>
                <a:ext cx="224766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Water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=101 [</m:t>
                      </m:r>
                      <m:r>
                        <m:rPr>
                          <m:sty m:val="p"/>
                        </m:rPr>
                        <a:rPr lang="en-US" b="0" i="0" smtClean="0">
                          <a:latin typeface="Cambria Math" panose="02040503050406030204" pitchFamily="18" charset="0"/>
                        </a:rPr>
                        <m:t>kPa</m:t>
                      </m:r>
                      <m:r>
                        <a:rPr lang="en-US" b="0" i="1" smtClean="0">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679D8D0D-D3C3-4F79-92AC-B693D283018C}"/>
                  </a:ext>
                </a:extLst>
              </p:cNvPr>
              <p:cNvSpPr txBox="1">
                <a:spLocks noRot="1" noChangeAspect="1" noMove="1" noResize="1" noEditPoints="1" noAdjustHandles="1" noChangeArrowheads="1" noChangeShapeType="1" noTextEdit="1"/>
              </p:cNvSpPr>
              <p:nvPr/>
            </p:nvSpPr>
            <p:spPr>
              <a:xfrm>
                <a:off x="5189202" y="4744548"/>
                <a:ext cx="2247667" cy="276999"/>
              </a:xfrm>
              <a:prstGeom prst="rect">
                <a:avLst/>
              </a:prstGeom>
              <a:blipFill>
                <a:blip r:embed="rId9"/>
                <a:stretch>
                  <a:fillRect l="-1897" t="-2174" r="-3794" b="-369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179C343-A4EA-43DD-A932-6D332219549C}"/>
                  </a:ext>
                </a:extLst>
              </p:cNvPr>
              <p:cNvSpPr txBox="1"/>
              <p:nvPr/>
            </p:nvSpPr>
            <p:spPr>
              <a:xfrm>
                <a:off x="5935599" y="5375211"/>
                <a:ext cx="252947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20</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=2.3 [</m:t>
                      </m:r>
                      <m:r>
                        <m:rPr>
                          <m:sty m:val="p"/>
                        </m:rPr>
                        <a:rPr lang="en-US" b="0" i="0" smtClean="0">
                          <a:latin typeface="Cambria Math" panose="02040503050406030204" pitchFamily="18" charset="0"/>
                          <a:ea typeface="Cambria Math" panose="02040503050406030204" pitchFamily="18" charset="0"/>
                        </a:rPr>
                        <m:t>kPa</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0179C343-A4EA-43DD-A932-6D332219549C}"/>
                  </a:ext>
                </a:extLst>
              </p:cNvPr>
              <p:cNvSpPr txBox="1">
                <a:spLocks noRot="1" noChangeAspect="1" noMove="1" noResize="1" noEditPoints="1" noAdjustHandles="1" noChangeArrowheads="1" noChangeShapeType="1" noTextEdit="1"/>
              </p:cNvSpPr>
              <p:nvPr/>
            </p:nvSpPr>
            <p:spPr>
              <a:xfrm>
                <a:off x="5935599" y="5375211"/>
                <a:ext cx="2529475" cy="276999"/>
              </a:xfrm>
              <a:prstGeom prst="rect">
                <a:avLst/>
              </a:prstGeom>
              <a:blipFill>
                <a:blip r:embed="rId10"/>
                <a:stretch>
                  <a:fillRect t="-4444" r="-1205" b="-37778"/>
                </a:stretch>
              </a:blipFill>
            </p:spPr>
            <p:txBody>
              <a:bodyPr/>
              <a:lstStyle/>
              <a:p>
                <a:r>
                  <a:rPr lang="en-US">
                    <a:noFill/>
                  </a:rPr>
                  <a:t> </a:t>
                </a:r>
              </a:p>
            </p:txBody>
          </p:sp>
        </mc:Fallback>
      </mc:AlternateContent>
    </p:spTree>
    <p:extLst>
      <p:ext uri="{BB962C8B-B14F-4D97-AF65-F5344CB8AC3E}">
        <p14:creationId xmlns:p14="http://schemas.microsoft.com/office/powerpoint/2010/main" val="219735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7" grpId="0"/>
      <p:bldP spid="11"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7319</TotalTime>
  <Words>895</Words>
  <Application>Microsoft Macintosh PowerPoint</Application>
  <PresentationFormat>On-screen Show (4:3)</PresentationFormat>
  <Paragraphs>104</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Cambria Math</vt:lpstr>
      <vt:lpstr>Times New Roman</vt:lpstr>
      <vt:lpstr>Office Theme</vt:lpstr>
      <vt:lpstr>ME 200 Thermodynamics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 400 Energy Conversion Systems</dc:title>
  <dc:creator>tim</dc:creator>
  <cp:lastModifiedBy>Cui, Jiahuan</cp:lastModifiedBy>
  <cp:revision>679</cp:revision>
  <cp:lastPrinted>2020-12-05T11:29:22Z</cp:lastPrinted>
  <dcterms:created xsi:type="dcterms:W3CDTF">2020-09-13T00:30:36Z</dcterms:created>
  <dcterms:modified xsi:type="dcterms:W3CDTF">2025-03-02T15:48:43Z</dcterms:modified>
</cp:coreProperties>
</file>